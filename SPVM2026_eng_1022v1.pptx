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6" r:id="rId2"/>
    <p:sldId id="257" r:id="rId3"/>
    <p:sldId id="258" r:id="rId4"/>
    <p:sldId id="282" r:id="rId5"/>
    <p:sldId id="283" r:id="rId6"/>
    <p:sldId id="259" r:id="rId7"/>
    <p:sldId id="260" r:id="rId8"/>
    <p:sldId id="284" r:id="rId9"/>
    <p:sldId id="261" r:id="rId10"/>
    <p:sldId id="262" r:id="rId11"/>
    <p:sldId id="263" r:id="rId12"/>
    <p:sldId id="268" r:id="rId13"/>
    <p:sldId id="302" r:id="rId14"/>
    <p:sldId id="287" r:id="rId15"/>
    <p:sldId id="288" r:id="rId16"/>
    <p:sldId id="266" r:id="rId17"/>
    <p:sldId id="269" r:id="rId18"/>
    <p:sldId id="270" r:id="rId19"/>
    <p:sldId id="289" r:id="rId20"/>
    <p:sldId id="291" r:id="rId21"/>
    <p:sldId id="292" r:id="rId22"/>
    <p:sldId id="274" r:id="rId23"/>
    <p:sldId id="293" r:id="rId24"/>
    <p:sldId id="276" r:id="rId25"/>
    <p:sldId id="277" r:id="rId26"/>
    <p:sldId id="301" r:id="rId27"/>
    <p:sldId id="304" r:id="rId28"/>
    <p:sldId id="279" r:id="rId29"/>
    <p:sldId id="280" r:id="rId30"/>
    <p:sldId id="281" r:id="rId31"/>
    <p:sldId id="294" r:id="rId32"/>
    <p:sldId id="295" r:id="rId33"/>
    <p:sldId id="296" r:id="rId34"/>
    <p:sldId id="297" r:id="rId35"/>
    <p:sldId id="286" r:id="rId36"/>
    <p:sldId id="298" r:id="rId37"/>
    <p:sldId id="299" r:id="rId38"/>
    <p:sldId id="300" r:id="rId39"/>
    <p:sldId id="290" r:id="rId4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E467687-F293-B522-5390-48DD70580A63}" name="鶴田　昇梧" initials="鶴田　昇梧" userId="S::2223077@ed.tus.ac.jp::b5e0a732-6d1d-4445-a99b-fd37c5ccf50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0F2FE"/>
    <a:srgbClr val="B45309"/>
    <a:srgbClr val="0569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897"/>
    <p:restoredTop sz="96301"/>
  </p:normalViewPr>
  <p:slideViewPr>
    <p:cSldViewPr snapToGrid="0" snapToObjects="1">
      <p:cViewPr varScale="1">
        <p:scale>
          <a:sx n="91" d="100"/>
          <a:sy n="91" d="100"/>
        </p:scale>
        <p:origin x="78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鶴田　昇梧" userId="b5e0a732-6d1d-4445-a99b-fd37c5ccf500" providerId="ADAL" clId="{E79FC484-85FA-5C2A-B964-F20792E3E291}"/>
    <pc:docChg chg="custSel modSld">
      <pc:chgData name="鶴田　昇梧" userId="b5e0a732-6d1d-4445-a99b-fd37c5ccf500" providerId="ADAL" clId="{E79FC484-85FA-5C2A-B964-F20792E3E291}" dt="2026-10-19T11:41:40.241" v="15" actId="1076"/>
      <pc:docMkLst>
        <pc:docMk/>
      </pc:docMkLst>
      <pc:sldChg chg="addSp delSp modSp mod">
        <pc:chgData name="鶴田　昇梧" userId="b5e0a732-6d1d-4445-a99b-fd37c5ccf500" providerId="ADAL" clId="{E79FC484-85FA-5C2A-B964-F20792E3E291}" dt="2026-10-19T11:41:40.241" v="15" actId="1076"/>
        <pc:sldMkLst>
          <pc:docMk/>
          <pc:sldMk cId="0" sldId="276"/>
        </pc:sldMkLst>
        <pc:spChg chg="mod">
          <ac:chgData name="鶴田　昇梧" userId="b5e0a732-6d1d-4445-a99b-fd37c5ccf500" providerId="ADAL" clId="{E79FC484-85FA-5C2A-B964-F20792E3E291}" dt="2026-10-19T11:41:20.877" v="12" actId="167"/>
          <ac:spMkLst>
            <pc:docMk/>
            <pc:sldMk cId="0" sldId="276"/>
            <ac:spMk id="26" creationId="{00000000-0000-0000-0000-000000000000}"/>
          </ac:spMkLst>
        </pc:spChg>
        <pc:spChg chg="del">
          <ac:chgData name="鶴田　昇梧" userId="b5e0a732-6d1d-4445-a99b-fd37c5ccf500" providerId="ADAL" clId="{E79FC484-85FA-5C2A-B964-F20792E3E291}" dt="2026-10-19T11:41:15.064" v="11" actId="478"/>
          <ac:spMkLst>
            <pc:docMk/>
            <pc:sldMk cId="0" sldId="276"/>
            <ac:spMk id="28" creationId="{00000000-0000-0000-0000-000000000000}"/>
          </ac:spMkLst>
        </pc:spChg>
        <pc:spChg chg="del">
          <ac:chgData name="鶴田　昇梧" userId="b5e0a732-6d1d-4445-a99b-fd37c5ccf500" providerId="ADAL" clId="{E79FC484-85FA-5C2A-B964-F20792E3E291}" dt="2026-10-19T11:40:36.173" v="0" actId="478"/>
          <ac:spMkLst>
            <pc:docMk/>
            <pc:sldMk cId="0" sldId="276"/>
            <ac:spMk id="29" creationId="{00000000-0000-0000-0000-000000000000}"/>
          </ac:spMkLst>
        </pc:spChg>
        <pc:spChg chg="mod">
          <ac:chgData name="鶴田　昇梧" userId="b5e0a732-6d1d-4445-a99b-fd37c5ccf500" providerId="ADAL" clId="{E79FC484-85FA-5C2A-B964-F20792E3E291}" dt="2026-10-19T11:41:40.241" v="15" actId="1076"/>
          <ac:spMkLst>
            <pc:docMk/>
            <pc:sldMk cId="0" sldId="276"/>
            <ac:spMk id="30" creationId="{00000000-0000-0000-0000-000000000000}"/>
          </ac:spMkLst>
        </pc:spChg>
        <pc:picChg chg="add mod">
          <ac:chgData name="鶴田　昇梧" userId="b5e0a732-6d1d-4445-a99b-fd37c5ccf500" providerId="ADAL" clId="{E79FC484-85FA-5C2A-B964-F20792E3E291}" dt="2026-10-19T11:41:06.238" v="10" actId="167"/>
          <ac:picMkLst>
            <pc:docMk/>
            <pc:sldMk cId="0" sldId="276"/>
            <ac:picMk id="9" creationId="{499752AA-4171-0DD0-7355-1A00677F30FF}"/>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1"/>
    <c:plotArea>
      <c:layout/>
      <c:barChart>
        <c:barDir val="col"/>
        <c:grouping val="clustered"/>
        <c:varyColors val="1"/>
        <c:ser>
          <c:idx val="0"/>
          <c:order val="0"/>
          <c:tx>
            <c:strRef>
              <c:f>Sheet1!$B$1</c:f>
              <c:strCache>
                <c:ptCount val="1"/>
                <c:pt idx="0">
                  <c:v>v</c:v>
                </c:pt>
              </c:strCache>
            </c:strRef>
          </c:tx>
          <c:invertIfNegative val="1"/>
          <c:dPt>
            <c:idx val="0"/>
            <c:invertIfNegative val="1"/>
            <c:bubble3D val="0"/>
            <c:spPr>
              <a:solidFill>
                <a:srgbClr val="0284C7"/>
              </a:solidFill>
              <a:ln>
                <a:noFill/>
              </a:ln>
            </c:spPr>
            <c:extLst>
              <c:ext xmlns:c16="http://schemas.microsoft.com/office/drawing/2014/chart" uri="{C3380CC4-5D6E-409C-BE32-E72D297353CC}">
                <c16:uniqueId val="{00000001-1DB5-6F43-8DEF-1E1797794092}"/>
              </c:ext>
            </c:extLst>
          </c:dPt>
          <c:dPt>
            <c:idx val="1"/>
            <c:invertIfNegative val="1"/>
            <c:bubble3D val="0"/>
            <c:spPr>
              <a:solidFill>
                <a:srgbClr val="CBD5E1"/>
              </a:solidFill>
              <a:ln>
                <a:noFill/>
              </a:ln>
            </c:spPr>
            <c:extLst>
              <c:ext xmlns:c16="http://schemas.microsoft.com/office/drawing/2014/chart" uri="{C3380CC4-5D6E-409C-BE32-E72D297353CC}">
                <c16:uniqueId val="{00000003-1DB5-6F43-8DEF-1E1797794092}"/>
              </c:ext>
            </c:extLst>
          </c:dPt>
          <c:dPt>
            <c:idx val="2"/>
            <c:invertIfNegative val="1"/>
            <c:bubble3D val="0"/>
            <c:spPr>
              <a:solidFill>
                <a:srgbClr val="CBD5E1"/>
              </a:solidFill>
              <a:ln>
                <a:noFill/>
              </a:ln>
            </c:spPr>
            <c:extLst>
              <c:ext xmlns:c16="http://schemas.microsoft.com/office/drawing/2014/chart" uri="{C3380CC4-5D6E-409C-BE32-E72D297353CC}">
                <c16:uniqueId val="{00000005-1DB5-6F43-8DEF-1E1797794092}"/>
              </c:ext>
            </c:extLst>
          </c:dPt>
          <c:dPt>
            <c:idx val="3"/>
            <c:invertIfNegative val="1"/>
            <c:bubble3D val="0"/>
            <c:spPr>
              <a:solidFill>
                <a:srgbClr val="0C4A6E"/>
              </a:solidFill>
              <a:ln>
                <a:noFill/>
              </a:ln>
            </c:spPr>
            <c:extLst>
              <c:ext xmlns:c16="http://schemas.microsoft.com/office/drawing/2014/chart" uri="{C3380CC4-5D6E-409C-BE32-E72D297353CC}">
                <c16:uniqueId val="{00000007-1DB5-6F43-8DEF-1E1797794092}"/>
              </c:ext>
            </c:extLst>
          </c:dPt>
          <c:dLbls>
            <c:numFmt formatCode="#,##0" sourceLinked="0"/>
            <c:spPr>
              <a:noFill/>
              <a:ln>
                <a:noFill/>
              </a:ln>
              <a:effectLst/>
            </c:spPr>
            <c:txPr>
              <a:bodyPr/>
              <a:lstStyle/>
              <a:p>
                <a:pPr>
                  <a:defRPr sz="1500" b="1">
                    <a:solidFill>
                      <a:srgbClr val="0F172A"/>
                    </a:solidFill>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 only</c:v>
                </c:pt>
                <c:pt idx="1">
                  <c:v>B only</c:v>
                </c:pt>
                <c:pt idx="2">
                  <c:v>C only</c:v>
                </c:pt>
                <c:pt idx="3">
                  <c:v>Equal</c:v>
                </c:pt>
              </c:strCache>
            </c:strRef>
          </c:cat>
          <c:val>
            <c:numRef>
              <c:f>Sheet1!$B$2:$B$5</c:f>
              <c:numCache>
                <c:formatCode>General</c:formatCode>
                <c:ptCount val="4"/>
                <c:pt idx="0">
                  <c:v>23</c:v>
                </c:pt>
                <c:pt idx="1">
                  <c:v>3</c:v>
                </c:pt>
                <c:pt idx="2">
                  <c:v>3</c:v>
                </c:pt>
                <c:pt idx="3">
                  <c:v>21</c:v>
                </c:pt>
              </c:numCache>
            </c:numRef>
          </c:val>
          <c:extLst>
            <c:ext xmlns:c16="http://schemas.microsoft.com/office/drawing/2014/chart" uri="{C3380CC4-5D6E-409C-BE32-E72D297353CC}">
              <c16:uniqueId val="{00000008-1DB5-6F43-8DEF-1E1797794092}"/>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BD5E1"/>
            </a:solidFill>
          </a:ln>
        </c:spPr>
        <c:txPr>
          <a:bodyPr/>
          <a:lstStyle/>
          <a:p>
            <a:pPr>
              <a:defRPr sz="1200" b="1"/>
            </a:pPr>
            <a:endParaRPr lang="ja-JP"/>
          </a:p>
        </c:txPr>
        <c:crossAx val="-2113994440"/>
        <c:crosses val="autoZero"/>
        <c:auto val="1"/>
        <c:lblAlgn val="ctr"/>
        <c:lblOffset val="100"/>
        <c:noMultiLvlLbl val="0"/>
      </c:catAx>
      <c:valAx>
        <c:axId val="-2113994440"/>
        <c:scaling>
          <c:orientation val="minMax"/>
          <c:max val="30"/>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200">
          <a:solidFill>
            <a:srgbClr val="0F172A"/>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1"/>
    <c:plotArea>
      <c:layout/>
      <c:barChart>
        <c:barDir val="col"/>
        <c:grouping val="clustered"/>
        <c:varyColors val="1"/>
        <c:ser>
          <c:idx val="0"/>
          <c:order val="0"/>
          <c:tx>
            <c:strRef>
              <c:f>Sheet1!$B$1</c:f>
              <c:strCache>
                <c:ptCount val="1"/>
                <c:pt idx="0">
                  <c:v>v</c:v>
                </c:pt>
              </c:strCache>
            </c:strRef>
          </c:tx>
          <c:invertIfNegative val="1"/>
          <c:dPt>
            <c:idx val="0"/>
            <c:invertIfNegative val="1"/>
            <c:bubble3D val="0"/>
            <c:spPr>
              <a:solidFill>
                <a:srgbClr val="CBD5E1"/>
              </a:solidFill>
              <a:ln>
                <a:noFill/>
              </a:ln>
            </c:spPr>
            <c:extLst>
              <c:ext xmlns:c16="http://schemas.microsoft.com/office/drawing/2014/chart" uri="{C3380CC4-5D6E-409C-BE32-E72D297353CC}">
                <c16:uniqueId val="{00000001-4255-E646-9110-405D8A67F7F8}"/>
              </c:ext>
            </c:extLst>
          </c:dPt>
          <c:dPt>
            <c:idx val="1"/>
            <c:invertIfNegative val="1"/>
            <c:bubble3D val="0"/>
            <c:spPr>
              <a:solidFill>
                <a:srgbClr val="0284C7"/>
              </a:solidFill>
              <a:ln>
                <a:noFill/>
              </a:ln>
            </c:spPr>
            <c:extLst>
              <c:ext xmlns:c16="http://schemas.microsoft.com/office/drawing/2014/chart" uri="{C3380CC4-5D6E-409C-BE32-E72D297353CC}">
                <c16:uniqueId val="{00000003-4255-E646-9110-405D8A67F7F8}"/>
              </c:ext>
            </c:extLst>
          </c:dPt>
          <c:dPt>
            <c:idx val="2"/>
            <c:invertIfNegative val="1"/>
            <c:bubble3D val="0"/>
            <c:spPr>
              <a:solidFill>
                <a:srgbClr val="CBD5E1"/>
              </a:solidFill>
              <a:ln>
                <a:noFill/>
              </a:ln>
            </c:spPr>
            <c:extLst>
              <c:ext xmlns:c16="http://schemas.microsoft.com/office/drawing/2014/chart" uri="{C3380CC4-5D6E-409C-BE32-E72D297353CC}">
                <c16:uniqueId val="{00000005-4255-E646-9110-405D8A67F7F8}"/>
              </c:ext>
            </c:extLst>
          </c:dPt>
          <c:dPt>
            <c:idx val="3"/>
            <c:invertIfNegative val="1"/>
            <c:bubble3D val="0"/>
            <c:spPr>
              <a:solidFill>
                <a:srgbClr val="0C4A6E"/>
              </a:solidFill>
              <a:ln>
                <a:noFill/>
              </a:ln>
            </c:spPr>
            <c:extLst>
              <c:ext xmlns:c16="http://schemas.microsoft.com/office/drawing/2014/chart" uri="{C3380CC4-5D6E-409C-BE32-E72D297353CC}">
                <c16:uniqueId val="{00000007-4255-E646-9110-405D8A67F7F8}"/>
              </c:ext>
            </c:extLst>
          </c:dPt>
          <c:dLbls>
            <c:numFmt formatCode="#,##0" sourceLinked="0"/>
            <c:spPr>
              <a:noFill/>
              <a:ln>
                <a:noFill/>
              </a:ln>
              <a:effectLst/>
            </c:spPr>
            <c:txPr>
              <a:bodyPr/>
              <a:lstStyle/>
              <a:p>
                <a:pPr>
                  <a:defRPr sz="1500" b="1">
                    <a:solidFill>
                      <a:srgbClr val="0F172A"/>
                    </a:solidFill>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 only</c:v>
                </c:pt>
                <c:pt idx="1">
                  <c:v>B only</c:v>
                </c:pt>
                <c:pt idx="2">
                  <c:v>C only</c:v>
                </c:pt>
                <c:pt idx="3">
                  <c:v>Equal</c:v>
                </c:pt>
              </c:strCache>
            </c:strRef>
          </c:cat>
          <c:val>
            <c:numRef>
              <c:f>Sheet1!$B$2:$B$5</c:f>
              <c:numCache>
                <c:formatCode>General</c:formatCode>
                <c:ptCount val="4"/>
                <c:pt idx="0">
                  <c:v>65</c:v>
                </c:pt>
                <c:pt idx="1">
                  <c:v>53</c:v>
                </c:pt>
                <c:pt idx="2">
                  <c:v>67</c:v>
                </c:pt>
                <c:pt idx="3">
                  <c:v>57</c:v>
                </c:pt>
              </c:numCache>
            </c:numRef>
          </c:val>
          <c:extLst>
            <c:ext xmlns:c16="http://schemas.microsoft.com/office/drawing/2014/chart" uri="{C3380CC4-5D6E-409C-BE32-E72D297353CC}">
              <c16:uniqueId val="{00000008-4255-E646-9110-405D8A67F7F8}"/>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BD5E1"/>
            </a:solidFill>
          </a:ln>
        </c:spPr>
        <c:txPr>
          <a:bodyPr/>
          <a:lstStyle/>
          <a:p>
            <a:pPr>
              <a:defRPr sz="1200" b="1"/>
            </a:pPr>
            <a:endParaRPr lang="ja-JP"/>
          </a:p>
        </c:txPr>
        <c:crossAx val="-2113994440"/>
        <c:crosses val="autoZero"/>
        <c:auto val="1"/>
        <c:lblAlgn val="ctr"/>
        <c:lblOffset val="100"/>
        <c:noMultiLvlLbl val="0"/>
      </c:catAx>
      <c:valAx>
        <c:axId val="-2113994440"/>
        <c:scaling>
          <c:orientation val="minMax"/>
          <c:max val="85"/>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200">
          <a:solidFill>
            <a:srgbClr val="0F172A"/>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1"/>
    <c:plotArea>
      <c:layout/>
      <c:barChart>
        <c:barDir val="col"/>
        <c:grouping val="clustered"/>
        <c:varyColors val="1"/>
        <c:ser>
          <c:idx val="0"/>
          <c:order val="0"/>
          <c:tx>
            <c:strRef>
              <c:f>Sheet1!$B$1</c:f>
              <c:strCache>
                <c:ptCount val="1"/>
                <c:pt idx="0">
                  <c:v>v</c:v>
                </c:pt>
              </c:strCache>
            </c:strRef>
          </c:tx>
          <c:invertIfNegative val="1"/>
          <c:dPt>
            <c:idx val="0"/>
            <c:invertIfNegative val="1"/>
            <c:bubble3D val="0"/>
            <c:spPr>
              <a:solidFill>
                <a:srgbClr val="CBD5E1"/>
              </a:solidFill>
              <a:ln>
                <a:noFill/>
              </a:ln>
            </c:spPr>
            <c:extLst>
              <c:ext xmlns:c16="http://schemas.microsoft.com/office/drawing/2014/chart" uri="{C3380CC4-5D6E-409C-BE32-E72D297353CC}">
                <c16:uniqueId val="{00000001-FDDA-8846-82BF-AD30DD65A8FC}"/>
              </c:ext>
            </c:extLst>
          </c:dPt>
          <c:dPt>
            <c:idx val="1"/>
            <c:invertIfNegative val="1"/>
            <c:bubble3D val="0"/>
            <c:spPr>
              <a:solidFill>
                <a:srgbClr val="CBD5E1"/>
              </a:solidFill>
              <a:ln>
                <a:noFill/>
              </a:ln>
            </c:spPr>
            <c:extLst>
              <c:ext xmlns:c16="http://schemas.microsoft.com/office/drawing/2014/chart" uri="{C3380CC4-5D6E-409C-BE32-E72D297353CC}">
                <c16:uniqueId val="{00000003-FDDA-8846-82BF-AD30DD65A8FC}"/>
              </c:ext>
            </c:extLst>
          </c:dPt>
          <c:dPt>
            <c:idx val="2"/>
            <c:invertIfNegative val="1"/>
            <c:bubble3D val="0"/>
            <c:spPr>
              <a:solidFill>
                <a:srgbClr val="0284C7"/>
              </a:solidFill>
              <a:ln>
                <a:noFill/>
              </a:ln>
            </c:spPr>
            <c:extLst>
              <c:ext xmlns:c16="http://schemas.microsoft.com/office/drawing/2014/chart" uri="{C3380CC4-5D6E-409C-BE32-E72D297353CC}">
                <c16:uniqueId val="{00000005-FDDA-8846-82BF-AD30DD65A8FC}"/>
              </c:ext>
            </c:extLst>
          </c:dPt>
          <c:dPt>
            <c:idx val="3"/>
            <c:invertIfNegative val="1"/>
            <c:bubble3D val="0"/>
            <c:spPr>
              <a:solidFill>
                <a:srgbClr val="0284C7"/>
              </a:solidFill>
              <a:ln>
                <a:noFill/>
              </a:ln>
            </c:spPr>
            <c:extLst>
              <c:ext xmlns:c16="http://schemas.microsoft.com/office/drawing/2014/chart" uri="{C3380CC4-5D6E-409C-BE32-E72D297353CC}">
                <c16:uniqueId val="{00000007-FDDA-8846-82BF-AD30DD65A8FC}"/>
              </c:ext>
            </c:extLst>
          </c:dPt>
          <c:dLbls>
            <c:numFmt formatCode="#,##0" sourceLinked="0"/>
            <c:spPr>
              <a:noFill/>
              <a:ln>
                <a:noFill/>
              </a:ln>
              <a:effectLst/>
            </c:spPr>
            <c:txPr>
              <a:bodyPr/>
              <a:lstStyle/>
              <a:p>
                <a:pPr>
                  <a:defRPr sz="1500" b="1">
                    <a:solidFill>
                      <a:srgbClr val="0F172A"/>
                    </a:solidFill>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 only</c:v>
                </c:pt>
                <c:pt idx="1">
                  <c:v>B only</c:v>
                </c:pt>
                <c:pt idx="2">
                  <c:v>C only</c:v>
                </c:pt>
                <c:pt idx="3">
                  <c:v>Equal</c:v>
                </c:pt>
              </c:strCache>
            </c:strRef>
          </c:cat>
          <c:val>
            <c:numRef>
              <c:f>Sheet1!$B$2:$B$5</c:f>
              <c:numCache>
                <c:formatCode>General</c:formatCode>
                <c:ptCount val="4"/>
                <c:pt idx="0">
                  <c:v>1620</c:v>
                </c:pt>
                <c:pt idx="1">
                  <c:v>1500</c:v>
                </c:pt>
                <c:pt idx="2">
                  <c:v>1270</c:v>
                </c:pt>
                <c:pt idx="3">
                  <c:v>1270</c:v>
                </c:pt>
              </c:numCache>
            </c:numRef>
          </c:val>
          <c:extLst>
            <c:ext xmlns:c16="http://schemas.microsoft.com/office/drawing/2014/chart" uri="{C3380CC4-5D6E-409C-BE32-E72D297353CC}">
              <c16:uniqueId val="{00000008-FDDA-8846-82BF-AD30DD65A8FC}"/>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BD5E1"/>
            </a:solidFill>
          </a:ln>
        </c:spPr>
        <c:txPr>
          <a:bodyPr/>
          <a:lstStyle/>
          <a:p>
            <a:pPr>
              <a:defRPr sz="1200" b="1"/>
            </a:pPr>
            <a:endParaRPr lang="ja-JP"/>
          </a:p>
        </c:txPr>
        <c:crossAx val="-2113994440"/>
        <c:crosses val="autoZero"/>
        <c:auto val="1"/>
        <c:lblAlgn val="ctr"/>
        <c:lblOffset val="100"/>
        <c:noMultiLvlLbl val="0"/>
      </c:catAx>
      <c:valAx>
        <c:axId val="-2113994440"/>
        <c:scaling>
          <c:orientation val="minMax"/>
          <c:max val="2100"/>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200">
          <a:solidFill>
            <a:srgbClr val="0F172A"/>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969222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[Script]  ~12 s  (cumulative 0:12)</a:t>
            </a:r>
          </a:p>
          <a:p>
            <a:r>
              <a:t>Hello, everyone. My name is Shogo Tsuruta, from Tokyo University of Science. Today, I will talk about a system that helps us make conference programs.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[Script]  ~7 s  (cumulative 0:19)</a:t>
            </a:r>
          </a:p>
          <a:p>
            <a:r>
              <a:t>This talk has four parts: the background, the system, the results, and the conclusion.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[Script]  ~2 s  (cumulative 0:21)</a:t>
            </a:r>
          </a:p>
          <a:p>
            <a:r>
              <a:t>First, the background.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[Script]  ~38 s  (cumulative 0:59)</a:t>
            </a:r>
          </a:p>
          <a:p>
            <a:r>
              <a:t>Some of you may be at a conference for the first time. So, let me start by explaining what a conference is. At a conference, researchers give oral talks and poster presentations, and they meet other researchers. This is how science moves forward. At a large conference, many talks run at the same time in different rooms. So someone has to make a program: a timetable that shows which talk is in which room, and when.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141592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5A0E0-FE7F-70F5-85EF-F5521CCA83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C46F22-AD18-EF67-1E39-22601F760B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3A71A1-F451-B031-2E9A-DC4DBF3E7691}"/>
              </a:ext>
            </a:extLst>
          </p:cNvPr>
          <p:cNvSpPr>
            <a:spLocks noGrp="1"/>
          </p:cNvSpPr>
          <p:nvPr>
            <p:ph type="body" idx="1"/>
          </p:nvPr>
        </p:nvSpPr>
        <p:spPr/>
        <p:txBody>
          <a:bodyPr/>
          <a:lstStyle/>
          <a:p>
            <a:r>
              <a:rPr dirty="0"/>
              <a:t>[Script]  ~44 s  (cumulative 1:43)</a:t>
            </a:r>
          </a:p>
          <a:p>
            <a:r>
              <a:rPr dirty="0"/>
              <a:t>But making a good program is hard. Look at this picture. A: these people are running to another room, because the next talk on their topic is somewhere else. B: two talks this man wants to hear are at the same time. He has to choose one. C: this room is full, so people cannot get in. On the other hand, another room may be almost empty. A good program avoids these three problems: A, B, and C. Please remember these letters. They will come back later.</a:t>
            </a:r>
          </a:p>
        </p:txBody>
      </p:sp>
      <p:sp>
        <p:nvSpPr>
          <p:cNvPr id="4" name="Slide Number Placeholder 3">
            <a:extLst>
              <a:ext uri="{FF2B5EF4-FFF2-40B4-BE49-F238E27FC236}">
                <a16:creationId xmlns:a16="http://schemas.microsoft.com/office/drawing/2014/main" id="{E4A5A1C0-3969-9799-33BE-363C06D6637E}"/>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4720403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[Script]  ~32 s  (cumulative 2:15)</a:t>
            </a:r>
          </a:p>
          <a:p>
            <a:r>
              <a:t>Is making a program really hard? And is there a need for automation? We asked the organizers of three conferences: a large one, a medium one, and a small one. Two of the three said that making the program is a lot of work. Two of the three make it by hand, in spreadsheets. And all three said they are open to automatic tools.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[Script]  ~40 s  (cumulative 2:55)</a:t>
            </a:r>
          </a:p>
          <a:p>
            <a:r>
              <a:t>Automatic scheduling has been studied before. Here are the score formulas of two previous studies, and ours. You do not need to read them. Just compare how complex they look. The first study needs the preferences of every participant, and it solves three problems in a row. The second study needs nine input sheets and six weights. They are powerful, but they need a lot of preparation. Our formula is short, and the input is three sheets and three weights.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  ~27 s  (cumulative 3:22)</a:t>
            </a:r>
          </a:p>
          <a:p>
            <a:r>
              <a:t>So, our goal is to create a Simple Conference Scheduler. It uses mathematical optimization to make a first draft of the program. With this system, we want to make running a conference easier. We did three things: we built the system, we checked that it works, and we evaluated it with a real conference.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[Script]  ~2 s  (cumulative 3:24)</a:t>
            </a:r>
          </a:p>
          <a:p>
            <a:r>
              <a:t>Next, the system.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[Script]  ~27 s  (cumulative 3:51)</a:t>
            </a:r>
          </a:p>
          <a:p>
            <a:r>
              <a:t>First, one note. We kept improving the system after the Abstract. In the Abstract version, topic conflicts, B, were not counted correctly. We fixed this. We also put the three parts of the score on the same scale. Because of these changes, the computation time became longer. Today, I present the new version.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[Script]  ~17 s  (cumulative 4:08)</a:t>
            </a:r>
          </a:p>
          <a:p>
            <a:r>
              <a:t>This is the whole system. You prepare an Excel file with three sheets: rooms, time slots, and presentations. The app calculates. Then you get the timetable, a list, and a report, again in Excel.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[Script]  ~20 s  (cumulative 4:28)</a:t>
            </a:r>
          </a:p>
          <a:p>
            <a:r>
              <a:t>This is the app. Only two steps are required: choose the input file, and press Run. Other settings, such as the weights and the time limit, are optional. After the run, the app shows the score and its breakdown.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B81EF-873D-12E4-B8F8-E90734643E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40DBE4-78A7-46C0-4B0F-AF49CC2E4D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E0BC48-CED8-6796-0E85-90722D200FEB}"/>
              </a:ext>
            </a:extLst>
          </p:cNvPr>
          <p:cNvSpPr>
            <a:spLocks noGrp="1"/>
          </p:cNvSpPr>
          <p:nvPr>
            <p:ph type="body" idx="1"/>
          </p:nvPr>
        </p:nvSpPr>
        <p:spPr/>
        <p:txBody>
          <a:bodyPr/>
          <a:lstStyle/>
          <a:p>
            <a:r>
              <a:t>[Script]  ~33 s incl. 27 s video  (cumulative 5:01)</a:t>
            </a:r>
          </a:p>
          <a:p>
            <a:r>
              <a:t>Now, let me show you the actual app in a short video.</a:t>
            </a:r>
          </a:p>
          <a:p>
            <a:r>
              <a:t>[Click to play the video. About 27 s.]</a:t>
            </a:r>
          </a:p>
        </p:txBody>
      </p:sp>
      <p:sp>
        <p:nvSpPr>
          <p:cNvPr id="4" name="Slide Number Placeholder 3">
            <a:extLst>
              <a:ext uri="{FF2B5EF4-FFF2-40B4-BE49-F238E27FC236}">
                <a16:creationId xmlns:a16="http://schemas.microsoft.com/office/drawing/2014/main" id="{66E3DB1E-FD34-0183-C0EF-8ADF8383236E}"/>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7356328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  ~41 s  (cumulative 5:42)</a:t>
            </a:r>
          </a:p>
          <a:p>
            <a:r>
              <a:t>Now, let's look at how the app works. Inside the app, we use mathematical optimization. What is mathematical optimization? It means: find the best choice that follows the rules. It has three parts. Variables are what we decide. Constraints are the rules, for example a limit that we cannot go over. And the objective function is a score. We look for the highest score. Compared with AI, it always follows the rules, we can explain the result, and the score is reproducible.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  ~38 s  (cumulative 6:20)</a:t>
            </a:r>
          </a:p>
          <a:p>
            <a:r>
              <a:t>In our system, the variable is very simple: is this talk in this room at this time? Yes is 1, and no is 0. Here, talk P01 is in Room B at Time 3. Three rules are always used: each talk is placed exactly once, each room has at most one talk at a time, and the room must be big enough. Three more rules are used only if you fill in that column in Excel.</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[Script]  ~54 s  (cumulative 7:14)</a:t>
            </a:r>
          </a:p>
          <a:p>
            <a:r>
              <a:t>And this is the score. It has the three parts you saw in the picture. A is topic continuity: when the same topic continues in the same room, we add one. We want more of this. B is topic conflicts: when similar topics run at the same time, we add a penalty. We want less. C is empty seats: the room size should match the audience. We want less. The weights, w, let the user choose what is important, and N puts the three parts on the same scale. There is one limitation: all talks must be about the same length, because one talk uses one time slot.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[Script]  ~2 s  (cumulative 7:16)</a:t>
            </a:r>
          </a:p>
          <a:p>
            <a:r>
              <a:t>Now, the results.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[Script]  ~30 s  (cumulative 7:46)</a:t>
            </a:r>
          </a:p>
          <a:p>
            <a:r>
              <a:t>We ran two tests. Test 1 asks: does it work? We used the same data as in the Abstract: 40 talks, 10 rooms, 5 time slots, and 7 topics. Test 2 asks: is it practical? We used data based on a real conference: 89 talks, 4 rooms, 24 time slots, and 8 topics. Everything ran on my laptop, a MacBook Air.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  ~36 s  (cumulative 8:22)</a:t>
            </a:r>
          </a:p>
          <a:p>
            <a:r>
              <a:t>Here is Test 1. Because of time, I will show only the summary. We tried four weight settings. With weight only on A, continuity was the highest: 23. With weight only on B, the conflict penalty was the lowest: 53. With weight only on C, empty seats were the lowest: 1,270. With equal weights, all three were close to the best at the same time. So, the weights work as intended.</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  ~27 s  (cumulative 8:49)</a:t>
            </a:r>
          </a:p>
          <a:p>
            <a:r>
              <a:t>Next, is it practical? We took the past program of a real physics conference, which was made by hand, and changed it into our input format. We ran our system with equal weights and a time limit of 90 seconds. Then we scored both programs with the same three points, A, B, and C.</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  ~42 s  (cumulative 9:31)</a:t>
            </a:r>
          </a:p>
          <a:p>
            <a:r>
              <a:t>Here is the result. The top is the real program, and the bottom is ours. You can see that they look similar. Next, let's compare the numbers. Continuity: 73 and 72, almost the same. Empty seats: exactly the same. And the conflict penalty: 39 instead of 51, about 24 percent lower. However, please note that these three points, A, B, and C, are our own measures, not universal ones. Our system made this draft in 90 seconds. So, we judge that the system is practical.</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[Script]  ~2 s  (cumulative 9:33)</a:t>
            </a:r>
          </a:p>
          <a:p>
            <a:r>
              <a:t>Finally, the conclusion.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  ~35 s  (cumulative 10:08)</a:t>
            </a:r>
          </a:p>
          <a:p>
            <a:r>
              <a:t>To summarize. One: we built a system that makes a first draft of a conference program with mathematical optimization. Two: we confirmed that it works with test data. Three: using a real conference as a model, we showed that it is practical. Four: the weak point is that it works only when talks are about the same length. We hope this system can make running conferences a little easier.</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[Script]  ~18 s  (cumulative 10:26)</a:t>
            </a:r>
          </a:p>
          <a:p>
            <a:r>
              <a:t>You can find the detailed data and specifications in the Appendix. These slides, the code, and the app are all on GitHub. If you are interested, please scan this QR code.</a:t>
            </a:r>
          </a:p>
          <a:p>
            <a:r>
              <a:t>[Time check: 11:00 or earlier → type 27 + Enter (A1 Roadmap). Otherwise, finish here.]</a:t>
            </a:r>
          </a:p>
          <a:p>
            <a:r>
              <a:t>Thank you for your attention.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[Script]  ~57 s  (only if time remains; cumulative 11:23)</a:t>
            </a:r>
          </a:p>
          <a:p>
            <a:r>
              <a:t>Before I finish, let me briefly talk about our plans. There are three. First, we will switch the solver from CBC to HiGHS. In a first test on another computer, HiGHS found the same best timetable much faster. Second, we will improve B, topic conflicts. For similar topics, B now checks only whether they meet in the same slot, not how many talks meet. We are still looking for the best way to fix this. Third, we will build a Windows app and support more macOS versions, so that more people can use the system. I plan to finish all of this by March 2027, when I graduate.</a:t>
            </a:r>
          </a:p>
          <a:p>
            <a:r>
              <a:t>[Type 24 + Enter to go back to the Thank You slide.]</a:t>
            </a:r>
          </a:p>
          <a:p>
            <a:r>
              <a:t>Thank you for your attention.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7414352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5.sv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chart" Target="../charts/chart3.xml"/><Relationship Id="rId4" Type="http://schemas.openxmlformats.org/officeDocument/2006/relationships/chart" Target="../charts/char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Text 0"/>
          <p:cNvSpPr txBox="1"/>
          <p:nvPr/>
        </p:nvSpPr>
        <p:spPr>
          <a:xfrm>
            <a:off x="566928" y="1417320"/>
            <a:ext cx="11055096" cy="274320"/>
          </a:xfrm>
          <a:prstGeom prst="rect">
            <a:avLst/>
          </a:prstGeom>
          <a:noFill/>
          <a:ln/>
        </p:spPr>
        <p:txBody>
          <a:bodyPr wrap="square" lIns="0" tIns="0" rIns="0" bIns="0" rtlCol="0" anchor="ctr"/>
          <a:lstStyle/>
          <a:p>
            <a:pPr marL="0" indent="0" algn="l">
              <a:buNone/>
            </a:pPr>
            <a:r>
              <a:rPr lang="en-US" altLang="en-US" sz="1300" b="1" dirty="0">
                <a:solidFill>
                  <a:srgbClr val="7DD3FC"/>
                </a:solidFill>
                <a:latin typeface="Arial" pitchFamily="34" charset="0"/>
                <a:ea typeface="Arial" pitchFamily="34" charset="-122"/>
                <a:cs typeface="Arial" pitchFamily="34" charset="-120"/>
              </a:rPr>
              <a:t>28th SPVM National Physics Conference (SPVM 2026)</a:t>
            </a:r>
            <a:endParaRPr lang="en-US" sz="1300" dirty="0"/>
          </a:p>
        </p:txBody>
      </p:sp>
      <p:sp>
        <p:nvSpPr>
          <p:cNvPr id="3" name="Text 1"/>
          <p:cNvSpPr txBox="1"/>
          <p:nvPr/>
        </p:nvSpPr>
        <p:spPr>
          <a:xfrm>
            <a:off x="566928" y="1810512"/>
            <a:ext cx="10881360" cy="1417320"/>
          </a:xfrm>
          <a:prstGeom prst="rect">
            <a:avLst/>
          </a:prstGeom>
          <a:noFill/>
          <a:ln/>
        </p:spPr>
        <p:txBody>
          <a:bodyPr wrap="square" lIns="0" tIns="0" rIns="0" bIns="0" rtlCol="0" anchor="t"/>
          <a:lstStyle/>
          <a:p>
            <a:pPr marL="0" indent="0" algn="l">
              <a:lnSpc>
                <a:spcPct val="110000"/>
              </a:lnSpc>
              <a:buNone/>
            </a:pPr>
            <a:r>
              <a:rPr lang="en-US" altLang="en-US" sz="3100" b="1" dirty="0">
                <a:solidFill>
                  <a:srgbClr val="FFFFFF"/>
                </a:solidFill>
                <a:latin typeface="Arial" pitchFamily="34" charset="0"/>
                <a:ea typeface="Arial" pitchFamily="34" charset="-122"/>
                <a:cs typeface="Arial" pitchFamily="34" charset="-120"/>
              </a:rPr>
              <a:t>A Practical System for Optimizing</a:t>
            </a:r>
            <a:endParaRPr lang="en-US" sz="3100" dirty="0"/>
          </a:p>
          <a:p>
            <a:pPr marL="0" indent="0" algn="l">
              <a:lnSpc>
                <a:spcPct val="110000"/>
              </a:lnSpc>
              <a:buNone/>
            </a:pPr>
            <a:r>
              <a:rPr lang="en-US" altLang="en-US" sz="3100" b="1" dirty="0">
                <a:solidFill>
                  <a:srgbClr val="FFFFFF"/>
                </a:solidFill>
                <a:latin typeface="Arial" pitchFamily="34" charset="0"/>
                <a:ea typeface="Arial" pitchFamily="34" charset="-122"/>
                <a:cs typeface="Arial" pitchFamily="34" charset="-120"/>
              </a:rPr>
              <a:t>Large-Scale Conference Programs</a:t>
            </a:r>
            <a:endParaRPr lang="en-US" sz="3100" dirty="0"/>
          </a:p>
        </p:txBody>
      </p:sp>
      <p:sp>
        <p:nvSpPr>
          <p:cNvPr id="4" name="Text 2"/>
          <p:cNvSpPr txBox="1"/>
          <p:nvPr/>
        </p:nvSpPr>
        <p:spPr>
          <a:xfrm>
            <a:off x="566928" y="4315968"/>
            <a:ext cx="11055096" cy="310896"/>
          </a:xfrm>
          <a:prstGeom prst="rect">
            <a:avLst/>
          </a:prstGeom>
          <a:noFill/>
          <a:ln/>
        </p:spPr>
        <p:txBody>
          <a:bodyPr wrap="square" lIns="0" tIns="0" rIns="0" bIns="0" rtlCol="0" anchor="ctr"/>
          <a:lstStyle/>
          <a:p>
            <a:pPr marL="0" indent="0" algn="l">
              <a:buNone/>
            </a:pPr>
            <a:r>
              <a:rPr lang="en-US" altLang="en-US" sz="1400" dirty="0">
                <a:solidFill>
                  <a:srgbClr val="CBD5E1"/>
                </a:solidFill>
                <a:latin typeface="Arial" pitchFamily="34" charset="0"/>
                <a:ea typeface="Arial" pitchFamily="34" charset="-122"/>
                <a:cs typeface="Arial" pitchFamily="34" charset="-120"/>
              </a:rPr>
              <a:t>Tokyo University of Science   Faculty of Science Division II, Department of Physics (4th year)   Umemura Laboratory</a:t>
            </a:r>
            <a:endParaRPr lang="en-US" sz="1400" dirty="0"/>
          </a:p>
        </p:txBody>
      </p:sp>
      <p:sp>
        <p:nvSpPr>
          <p:cNvPr id="5" name="Text 3"/>
          <p:cNvSpPr txBox="1"/>
          <p:nvPr/>
        </p:nvSpPr>
        <p:spPr>
          <a:xfrm>
            <a:off x="566928" y="4681728"/>
            <a:ext cx="11055096" cy="402336"/>
          </a:xfrm>
          <a:prstGeom prst="rect">
            <a:avLst/>
          </a:prstGeom>
          <a:noFill/>
          <a:ln/>
        </p:spPr>
        <p:txBody>
          <a:bodyPr wrap="square" lIns="0" tIns="0" rIns="0" bIns="0" rtlCol="0" anchor="ctr"/>
          <a:lstStyle/>
          <a:p>
            <a:pPr marL="0" indent="0" algn="l">
              <a:buNone/>
            </a:pPr>
            <a:r>
              <a:rPr lang="en-US" altLang="en-US" sz="1900" b="1" dirty="0">
                <a:solidFill>
                  <a:srgbClr val="FFFFFF"/>
                </a:solidFill>
                <a:latin typeface="Arial" pitchFamily="34" charset="0"/>
                <a:ea typeface="Arial" pitchFamily="34" charset="-122"/>
                <a:cs typeface="Arial" pitchFamily="34" charset="-120"/>
              </a:rPr>
              <a:t>Shogo Tsuruta, Kazuo Umemura</a:t>
            </a:r>
            <a:endParaRPr lang="en-US" sz="1900" dirty="0"/>
          </a:p>
        </p:txBody>
      </p:sp>
      <p:sp>
        <p:nvSpPr>
          <p:cNvPr id="6" name="Text 4"/>
          <p:cNvSpPr txBox="1"/>
          <p:nvPr/>
        </p:nvSpPr>
        <p:spPr>
          <a:xfrm>
            <a:off x="566928" y="5989320"/>
            <a:ext cx="11055096" cy="274320"/>
          </a:xfrm>
          <a:prstGeom prst="rect">
            <a:avLst/>
          </a:prstGeom>
          <a:noFill/>
          <a:ln/>
        </p:spPr>
        <p:txBody>
          <a:bodyPr wrap="square" lIns="0" tIns="0" rIns="0" bIns="0" rtlCol="0" anchor="ctr"/>
          <a:lstStyle/>
          <a:p>
            <a:pPr marL="0" indent="0" algn="l">
              <a:buNone/>
            </a:pPr>
            <a:r>
              <a:rPr lang="en-US" altLang="en-US" sz="1200" dirty="0">
                <a:solidFill>
                  <a:srgbClr val="94A3B8"/>
                </a:solidFill>
                <a:latin typeface="Arial" pitchFamily="34" charset="0"/>
                <a:ea typeface="Arial" pitchFamily="34" charset="-122"/>
                <a:cs typeface="Arial" pitchFamily="34" charset="-120"/>
              </a:rPr>
              <a:t>October 22–24, 2026    Ateneo de Davao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164824" y="6492240"/>
            <a:ext cx="457200" cy="219456"/>
          </a:xfrm>
          <a:prstGeom prst="rect">
            <a:avLst/>
          </a:prstGeom>
          <a:noFill/>
          <a:ln/>
        </p:spPr>
        <p:txBody>
          <a:bodyPr wrap="square" lIns="0" tIns="0" rIns="0" bIns="0" rtlCol="0" anchor="ctr"/>
          <a:lstStyle/>
          <a:p>
            <a:pPr marL="0" indent="0" algn="r">
              <a:buNone/>
            </a:pPr>
            <a:fld id="{8B2C3E4A-5D6F-4A1B-9C2D-3E4F5A6B7C8D}" type="slidenum">
              <a:rPr lang="en-US" altLang="ja-JP" sz="1000" dirty="0">
                <a:solidFill>
                  <a:srgbClr val="94A3B8"/>
                </a:solidFill>
                <a:latin typeface="Arial" pitchFamily="34" charset="0"/>
                <a:ea typeface="Arial" pitchFamily="34" charset="-122"/>
                <a:cs typeface="Arial" pitchFamily="34" charset="-120"/>
              </a:rPr>
              <a:t>2</a:t>
            </a:fld>
            <a:endParaRPr lang="en-US" altLang="ja-JP" sz="1000" dirty="0"/>
          </a:p>
        </p:txBody>
      </p:sp>
      <p:sp>
        <p:nvSpPr>
          <p:cNvPr id="3" name="Text 1"/>
          <p:cNvSpPr txBox="1"/>
          <p:nvPr/>
        </p:nvSpPr>
        <p:spPr>
          <a:xfrm>
            <a:off x="566928" y="457200"/>
            <a:ext cx="11055096" cy="566928"/>
          </a:xfrm>
          <a:prstGeom prst="rect">
            <a:avLst/>
          </a:prstGeom>
          <a:noFill/>
          <a:ln/>
        </p:spPr>
        <p:txBody>
          <a:bodyPr wrap="square" lIns="0" tIns="0" rIns="0" bIns="0" rtlCol="0" anchor="ctr"/>
          <a:lstStyle/>
          <a:p>
            <a:pPr marL="0" indent="0" algn="l">
              <a:buNone/>
            </a:pPr>
            <a:r>
              <a:rPr lang="en-US" altLang="en-US" sz="2800" b="1" dirty="0">
                <a:solidFill>
                  <a:srgbClr val="0F172A"/>
                </a:solidFill>
                <a:latin typeface="Arial" pitchFamily="34" charset="0"/>
                <a:ea typeface="Arial" pitchFamily="34" charset="-122"/>
                <a:cs typeface="Arial" pitchFamily="34" charset="-120"/>
              </a:rPr>
              <a:t>Contents</a:t>
            </a:r>
            <a:endParaRPr lang="en-US" sz="2800" dirty="0"/>
          </a:p>
        </p:txBody>
      </p:sp>
      <p:sp>
        <p:nvSpPr>
          <p:cNvPr id="4" name="Shape 2"/>
          <p:cNvSpPr/>
          <p:nvPr/>
        </p:nvSpPr>
        <p:spPr>
          <a:xfrm>
            <a:off x="566928" y="2194560"/>
            <a:ext cx="2487168" cy="2514600"/>
          </a:xfrm>
          <a:prstGeom prst="roundRect">
            <a:avLst>
              <a:gd name="adj" fmla="val 2574"/>
            </a:avLst>
          </a:prstGeom>
          <a:solidFill>
            <a:srgbClr val="F8FAFC"/>
          </a:solidFill>
          <a:ln w="12700">
            <a:solidFill>
              <a:srgbClr val="E2E8F0"/>
            </a:solidFill>
            <a:prstDash val="solid"/>
          </a:ln>
        </p:spPr>
        <p:txBody>
          <a:bodyPr/>
          <a:lstStyle/>
          <a:p>
            <a:endParaRPr lang="ja-JP" altLang="en-US"/>
          </a:p>
        </p:txBody>
      </p:sp>
      <p:sp>
        <p:nvSpPr>
          <p:cNvPr id="5" name="Text 3"/>
          <p:cNvSpPr txBox="1"/>
          <p:nvPr/>
        </p:nvSpPr>
        <p:spPr>
          <a:xfrm>
            <a:off x="859536" y="2505456"/>
            <a:ext cx="1901952" cy="786384"/>
          </a:xfrm>
          <a:prstGeom prst="rect">
            <a:avLst/>
          </a:prstGeom>
          <a:noFill/>
          <a:ln/>
        </p:spPr>
        <p:txBody>
          <a:bodyPr wrap="square" lIns="0" tIns="0" rIns="0" bIns="0" rtlCol="0" anchor="ctr"/>
          <a:lstStyle/>
          <a:p>
            <a:pPr marL="0" indent="0" algn="l">
              <a:buNone/>
            </a:pPr>
            <a:r>
              <a:rPr lang="ja-JP" altLang="en-US" sz="4600" b="1" dirty="0">
                <a:solidFill>
                  <a:srgbClr val="0284C7"/>
                </a:solidFill>
                <a:latin typeface="Arial" pitchFamily="34" charset="0"/>
                <a:ea typeface="Arial" pitchFamily="34" charset="-122"/>
                <a:cs typeface="Arial" pitchFamily="34" charset="-120"/>
              </a:rPr>
              <a:t>01</a:t>
            </a:r>
            <a:endParaRPr lang="ja-JP" sz="4600" dirty="0"/>
          </a:p>
        </p:txBody>
      </p:sp>
      <p:sp>
        <p:nvSpPr>
          <p:cNvPr id="6" name="Text 4"/>
          <p:cNvSpPr txBox="1"/>
          <p:nvPr/>
        </p:nvSpPr>
        <p:spPr>
          <a:xfrm>
            <a:off x="859536" y="3529584"/>
            <a:ext cx="2029968" cy="457200"/>
          </a:xfrm>
          <a:prstGeom prst="rect">
            <a:avLst/>
          </a:prstGeom>
          <a:noFill/>
          <a:ln/>
        </p:spPr>
        <p:txBody>
          <a:bodyPr wrap="square" lIns="0" tIns="0" rIns="0" bIns="0" rtlCol="0" anchor="ctr"/>
          <a:lstStyle/>
          <a:p>
            <a:pPr marL="0" indent="0" algn="l">
              <a:buNone/>
            </a:pPr>
            <a:r>
              <a:rPr lang="en-US" altLang="en-US" sz="1900" b="1" dirty="0">
                <a:solidFill>
                  <a:srgbClr val="0F172A"/>
                </a:solidFill>
                <a:latin typeface="Arial" pitchFamily="34" charset="0"/>
                <a:ea typeface="Arial" pitchFamily="34" charset="-122"/>
                <a:cs typeface="Arial" pitchFamily="34" charset="-120"/>
              </a:rPr>
              <a:t>Background and Objective</a:t>
            </a:r>
            <a:endParaRPr lang="en-US" sz="1900" dirty="0"/>
          </a:p>
        </p:txBody>
      </p:sp>
      <p:sp>
        <p:nvSpPr>
          <p:cNvPr id="7" name="Shape 5"/>
          <p:cNvSpPr/>
          <p:nvPr/>
        </p:nvSpPr>
        <p:spPr>
          <a:xfrm rot="5400000">
            <a:off x="3137916" y="3323844"/>
            <a:ext cx="201168" cy="256032"/>
          </a:xfrm>
          <a:prstGeom prst="triangle">
            <a:avLst/>
          </a:prstGeom>
          <a:solidFill>
            <a:srgbClr val="94A3B8"/>
          </a:solidFill>
          <a:ln w="12700">
            <a:solidFill>
              <a:srgbClr val="94A3B8"/>
            </a:solidFill>
            <a:prstDash val="solid"/>
          </a:ln>
        </p:spPr>
        <p:txBody>
          <a:bodyPr/>
          <a:lstStyle/>
          <a:p>
            <a:endParaRPr lang="ja-JP" altLang="en-US"/>
          </a:p>
        </p:txBody>
      </p:sp>
      <p:sp>
        <p:nvSpPr>
          <p:cNvPr id="8" name="Shape 6"/>
          <p:cNvSpPr/>
          <p:nvPr/>
        </p:nvSpPr>
        <p:spPr>
          <a:xfrm>
            <a:off x="3422904" y="2194560"/>
            <a:ext cx="2487168" cy="2514600"/>
          </a:xfrm>
          <a:prstGeom prst="roundRect">
            <a:avLst>
              <a:gd name="adj" fmla="val 2574"/>
            </a:avLst>
          </a:prstGeom>
          <a:solidFill>
            <a:srgbClr val="F8FAFC"/>
          </a:solidFill>
          <a:ln w="12700">
            <a:solidFill>
              <a:srgbClr val="E2E8F0"/>
            </a:solidFill>
            <a:prstDash val="solid"/>
          </a:ln>
        </p:spPr>
        <p:txBody>
          <a:bodyPr/>
          <a:lstStyle/>
          <a:p>
            <a:endParaRPr lang="ja-JP" altLang="en-US"/>
          </a:p>
        </p:txBody>
      </p:sp>
      <p:sp>
        <p:nvSpPr>
          <p:cNvPr id="9" name="Text 7"/>
          <p:cNvSpPr txBox="1"/>
          <p:nvPr/>
        </p:nvSpPr>
        <p:spPr>
          <a:xfrm>
            <a:off x="3715512" y="2505456"/>
            <a:ext cx="1901952" cy="786384"/>
          </a:xfrm>
          <a:prstGeom prst="rect">
            <a:avLst/>
          </a:prstGeom>
          <a:noFill/>
          <a:ln/>
        </p:spPr>
        <p:txBody>
          <a:bodyPr wrap="square" lIns="0" tIns="0" rIns="0" bIns="0" rtlCol="0" anchor="ctr"/>
          <a:lstStyle/>
          <a:p>
            <a:pPr marL="0" indent="0" algn="l">
              <a:buNone/>
            </a:pPr>
            <a:r>
              <a:rPr lang="ja-JP" altLang="en-US" sz="4600" b="1" dirty="0">
                <a:solidFill>
                  <a:srgbClr val="0284C7"/>
                </a:solidFill>
                <a:latin typeface="Arial" pitchFamily="34" charset="0"/>
                <a:ea typeface="Arial" pitchFamily="34" charset="-122"/>
                <a:cs typeface="Arial" pitchFamily="34" charset="-120"/>
              </a:rPr>
              <a:t>02</a:t>
            </a:r>
            <a:endParaRPr lang="ja-JP" sz="4600" dirty="0"/>
          </a:p>
        </p:txBody>
      </p:sp>
      <p:sp>
        <p:nvSpPr>
          <p:cNvPr id="10" name="Text 8"/>
          <p:cNvSpPr txBox="1"/>
          <p:nvPr/>
        </p:nvSpPr>
        <p:spPr>
          <a:xfrm>
            <a:off x="3715512" y="3529584"/>
            <a:ext cx="2029968" cy="457200"/>
          </a:xfrm>
          <a:prstGeom prst="rect">
            <a:avLst/>
          </a:prstGeom>
          <a:noFill/>
          <a:ln/>
        </p:spPr>
        <p:txBody>
          <a:bodyPr wrap="square" lIns="0" tIns="0" rIns="0" bIns="0" rtlCol="0" anchor="ctr"/>
          <a:lstStyle/>
          <a:p>
            <a:pPr marL="0" indent="0" algn="l">
              <a:buNone/>
            </a:pPr>
            <a:r>
              <a:rPr lang="en-US" altLang="en-US" sz="1900" b="1" dirty="0">
                <a:solidFill>
                  <a:srgbClr val="0F172A"/>
                </a:solidFill>
                <a:latin typeface="Arial" pitchFamily="34" charset="0"/>
                <a:ea typeface="Arial" pitchFamily="34" charset="-122"/>
                <a:cs typeface="Arial" pitchFamily="34" charset="-120"/>
              </a:rPr>
              <a:t>System Design</a:t>
            </a:r>
            <a:endParaRPr lang="en-US" sz="1900" dirty="0"/>
          </a:p>
        </p:txBody>
      </p:sp>
      <p:sp>
        <p:nvSpPr>
          <p:cNvPr id="11" name="Shape 9"/>
          <p:cNvSpPr/>
          <p:nvPr/>
        </p:nvSpPr>
        <p:spPr>
          <a:xfrm rot="5400000">
            <a:off x="5993892" y="3323844"/>
            <a:ext cx="201168" cy="256032"/>
          </a:xfrm>
          <a:prstGeom prst="triangle">
            <a:avLst/>
          </a:prstGeom>
          <a:solidFill>
            <a:srgbClr val="94A3B8"/>
          </a:solidFill>
          <a:ln w="12700">
            <a:solidFill>
              <a:srgbClr val="94A3B8"/>
            </a:solidFill>
            <a:prstDash val="solid"/>
          </a:ln>
        </p:spPr>
        <p:txBody>
          <a:bodyPr/>
          <a:lstStyle/>
          <a:p>
            <a:endParaRPr lang="ja-JP" altLang="en-US"/>
          </a:p>
        </p:txBody>
      </p:sp>
      <p:sp>
        <p:nvSpPr>
          <p:cNvPr id="12" name="Shape 10"/>
          <p:cNvSpPr/>
          <p:nvPr/>
        </p:nvSpPr>
        <p:spPr>
          <a:xfrm>
            <a:off x="6278880" y="2194560"/>
            <a:ext cx="2487168" cy="2514600"/>
          </a:xfrm>
          <a:prstGeom prst="roundRect">
            <a:avLst>
              <a:gd name="adj" fmla="val 2574"/>
            </a:avLst>
          </a:prstGeom>
          <a:solidFill>
            <a:srgbClr val="F8FAFC"/>
          </a:solidFill>
          <a:ln w="12700">
            <a:solidFill>
              <a:srgbClr val="E2E8F0"/>
            </a:solidFill>
            <a:prstDash val="solid"/>
          </a:ln>
        </p:spPr>
        <p:txBody>
          <a:bodyPr/>
          <a:lstStyle/>
          <a:p>
            <a:endParaRPr lang="ja-JP" altLang="en-US"/>
          </a:p>
        </p:txBody>
      </p:sp>
      <p:sp>
        <p:nvSpPr>
          <p:cNvPr id="13" name="Text 11"/>
          <p:cNvSpPr txBox="1"/>
          <p:nvPr/>
        </p:nvSpPr>
        <p:spPr>
          <a:xfrm>
            <a:off x="6571488" y="2505456"/>
            <a:ext cx="1901952" cy="786384"/>
          </a:xfrm>
          <a:prstGeom prst="rect">
            <a:avLst/>
          </a:prstGeom>
          <a:noFill/>
          <a:ln/>
        </p:spPr>
        <p:txBody>
          <a:bodyPr wrap="square" lIns="0" tIns="0" rIns="0" bIns="0" rtlCol="0" anchor="ctr"/>
          <a:lstStyle/>
          <a:p>
            <a:pPr marL="0" indent="0" algn="l">
              <a:buNone/>
            </a:pPr>
            <a:r>
              <a:rPr lang="ja-JP" altLang="en-US" sz="4600" b="1" dirty="0">
                <a:solidFill>
                  <a:srgbClr val="0284C7"/>
                </a:solidFill>
                <a:latin typeface="Arial" pitchFamily="34" charset="0"/>
                <a:ea typeface="Arial" pitchFamily="34" charset="-122"/>
                <a:cs typeface="Arial" pitchFamily="34" charset="-120"/>
              </a:rPr>
              <a:t>03</a:t>
            </a:r>
            <a:endParaRPr lang="ja-JP" sz="4600" dirty="0"/>
          </a:p>
        </p:txBody>
      </p:sp>
      <p:sp>
        <p:nvSpPr>
          <p:cNvPr id="14" name="Text 12"/>
          <p:cNvSpPr txBox="1"/>
          <p:nvPr/>
        </p:nvSpPr>
        <p:spPr>
          <a:xfrm>
            <a:off x="6571488" y="3529584"/>
            <a:ext cx="2029968" cy="457200"/>
          </a:xfrm>
          <a:prstGeom prst="rect">
            <a:avLst/>
          </a:prstGeom>
          <a:noFill/>
          <a:ln/>
        </p:spPr>
        <p:txBody>
          <a:bodyPr wrap="square" lIns="0" tIns="0" rIns="0" bIns="0" rtlCol="0" anchor="ctr"/>
          <a:lstStyle/>
          <a:p>
            <a:pPr marL="0" indent="0" algn="l">
              <a:buNone/>
            </a:pPr>
            <a:r>
              <a:rPr lang="en-US" altLang="en-US" sz="1900" b="1" dirty="0">
                <a:solidFill>
                  <a:srgbClr val="0F172A"/>
                </a:solidFill>
                <a:latin typeface="Arial" pitchFamily="34" charset="0"/>
                <a:ea typeface="Arial" pitchFamily="34" charset="-122"/>
                <a:cs typeface="Arial" pitchFamily="34" charset="-120"/>
              </a:rPr>
              <a:t>Results and Discussion</a:t>
            </a:r>
            <a:endParaRPr lang="en-US" sz="1900" dirty="0"/>
          </a:p>
        </p:txBody>
      </p:sp>
      <p:sp>
        <p:nvSpPr>
          <p:cNvPr id="15" name="Shape 13"/>
          <p:cNvSpPr/>
          <p:nvPr/>
        </p:nvSpPr>
        <p:spPr>
          <a:xfrm rot="5400000">
            <a:off x="8849868" y="3323844"/>
            <a:ext cx="201168" cy="256032"/>
          </a:xfrm>
          <a:prstGeom prst="triangle">
            <a:avLst/>
          </a:prstGeom>
          <a:solidFill>
            <a:srgbClr val="94A3B8"/>
          </a:solidFill>
          <a:ln w="12700">
            <a:solidFill>
              <a:srgbClr val="94A3B8"/>
            </a:solidFill>
            <a:prstDash val="solid"/>
          </a:ln>
        </p:spPr>
        <p:txBody>
          <a:bodyPr/>
          <a:lstStyle/>
          <a:p>
            <a:endParaRPr lang="ja-JP" altLang="en-US"/>
          </a:p>
        </p:txBody>
      </p:sp>
      <p:sp>
        <p:nvSpPr>
          <p:cNvPr id="16" name="Shape 14"/>
          <p:cNvSpPr/>
          <p:nvPr/>
        </p:nvSpPr>
        <p:spPr>
          <a:xfrm>
            <a:off x="9134856" y="2194560"/>
            <a:ext cx="2487168" cy="2514600"/>
          </a:xfrm>
          <a:prstGeom prst="roundRect">
            <a:avLst>
              <a:gd name="adj" fmla="val 2574"/>
            </a:avLst>
          </a:prstGeom>
          <a:solidFill>
            <a:srgbClr val="F8FAFC"/>
          </a:solidFill>
          <a:ln w="12700">
            <a:solidFill>
              <a:srgbClr val="E2E8F0"/>
            </a:solidFill>
            <a:prstDash val="solid"/>
          </a:ln>
        </p:spPr>
        <p:txBody>
          <a:bodyPr/>
          <a:lstStyle/>
          <a:p>
            <a:endParaRPr lang="ja-JP" altLang="en-US"/>
          </a:p>
        </p:txBody>
      </p:sp>
      <p:sp>
        <p:nvSpPr>
          <p:cNvPr id="17" name="Text 15"/>
          <p:cNvSpPr txBox="1"/>
          <p:nvPr/>
        </p:nvSpPr>
        <p:spPr>
          <a:xfrm>
            <a:off x="9427464" y="2505456"/>
            <a:ext cx="1901952" cy="786384"/>
          </a:xfrm>
          <a:prstGeom prst="rect">
            <a:avLst/>
          </a:prstGeom>
          <a:noFill/>
          <a:ln/>
        </p:spPr>
        <p:txBody>
          <a:bodyPr wrap="square" lIns="0" tIns="0" rIns="0" bIns="0" rtlCol="0" anchor="ctr"/>
          <a:lstStyle/>
          <a:p>
            <a:pPr marL="0" indent="0" algn="l">
              <a:buNone/>
            </a:pPr>
            <a:r>
              <a:rPr lang="ja-JP" altLang="en-US" sz="4600" b="1" dirty="0">
                <a:solidFill>
                  <a:srgbClr val="0284C7"/>
                </a:solidFill>
                <a:latin typeface="Arial" pitchFamily="34" charset="0"/>
                <a:ea typeface="Arial" pitchFamily="34" charset="-122"/>
                <a:cs typeface="Arial" pitchFamily="34" charset="-120"/>
              </a:rPr>
              <a:t>04</a:t>
            </a:r>
            <a:endParaRPr lang="ja-JP" sz="4600" dirty="0"/>
          </a:p>
        </p:txBody>
      </p:sp>
      <p:sp>
        <p:nvSpPr>
          <p:cNvPr id="18" name="Text 16"/>
          <p:cNvSpPr txBox="1"/>
          <p:nvPr/>
        </p:nvSpPr>
        <p:spPr>
          <a:xfrm>
            <a:off x="9427464" y="3529584"/>
            <a:ext cx="2029968" cy="457200"/>
          </a:xfrm>
          <a:prstGeom prst="rect">
            <a:avLst/>
          </a:prstGeom>
          <a:noFill/>
          <a:ln/>
        </p:spPr>
        <p:txBody>
          <a:bodyPr wrap="square" lIns="0" tIns="0" rIns="0" bIns="0" rtlCol="0" anchor="ctr"/>
          <a:lstStyle/>
          <a:p>
            <a:pPr marL="0" indent="0" algn="l">
              <a:buNone/>
            </a:pPr>
            <a:r>
              <a:rPr lang="en-US" altLang="en-US" sz="1900" b="1" dirty="0">
                <a:solidFill>
                  <a:srgbClr val="0F172A"/>
                </a:solidFill>
                <a:latin typeface="Arial" pitchFamily="34" charset="0"/>
                <a:ea typeface="Arial" pitchFamily="34" charset="-122"/>
                <a:cs typeface="Arial" pitchFamily="34" charset="-120"/>
              </a:rPr>
              <a:t>Conclusion</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a:effectLst/>
      </p:bgPr>
    </p:bg>
    <p:spTree>
      <p:nvGrpSpPr>
        <p:cNvPr id="1" name=""/>
        <p:cNvGrpSpPr/>
        <p:nvPr/>
      </p:nvGrpSpPr>
      <p:grpSpPr>
        <a:xfrm>
          <a:off x="0" y="0"/>
          <a:ext cx="0" cy="0"/>
          <a:chOff x="0" y="0"/>
          <a:chExt cx="0" cy="0"/>
        </a:xfrm>
      </p:grpSpPr>
      <p:sp>
        <p:nvSpPr>
          <p:cNvPr id="2" name="Text 0"/>
          <p:cNvSpPr txBox="1"/>
          <p:nvPr/>
        </p:nvSpPr>
        <p:spPr>
          <a:xfrm>
            <a:off x="11164824" y="6492240"/>
            <a:ext cx="457200" cy="219456"/>
          </a:xfrm>
          <a:prstGeom prst="rect">
            <a:avLst/>
          </a:prstGeom>
          <a:noFill/>
          <a:ln/>
        </p:spPr>
        <p:txBody>
          <a:bodyPr wrap="square" lIns="0" tIns="0" rIns="0" bIns="0" rtlCol="0" anchor="ctr"/>
          <a:lstStyle/>
          <a:p>
            <a:pPr marL="0" indent="0" algn="r">
              <a:buNone/>
            </a:pPr>
            <a:fld id="{8B2C3E4A-5D6F-4A1B-9C2D-3E4F5A6B7C8D}" type="slidenum">
              <a:rPr lang="en-US" altLang="ja-JP" sz="1000" dirty="0">
                <a:solidFill>
                  <a:srgbClr val="64748B"/>
                </a:solidFill>
                <a:latin typeface="Arial" pitchFamily="34" charset="0"/>
                <a:ea typeface="Arial" pitchFamily="34" charset="-122"/>
                <a:cs typeface="Arial" pitchFamily="34" charset="-120"/>
              </a:rPr>
              <a:t>3</a:t>
            </a:fld>
            <a:endParaRPr lang="en-US" altLang="ja-JP" sz="1000" dirty="0"/>
          </a:p>
        </p:txBody>
      </p:sp>
      <p:sp>
        <p:nvSpPr>
          <p:cNvPr id="3" name="Text 1"/>
          <p:cNvSpPr txBox="1"/>
          <p:nvPr/>
        </p:nvSpPr>
        <p:spPr>
          <a:xfrm>
            <a:off x="566928" y="1645920"/>
            <a:ext cx="3657600" cy="1188720"/>
          </a:xfrm>
          <a:prstGeom prst="rect">
            <a:avLst/>
          </a:prstGeom>
          <a:noFill/>
          <a:ln/>
        </p:spPr>
        <p:txBody>
          <a:bodyPr wrap="square" lIns="0" tIns="0" rIns="0" bIns="0" rtlCol="0" anchor="ctr"/>
          <a:lstStyle/>
          <a:p>
            <a:pPr marL="0" indent="0" algn="l">
              <a:buNone/>
            </a:pPr>
            <a:r>
              <a:rPr lang="ja-JP" altLang="en-US" sz="7200" b="1" dirty="0">
                <a:solidFill>
                  <a:srgbClr val="0284C7"/>
                </a:solidFill>
                <a:latin typeface="Arial" pitchFamily="34" charset="0"/>
                <a:ea typeface="Arial" pitchFamily="34" charset="-122"/>
                <a:cs typeface="Arial" pitchFamily="34" charset="-120"/>
              </a:rPr>
              <a:t>01</a:t>
            </a:r>
            <a:endParaRPr lang="ja-JP" sz="7200" dirty="0"/>
          </a:p>
        </p:txBody>
      </p:sp>
      <p:sp>
        <p:nvSpPr>
          <p:cNvPr id="4" name="Text 2"/>
          <p:cNvSpPr txBox="1"/>
          <p:nvPr/>
        </p:nvSpPr>
        <p:spPr>
          <a:xfrm>
            <a:off x="566928" y="2907792"/>
            <a:ext cx="10789920" cy="841248"/>
          </a:xfrm>
          <a:prstGeom prst="rect">
            <a:avLst/>
          </a:prstGeom>
          <a:noFill/>
          <a:ln/>
        </p:spPr>
        <p:txBody>
          <a:bodyPr wrap="square" lIns="0" tIns="0" rIns="0" bIns="0" rtlCol="0" anchor="ctr"/>
          <a:lstStyle/>
          <a:p>
            <a:pPr marL="0" indent="0" algn="l">
              <a:buNone/>
            </a:pPr>
            <a:r>
              <a:rPr lang="en-US" altLang="en-US" sz="4200" b="1" dirty="0">
                <a:solidFill>
                  <a:srgbClr val="FFFFFF"/>
                </a:solidFill>
                <a:latin typeface="Arial" pitchFamily="34" charset="0"/>
                <a:ea typeface="Arial" pitchFamily="34" charset="-122"/>
                <a:cs typeface="Arial" pitchFamily="34" charset="-120"/>
              </a:rPr>
              <a:t>Background and Objective</a:t>
            </a:r>
            <a:endParaRPr lang="en-US" sz="4200" dirty="0"/>
          </a:p>
        </p:txBody>
      </p:sp>
      <p:sp>
        <p:nvSpPr>
          <p:cNvPr id="5" name="Text 3"/>
          <p:cNvSpPr txBox="1"/>
          <p:nvPr/>
        </p:nvSpPr>
        <p:spPr>
          <a:xfrm>
            <a:off x="566928" y="3895344"/>
            <a:ext cx="10789920" cy="457200"/>
          </a:xfrm>
          <a:prstGeom prst="rect">
            <a:avLst/>
          </a:prstGeom>
          <a:noFill/>
          <a:ln/>
        </p:spPr>
        <p:txBody>
          <a:bodyPr wrap="square" lIns="0" tIns="0" rIns="0" bIns="0" rtlCol="0" anchor="ctr"/>
          <a:lstStyle/>
          <a:p>
            <a:pPr marL="0" indent="0" algn="l">
              <a:buNone/>
            </a:pPr>
            <a:r>
              <a:rPr lang="en-US" altLang="en-US" sz="2000" dirty="0">
                <a:solidFill>
                  <a:srgbClr val="CBD5E1"/>
                </a:solidFill>
                <a:latin typeface="Arial" pitchFamily="34" charset="0"/>
                <a:ea typeface="Arial" pitchFamily="34" charset="-122"/>
                <a:cs typeface="Arial" pitchFamily="34" charset="-120"/>
              </a:rPr>
              <a:t>Survey / Previous Studies / Objective</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9088AE14-1F51-F7F3-CC57-E28332939724}"/>
              </a:ext>
            </a:extLst>
          </p:cNvPr>
          <p:cNvPicPr>
            <a:picLocks noChangeAspect="1"/>
          </p:cNvPicPr>
          <p:nvPr/>
        </p:nvPicPr>
        <p:blipFill>
          <a:blip r:embed="rId3"/>
          <a:stretch>
            <a:fillRect/>
          </a:stretch>
        </p:blipFill>
        <p:spPr>
          <a:xfrm>
            <a:off x="566928" y="1829515"/>
            <a:ext cx="6355080" cy="3463057"/>
          </a:xfrm>
          <a:prstGeom prst="rect">
            <a:avLst/>
          </a:prstGeom>
        </p:spPr>
      </p:pic>
      <p:sp>
        <p:nvSpPr>
          <p:cNvPr id="2" name="Text 1">
            <a:extLst>
              <a:ext uri="{FF2B5EF4-FFF2-40B4-BE49-F238E27FC236}">
                <a16:creationId xmlns:a16="http://schemas.microsoft.com/office/drawing/2014/main" id="{6D3C1F11-BA88-4BD0-D467-7B36B79BEB82}"/>
              </a:ext>
            </a:extLst>
          </p:cNvPr>
          <p:cNvSpPr txBox="1"/>
          <p:nvPr/>
        </p:nvSpPr>
        <p:spPr>
          <a:xfrm>
            <a:off x="566928" y="310896"/>
            <a:ext cx="11055096" cy="237744"/>
          </a:xfrm>
          <a:prstGeom prst="rect">
            <a:avLst/>
          </a:prstGeom>
          <a:noFill/>
          <a:ln/>
        </p:spPr>
        <p:txBody>
          <a:bodyPr wrap="square" lIns="0" tIns="0" rIns="0" bIns="0" rtlCol="0" anchor="ctr"/>
          <a:lstStyle/>
          <a:p>
            <a:pPr marL="0" indent="0" algn="l">
              <a:buNone/>
            </a:pPr>
            <a:r>
              <a:rPr lang="en-US" altLang="en-US" sz="1200" b="1" kern="0" spc="100" dirty="0">
                <a:solidFill>
                  <a:srgbClr val="0284C7"/>
                </a:solidFill>
                <a:latin typeface="Arial" pitchFamily="34" charset="0"/>
                <a:ea typeface="Arial" pitchFamily="34" charset="-122"/>
                <a:cs typeface="Arial" pitchFamily="34" charset="-120"/>
              </a:rPr>
              <a:t>1. Background and Objective</a:t>
            </a:r>
            <a:endParaRPr lang="en-US" sz="1200" dirty="0"/>
          </a:p>
        </p:txBody>
      </p:sp>
      <p:sp>
        <p:nvSpPr>
          <p:cNvPr id="3" name="Text 2">
            <a:extLst>
              <a:ext uri="{FF2B5EF4-FFF2-40B4-BE49-F238E27FC236}">
                <a16:creationId xmlns:a16="http://schemas.microsoft.com/office/drawing/2014/main" id="{5A855A68-36BA-679E-C2E5-7FCB216EBB17}"/>
              </a:ext>
            </a:extLst>
          </p:cNvPr>
          <p:cNvSpPr txBox="1"/>
          <p:nvPr/>
        </p:nvSpPr>
        <p:spPr>
          <a:xfrm>
            <a:off x="566928" y="566928"/>
            <a:ext cx="11055096" cy="566928"/>
          </a:xfrm>
          <a:prstGeom prst="rect">
            <a:avLst/>
          </a:prstGeom>
          <a:noFill/>
          <a:ln/>
        </p:spPr>
        <p:txBody>
          <a:bodyPr wrap="square" lIns="0" tIns="0" rIns="0" bIns="0" rtlCol="0" anchor="ctr"/>
          <a:lstStyle/>
          <a:p>
            <a:pPr marL="0" indent="0" algn="l">
              <a:buNone/>
            </a:pPr>
            <a:r>
              <a:rPr lang="en-US" altLang="en-US" sz="2800" b="1" dirty="0">
                <a:solidFill>
                  <a:srgbClr val="0F172A"/>
                </a:solidFill>
                <a:latin typeface="Arial" pitchFamily="34" charset="0"/>
                <a:ea typeface="Arial" pitchFamily="34" charset="-122"/>
                <a:cs typeface="Arial" pitchFamily="34" charset="-120"/>
              </a:rPr>
              <a:t>What Is an Academic Conference?</a:t>
            </a:r>
            <a:endParaRPr lang="en-US" sz="2800" dirty="0"/>
          </a:p>
        </p:txBody>
      </p:sp>
      <p:sp>
        <p:nvSpPr>
          <p:cNvPr id="301" name="Text 301"/>
          <p:cNvSpPr txBox="1"/>
          <p:nvPr/>
        </p:nvSpPr>
        <p:spPr>
          <a:xfrm>
            <a:off x="566928" y="5329974"/>
            <a:ext cx="6355080" cy="201168"/>
          </a:xfrm>
          <a:prstGeom prst="rect">
            <a:avLst/>
          </a:prstGeom>
          <a:noFill/>
          <a:ln/>
        </p:spPr>
        <p:txBody>
          <a:bodyPr wrap="square" lIns="0" tIns="0" rIns="0" bIns="0" rtlCol="0" anchor="ctr"/>
          <a:lstStyle/>
          <a:p>
            <a:pPr marL="0" indent="0" algn="r">
              <a:buNone/>
            </a:pPr>
            <a:r>
              <a:rPr lang="en-US" altLang="en-US" sz="900" dirty="0">
                <a:solidFill>
                  <a:srgbClr val="64748B"/>
                </a:solidFill>
                <a:latin typeface="Arial" pitchFamily="34" charset="0"/>
                <a:ea typeface="Arial" pitchFamily="34" charset="-122"/>
                <a:cs typeface="Arial" pitchFamily="34" charset="-120"/>
              </a:rPr>
              <a:t>Generated by Gemini</a:t>
            </a:r>
            <a:endParaRPr lang="en-US" sz="900" dirty="0"/>
          </a:p>
        </p:txBody>
      </p:sp>
      <p:sp>
        <p:nvSpPr>
          <p:cNvPr id="302" name="Text 302"/>
          <p:cNvSpPr txBox="1"/>
          <p:nvPr/>
        </p:nvSpPr>
        <p:spPr>
          <a:xfrm>
            <a:off x="7269480" y="1830376"/>
            <a:ext cx="4352544" cy="274320"/>
          </a:xfrm>
          <a:prstGeom prst="rect">
            <a:avLst/>
          </a:prstGeom>
          <a:noFill/>
          <a:ln/>
        </p:spPr>
        <p:txBody>
          <a:bodyPr wrap="square" lIns="0" tIns="0" rIns="0" bIns="0" rtlCol="0" anchor="ctr"/>
          <a:lstStyle/>
          <a:p>
            <a:pPr marL="0" indent="0" algn="l">
              <a:buNone/>
            </a:pPr>
            <a:r>
              <a:rPr lang="en-US" altLang="en-US" sz="1200" b="1" dirty="0">
                <a:solidFill>
                  <a:srgbClr val="0369A1"/>
                </a:solidFill>
                <a:latin typeface="Arial" pitchFamily="34" charset="0"/>
                <a:ea typeface="Arial" pitchFamily="34" charset="-122"/>
                <a:cs typeface="Arial" pitchFamily="34" charset="-120"/>
              </a:rPr>
              <a:t>At a conference</a:t>
            </a:r>
            <a:endParaRPr lang="en-US" sz="1200" dirty="0"/>
          </a:p>
        </p:txBody>
      </p:sp>
      <p:sp>
        <p:nvSpPr>
          <p:cNvPr id="303" name="Shape 303"/>
          <p:cNvSpPr/>
          <p:nvPr/>
        </p:nvSpPr>
        <p:spPr>
          <a:xfrm>
            <a:off x="7269480" y="2196136"/>
            <a:ext cx="4352544" cy="512064"/>
          </a:xfrm>
          <a:prstGeom prst="roundRect">
            <a:avLst>
              <a:gd name="adj" fmla="val 12000"/>
            </a:avLst>
          </a:prstGeom>
          <a:solidFill>
            <a:srgbClr val="F8FAFC"/>
          </a:solidFill>
          <a:ln w="12700">
            <a:solidFill>
              <a:srgbClr val="E2E8F0"/>
            </a:solidFill>
            <a:prstDash val="solid"/>
          </a:ln>
        </p:spPr>
        <p:txBody>
          <a:bodyPr/>
          <a:lstStyle/>
          <a:p>
            <a:endParaRPr lang="en-US"/>
          </a:p>
        </p:txBody>
      </p:sp>
      <p:sp>
        <p:nvSpPr>
          <p:cNvPr id="304" name="Shape 304"/>
          <p:cNvSpPr/>
          <p:nvPr/>
        </p:nvSpPr>
        <p:spPr>
          <a:xfrm>
            <a:off x="7434072" y="2296720"/>
            <a:ext cx="310896" cy="310896"/>
          </a:xfrm>
          <a:prstGeom prst="ellipse">
            <a:avLst/>
          </a:prstGeom>
          <a:solidFill>
            <a:srgbClr val="0284C7"/>
          </a:solidFill>
          <a:ln w="12700">
            <a:solidFill>
              <a:srgbClr val="0284C7"/>
            </a:solidFill>
            <a:prstDash val="solid"/>
          </a:ln>
        </p:spPr>
        <p:txBody>
          <a:bodyPr/>
          <a:lstStyle/>
          <a:p>
            <a:endParaRPr lang="en-US"/>
          </a:p>
        </p:txBody>
      </p:sp>
      <p:sp>
        <p:nvSpPr>
          <p:cNvPr id="305" name="Text 305"/>
          <p:cNvSpPr txBox="1"/>
          <p:nvPr/>
        </p:nvSpPr>
        <p:spPr>
          <a:xfrm>
            <a:off x="7434072" y="2296720"/>
            <a:ext cx="310896" cy="310896"/>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306" name="Text 306"/>
          <p:cNvSpPr txBox="1"/>
          <p:nvPr/>
        </p:nvSpPr>
        <p:spPr>
          <a:xfrm>
            <a:off x="7891272" y="2196136"/>
            <a:ext cx="3621024" cy="512064"/>
          </a:xfrm>
          <a:prstGeom prst="rect">
            <a:avLst/>
          </a:prstGeom>
          <a:noFill/>
          <a:ln/>
        </p:spPr>
        <p:txBody>
          <a:bodyPr wrap="square" lIns="0" tIns="0" rIns="0" bIns="0" rtlCol="0" anchor="ctr"/>
          <a:lstStyle/>
          <a:p>
            <a:pPr marL="0" indent="0" algn="l">
              <a:buNone/>
            </a:pPr>
            <a:r>
              <a:rPr lang="en-US" altLang="en-US" sz="1600" b="1" dirty="0">
                <a:solidFill>
                  <a:srgbClr val="0F172A"/>
                </a:solidFill>
                <a:latin typeface="Arial" pitchFamily="34" charset="0"/>
                <a:ea typeface="Arial" pitchFamily="34" charset="-122"/>
                <a:cs typeface="Arial" pitchFamily="34" charset="-120"/>
              </a:rPr>
              <a:t>Oral presentations</a:t>
            </a:r>
            <a:endParaRPr lang="en-US" sz="1600" dirty="0"/>
          </a:p>
        </p:txBody>
      </p:sp>
      <p:sp>
        <p:nvSpPr>
          <p:cNvPr id="307" name="Shape 307"/>
          <p:cNvSpPr/>
          <p:nvPr/>
        </p:nvSpPr>
        <p:spPr>
          <a:xfrm>
            <a:off x="7269480" y="2836216"/>
            <a:ext cx="4352544" cy="512064"/>
          </a:xfrm>
          <a:prstGeom prst="roundRect">
            <a:avLst>
              <a:gd name="adj" fmla="val 12000"/>
            </a:avLst>
          </a:prstGeom>
          <a:solidFill>
            <a:srgbClr val="F8FAFC"/>
          </a:solidFill>
          <a:ln w="12700">
            <a:solidFill>
              <a:srgbClr val="E2E8F0"/>
            </a:solidFill>
            <a:prstDash val="solid"/>
          </a:ln>
        </p:spPr>
        <p:txBody>
          <a:bodyPr/>
          <a:lstStyle/>
          <a:p>
            <a:endParaRPr lang="en-US"/>
          </a:p>
        </p:txBody>
      </p:sp>
      <p:sp>
        <p:nvSpPr>
          <p:cNvPr id="308" name="Shape 308"/>
          <p:cNvSpPr/>
          <p:nvPr/>
        </p:nvSpPr>
        <p:spPr>
          <a:xfrm>
            <a:off x="7434072" y="2936800"/>
            <a:ext cx="310896" cy="310896"/>
          </a:xfrm>
          <a:prstGeom prst="ellipse">
            <a:avLst/>
          </a:prstGeom>
          <a:solidFill>
            <a:srgbClr val="0284C7"/>
          </a:solidFill>
          <a:ln w="12700">
            <a:solidFill>
              <a:srgbClr val="0284C7"/>
            </a:solidFill>
            <a:prstDash val="solid"/>
          </a:ln>
        </p:spPr>
        <p:txBody>
          <a:bodyPr/>
          <a:lstStyle/>
          <a:p>
            <a:endParaRPr lang="en-US"/>
          </a:p>
        </p:txBody>
      </p:sp>
      <p:sp>
        <p:nvSpPr>
          <p:cNvPr id="309" name="Text 309"/>
          <p:cNvSpPr txBox="1"/>
          <p:nvPr/>
        </p:nvSpPr>
        <p:spPr>
          <a:xfrm>
            <a:off x="7434072" y="2936800"/>
            <a:ext cx="310896" cy="310896"/>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310" name="Text 310"/>
          <p:cNvSpPr txBox="1"/>
          <p:nvPr/>
        </p:nvSpPr>
        <p:spPr>
          <a:xfrm>
            <a:off x="7891272" y="2836216"/>
            <a:ext cx="3621024" cy="512064"/>
          </a:xfrm>
          <a:prstGeom prst="rect">
            <a:avLst/>
          </a:prstGeom>
          <a:noFill/>
          <a:ln/>
        </p:spPr>
        <p:txBody>
          <a:bodyPr wrap="square" lIns="0" tIns="0" rIns="0" bIns="0" rtlCol="0" anchor="ctr"/>
          <a:lstStyle/>
          <a:p>
            <a:pPr marL="0" indent="0" algn="l">
              <a:buNone/>
            </a:pPr>
            <a:r>
              <a:rPr lang="en-US" altLang="en-US" sz="1600" b="1" dirty="0">
                <a:solidFill>
                  <a:srgbClr val="0F172A"/>
                </a:solidFill>
                <a:latin typeface="Arial" pitchFamily="34" charset="0"/>
                <a:ea typeface="Arial" pitchFamily="34" charset="-122"/>
                <a:cs typeface="Arial" pitchFamily="34" charset="-120"/>
              </a:rPr>
              <a:t>Poster presentations</a:t>
            </a:r>
            <a:endParaRPr lang="en-US" sz="1600" dirty="0"/>
          </a:p>
        </p:txBody>
      </p:sp>
      <p:sp>
        <p:nvSpPr>
          <p:cNvPr id="311" name="Shape 311"/>
          <p:cNvSpPr/>
          <p:nvPr/>
        </p:nvSpPr>
        <p:spPr>
          <a:xfrm>
            <a:off x="7269480" y="3476296"/>
            <a:ext cx="4352544" cy="512064"/>
          </a:xfrm>
          <a:prstGeom prst="roundRect">
            <a:avLst>
              <a:gd name="adj" fmla="val 12000"/>
            </a:avLst>
          </a:prstGeom>
          <a:solidFill>
            <a:srgbClr val="F8FAFC"/>
          </a:solidFill>
          <a:ln w="12700">
            <a:solidFill>
              <a:srgbClr val="E2E8F0"/>
            </a:solidFill>
            <a:prstDash val="solid"/>
          </a:ln>
        </p:spPr>
        <p:txBody>
          <a:bodyPr/>
          <a:lstStyle/>
          <a:p>
            <a:endParaRPr lang="en-US"/>
          </a:p>
        </p:txBody>
      </p:sp>
      <p:sp>
        <p:nvSpPr>
          <p:cNvPr id="312" name="Shape 312"/>
          <p:cNvSpPr/>
          <p:nvPr/>
        </p:nvSpPr>
        <p:spPr>
          <a:xfrm>
            <a:off x="7434072" y="3576880"/>
            <a:ext cx="310896" cy="310896"/>
          </a:xfrm>
          <a:prstGeom prst="ellipse">
            <a:avLst/>
          </a:prstGeom>
          <a:solidFill>
            <a:srgbClr val="0284C7"/>
          </a:solidFill>
          <a:ln w="12700">
            <a:solidFill>
              <a:srgbClr val="0284C7"/>
            </a:solidFill>
            <a:prstDash val="solid"/>
          </a:ln>
        </p:spPr>
        <p:txBody>
          <a:bodyPr/>
          <a:lstStyle/>
          <a:p>
            <a:endParaRPr lang="en-US"/>
          </a:p>
        </p:txBody>
      </p:sp>
      <p:sp>
        <p:nvSpPr>
          <p:cNvPr id="313" name="Text 313"/>
          <p:cNvSpPr txBox="1"/>
          <p:nvPr/>
        </p:nvSpPr>
        <p:spPr>
          <a:xfrm>
            <a:off x="7434072" y="3576880"/>
            <a:ext cx="310896" cy="310896"/>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314" name="Text 314"/>
          <p:cNvSpPr txBox="1"/>
          <p:nvPr/>
        </p:nvSpPr>
        <p:spPr>
          <a:xfrm>
            <a:off x="7891272" y="3476296"/>
            <a:ext cx="3621024" cy="512064"/>
          </a:xfrm>
          <a:prstGeom prst="rect">
            <a:avLst/>
          </a:prstGeom>
          <a:noFill/>
          <a:ln/>
        </p:spPr>
        <p:txBody>
          <a:bodyPr wrap="square" lIns="0" tIns="0" rIns="0" bIns="0" rtlCol="0" anchor="ctr"/>
          <a:lstStyle/>
          <a:p>
            <a:pPr marL="0" indent="0" algn="l">
              <a:buNone/>
            </a:pPr>
            <a:r>
              <a:rPr lang="en-US" altLang="en-US" sz="1600" b="1" dirty="0">
                <a:solidFill>
                  <a:srgbClr val="0F172A"/>
                </a:solidFill>
                <a:latin typeface="Arial" pitchFamily="34" charset="0"/>
                <a:ea typeface="Arial" pitchFamily="34" charset="-122"/>
                <a:cs typeface="Arial" pitchFamily="34" charset="-120"/>
              </a:rPr>
              <a:t>Networking among researchers</a:t>
            </a:r>
            <a:endParaRPr lang="en-US" sz="1600" dirty="0"/>
          </a:p>
        </p:txBody>
      </p:sp>
      <p:sp>
        <p:nvSpPr>
          <p:cNvPr id="315" name="Shape 315"/>
          <p:cNvSpPr/>
          <p:nvPr/>
        </p:nvSpPr>
        <p:spPr>
          <a:xfrm rot="10800000">
            <a:off x="9308592" y="4134664"/>
            <a:ext cx="274320" cy="201168"/>
          </a:xfrm>
          <a:prstGeom prst="triangle">
            <a:avLst/>
          </a:prstGeom>
          <a:solidFill>
            <a:srgbClr val="94A3B8"/>
          </a:solidFill>
          <a:ln w="12700">
            <a:solidFill>
              <a:srgbClr val="94A3B8"/>
            </a:solidFill>
            <a:prstDash val="solid"/>
          </a:ln>
        </p:spPr>
        <p:txBody>
          <a:bodyPr/>
          <a:lstStyle/>
          <a:p>
            <a:endParaRPr lang="en-US"/>
          </a:p>
        </p:txBody>
      </p:sp>
      <p:sp>
        <p:nvSpPr>
          <p:cNvPr id="316" name="Shape 316"/>
          <p:cNvSpPr/>
          <p:nvPr/>
        </p:nvSpPr>
        <p:spPr>
          <a:xfrm>
            <a:off x="7269480" y="4436416"/>
            <a:ext cx="4352544" cy="856982"/>
          </a:xfrm>
          <a:prstGeom prst="roundRect">
            <a:avLst>
              <a:gd name="adj" fmla="val 10000"/>
            </a:avLst>
          </a:prstGeom>
          <a:solidFill>
            <a:srgbClr val="E0F2FE"/>
          </a:solidFill>
          <a:ln w="12700">
            <a:solidFill>
              <a:srgbClr val="BAE6FD"/>
            </a:solidFill>
            <a:prstDash val="solid"/>
          </a:ln>
        </p:spPr>
        <p:txBody>
          <a:bodyPr/>
          <a:lstStyle/>
          <a:p>
            <a:endParaRPr lang="en-US"/>
          </a:p>
        </p:txBody>
      </p:sp>
      <p:sp>
        <p:nvSpPr>
          <p:cNvPr id="317" name="Text 317"/>
          <p:cNvSpPr txBox="1"/>
          <p:nvPr/>
        </p:nvSpPr>
        <p:spPr>
          <a:xfrm>
            <a:off x="7269480" y="4436416"/>
            <a:ext cx="4352544" cy="856982"/>
          </a:xfrm>
          <a:prstGeom prst="rect">
            <a:avLst/>
          </a:prstGeom>
          <a:noFill/>
          <a:ln/>
        </p:spPr>
        <p:txBody>
          <a:bodyPr wrap="square" lIns="0" tIns="0" rIns="0" bIns="0" rtlCol="0" anchor="ctr"/>
          <a:lstStyle/>
          <a:p>
            <a:pPr marL="0" indent="0" algn="ctr">
              <a:buNone/>
            </a:pPr>
            <a:r>
              <a:rPr lang="en-US" altLang="en-US" sz="2000" b="1" dirty="0">
                <a:solidFill>
                  <a:srgbClr val="0C4A6E"/>
                </a:solidFill>
                <a:latin typeface="Arial" pitchFamily="34" charset="0"/>
                <a:ea typeface="Arial" pitchFamily="34" charset="-122"/>
                <a:cs typeface="Arial" pitchFamily="34" charset="-120"/>
              </a:rPr>
              <a:t>Advancing science</a:t>
            </a:r>
            <a:endParaRPr lang="en-US" sz="2000" dirty="0"/>
          </a:p>
        </p:txBody>
      </p:sp>
      <p:sp>
        <p:nvSpPr>
          <p:cNvPr id="318" name="TextBox 317"/>
          <p:cNvSpPr txBox="1"/>
          <p:nvPr/>
        </p:nvSpPr>
        <p:spPr>
          <a:xfrm>
            <a:off x="11164824" y="6492240"/>
            <a:ext cx="457200" cy="219456"/>
          </a:xfrm>
          <a:prstGeom prst="rect">
            <a:avLst/>
          </a:prstGeom>
          <a:noFill/>
          <a:ln/>
        </p:spPr>
        <p:txBody>
          <a:bodyPr wrap="square" lIns="0" tIns="0" rIns="0" bIns="0" rtlCol="0" anchor="ctr"/>
          <a:lstStyle/>
          <a:p>
            <a:pPr marL="0" indent="0" algn="r">
              <a:buNone/>
            </a:pPr>
            <a:fld id="{8B2C3E4A-5D6F-4A1B-9C2D-3E4F5A6B7C8D}" type="slidenum">
              <a:rPr lang="en-US" altLang="ja-JP" sz="1000" dirty="0">
                <a:solidFill>
                  <a:srgbClr val="94A3B8"/>
                </a:solidFill>
                <a:latin typeface="Arial" pitchFamily="34" charset="0"/>
                <a:ea typeface="Arial" pitchFamily="34" charset="-122"/>
                <a:cs typeface="Arial" pitchFamily="34" charset="-120"/>
              </a:rPr>
              <a:t>4</a:t>
            </a:fld>
            <a:endParaRPr lang="en-US" altLang="ja-JP" sz="1000" dirty="0"/>
          </a:p>
        </p:txBody>
      </p:sp>
    </p:spTree>
    <p:extLst>
      <p:ext uri="{BB962C8B-B14F-4D97-AF65-F5344CB8AC3E}">
        <p14:creationId xmlns:p14="http://schemas.microsoft.com/office/powerpoint/2010/main" val="21650308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87B58-583C-362D-A0F8-C3C04F817BB4}"/>
            </a:ext>
          </a:extLst>
        </p:cNvPr>
        <p:cNvGrpSpPr/>
        <p:nvPr/>
      </p:nvGrpSpPr>
      <p:grpSpPr>
        <a:xfrm>
          <a:off x="0" y="0"/>
          <a:ext cx="0" cy="0"/>
          <a:chOff x="0" y="0"/>
          <a:chExt cx="0" cy="0"/>
        </a:xfrm>
      </p:grpSpPr>
      <p:pic>
        <p:nvPicPr>
          <p:cNvPr id="23" name="図 22">
            <a:extLst>
              <a:ext uri="{FF2B5EF4-FFF2-40B4-BE49-F238E27FC236}">
                <a16:creationId xmlns:a16="http://schemas.microsoft.com/office/drawing/2014/main" id="{9673BE82-9D94-2E01-F7D1-DFFDD33D8DB6}"/>
              </a:ext>
            </a:extLst>
          </p:cNvPr>
          <p:cNvPicPr>
            <a:picLocks noChangeAspect="1"/>
          </p:cNvPicPr>
          <p:nvPr/>
        </p:nvPicPr>
        <p:blipFill>
          <a:blip r:embed="rId3"/>
          <a:stretch>
            <a:fillRect/>
          </a:stretch>
        </p:blipFill>
        <p:spPr>
          <a:xfrm>
            <a:off x="566928" y="1600200"/>
            <a:ext cx="6537960" cy="3578865"/>
          </a:xfrm>
          <a:prstGeom prst="rect">
            <a:avLst/>
          </a:prstGeom>
        </p:spPr>
      </p:pic>
      <p:sp>
        <p:nvSpPr>
          <p:cNvPr id="2" name="Text 1">
            <a:extLst>
              <a:ext uri="{FF2B5EF4-FFF2-40B4-BE49-F238E27FC236}">
                <a16:creationId xmlns:a16="http://schemas.microsoft.com/office/drawing/2014/main" id="{5021229C-52A1-8DBE-7D26-11BD420773DF}"/>
              </a:ext>
            </a:extLst>
          </p:cNvPr>
          <p:cNvSpPr txBox="1"/>
          <p:nvPr/>
        </p:nvSpPr>
        <p:spPr>
          <a:xfrm>
            <a:off x="566928" y="310896"/>
            <a:ext cx="11055096" cy="237744"/>
          </a:xfrm>
          <a:prstGeom prst="rect">
            <a:avLst/>
          </a:prstGeom>
          <a:noFill/>
          <a:ln/>
        </p:spPr>
        <p:txBody>
          <a:bodyPr wrap="square" lIns="0" tIns="0" rIns="0" bIns="0" rtlCol="0" anchor="ctr"/>
          <a:lstStyle/>
          <a:p>
            <a:pPr marL="0" indent="0" algn="l">
              <a:buNone/>
            </a:pPr>
            <a:r>
              <a:rPr lang="en-US" altLang="en-US" sz="1200" b="1" kern="0" spc="100" dirty="0">
                <a:solidFill>
                  <a:srgbClr val="0284C7"/>
                </a:solidFill>
                <a:latin typeface="Arial" pitchFamily="34" charset="0"/>
                <a:ea typeface="Arial" pitchFamily="34" charset="-122"/>
                <a:cs typeface="Arial" pitchFamily="34" charset="-120"/>
              </a:rPr>
              <a:t>1. Background and Objective</a:t>
            </a:r>
            <a:endParaRPr lang="en-US" sz="1200" dirty="0"/>
          </a:p>
        </p:txBody>
      </p:sp>
      <p:sp>
        <p:nvSpPr>
          <p:cNvPr id="3" name="Text 2">
            <a:extLst>
              <a:ext uri="{FF2B5EF4-FFF2-40B4-BE49-F238E27FC236}">
                <a16:creationId xmlns:a16="http://schemas.microsoft.com/office/drawing/2014/main" id="{C378A44C-FCE1-389F-47D1-29C84A4A96C9}"/>
              </a:ext>
            </a:extLst>
          </p:cNvPr>
          <p:cNvSpPr txBox="1"/>
          <p:nvPr/>
        </p:nvSpPr>
        <p:spPr>
          <a:xfrm>
            <a:off x="566928" y="566928"/>
            <a:ext cx="11055096" cy="566928"/>
          </a:xfrm>
          <a:prstGeom prst="rect">
            <a:avLst/>
          </a:prstGeom>
          <a:noFill/>
          <a:ln/>
        </p:spPr>
        <p:txBody>
          <a:bodyPr wrap="square" lIns="0" tIns="0" rIns="0" bIns="0" rtlCol="0" anchor="ctr"/>
          <a:lstStyle/>
          <a:p>
            <a:r>
              <a:rPr lang="en" altLang="ja-JP" sz="2800" b="1" dirty="0">
                <a:solidFill>
                  <a:srgbClr val="0F172A"/>
                </a:solidFill>
                <a:latin typeface="Arial"/>
              </a:rPr>
              <a:t>The Problem: Making a Good Program Is Hard</a:t>
            </a:r>
          </a:p>
        </p:txBody>
      </p:sp>
      <p:sp>
        <p:nvSpPr>
          <p:cNvPr id="6" name="Text 301">
            <a:extLst>
              <a:ext uri="{FF2B5EF4-FFF2-40B4-BE49-F238E27FC236}">
                <a16:creationId xmlns:a16="http://schemas.microsoft.com/office/drawing/2014/main" id="{A0ED8106-D3E8-4897-929E-03C016486396}"/>
              </a:ext>
            </a:extLst>
          </p:cNvPr>
          <p:cNvSpPr txBox="1"/>
          <p:nvPr/>
        </p:nvSpPr>
        <p:spPr>
          <a:xfrm>
            <a:off x="566928" y="5193792"/>
            <a:ext cx="6355080" cy="201168"/>
          </a:xfrm>
          <a:prstGeom prst="rect">
            <a:avLst/>
          </a:prstGeom>
          <a:noFill/>
          <a:ln/>
        </p:spPr>
        <p:txBody>
          <a:bodyPr wrap="square" lIns="0" tIns="0" rIns="0" bIns="0" rtlCol="0" anchor="ctr"/>
          <a:lstStyle/>
          <a:p>
            <a:pPr marL="0" indent="0" algn="r">
              <a:buNone/>
            </a:pPr>
            <a:r>
              <a:rPr lang="en-US" altLang="en-US" sz="900" dirty="0">
                <a:solidFill>
                  <a:srgbClr val="64748B"/>
                </a:solidFill>
                <a:latin typeface="Arial" pitchFamily="34" charset="0"/>
                <a:ea typeface="Arial" pitchFamily="34" charset="-122"/>
                <a:cs typeface="Arial" pitchFamily="34" charset="-120"/>
              </a:rPr>
              <a:t>Generated by Gemini</a:t>
            </a:r>
            <a:endParaRPr lang="en-US" sz="900" dirty="0"/>
          </a:p>
        </p:txBody>
      </p:sp>
      <p:sp>
        <p:nvSpPr>
          <p:cNvPr id="5" name="TextBox 6">
            <a:extLst>
              <a:ext uri="{FF2B5EF4-FFF2-40B4-BE49-F238E27FC236}">
                <a16:creationId xmlns:a16="http://schemas.microsoft.com/office/drawing/2014/main" id="{EA26D4C9-1D55-F9CD-5D09-073F1B98450F}"/>
              </a:ext>
            </a:extLst>
          </p:cNvPr>
          <p:cNvSpPr txBox="1"/>
          <p:nvPr/>
        </p:nvSpPr>
        <p:spPr>
          <a:xfrm>
            <a:off x="7511019" y="1697159"/>
            <a:ext cx="4352544" cy="274320"/>
          </a:xfrm>
          <a:prstGeom prst="rect">
            <a:avLst/>
          </a:prstGeom>
          <a:noFill/>
        </p:spPr>
        <p:txBody>
          <a:bodyPr wrap="square">
            <a:spAutoFit/>
          </a:bodyPr>
          <a:lstStyle/>
          <a:p>
            <a:r>
              <a:rPr sz="1200" b="1">
                <a:solidFill>
                  <a:srgbClr val="B45309"/>
                </a:solidFill>
                <a:latin typeface="Arial"/>
              </a:rPr>
              <a:t>A bad program causes...</a:t>
            </a:r>
          </a:p>
        </p:txBody>
      </p:sp>
      <p:sp>
        <p:nvSpPr>
          <p:cNvPr id="7" name="Rectangle 7">
            <a:extLst>
              <a:ext uri="{FF2B5EF4-FFF2-40B4-BE49-F238E27FC236}">
                <a16:creationId xmlns:a16="http://schemas.microsoft.com/office/drawing/2014/main" id="{ADE698FB-9FCA-2214-D996-DDBB39431878}"/>
              </a:ext>
            </a:extLst>
          </p:cNvPr>
          <p:cNvSpPr/>
          <p:nvPr/>
        </p:nvSpPr>
        <p:spPr>
          <a:xfrm>
            <a:off x="7511019" y="2062919"/>
            <a:ext cx="4352544" cy="512064"/>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8">
            <a:extLst>
              <a:ext uri="{FF2B5EF4-FFF2-40B4-BE49-F238E27FC236}">
                <a16:creationId xmlns:a16="http://schemas.microsoft.com/office/drawing/2014/main" id="{6E3DEAED-A049-E219-F777-43964FD21E9E}"/>
              </a:ext>
            </a:extLst>
          </p:cNvPr>
          <p:cNvSpPr/>
          <p:nvPr/>
        </p:nvSpPr>
        <p:spPr>
          <a:xfrm>
            <a:off x="7675611" y="2163503"/>
            <a:ext cx="310896" cy="310896"/>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9">
            <a:extLst>
              <a:ext uri="{FF2B5EF4-FFF2-40B4-BE49-F238E27FC236}">
                <a16:creationId xmlns:a16="http://schemas.microsoft.com/office/drawing/2014/main" id="{16460365-1463-C85A-CC23-BB743E4C5386}"/>
              </a:ext>
            </a:extLst>
          </p:cNvPr>
          <p:cNvSpPr txBox="1"/>
          <p:nvPr/>
        </p:nvSpPr>
        <p:spPr>
          <a:xfrm>
            <a:off x="7675611" y="2163503"/>
            <a:ext cx="310896" cy="310896"/>
          </a:xfrm>
          <a:prstGeom prst="rect">
            <a:avLst/>
          </a:prstGeom>
          <a:noFill/>
        </p:spPr>
        <p:txBody>
          <a:bodyPr wrap="square" anchor="ctr">
            <a:spAutoFit/>
          </a:bodyPr>
          <a:lstStyle/>
          <a:p>
            <a:pPr algn="ctr"/>
            <a:r>
              <a:rPr sz="1200" b="1">
                <a:solidFill>
                  <a:srgbClr val="FFFFFF"/>
                </a:solidFill>
                <a:latin typeface="Arial"/>
              </a:rPr>
              <a:t>A</a:t>
            </a:r>
          </a:p>
        </p:txBody>
      </p:sp>
      <p:sp>
        <p:nvSpPr>
          <p:cNvPr id="10" name="TextBox 10">
            <a:extLst>
              <a:ext uri="{FF2B5EF4-FFF2-40B4-BE49-F238E27FC236}">
                <a16:creationId xmlns:a16="http://schemas.microsoft.com/office/drawing/2014/main" id="{5F17E19D-DFB9-1D7F-695F-7E8EF3A220AE}"/>
              </a:ext>
            </a:extLst>
          </p:cNvPr>
          <p:cNvSpPr txBox="1"/>
          <p:nvPr/>
        </p:nvSpPr>
        <p:spPr>
          <a:xfrm>
            <a:off x="8132811" y="2062919"/>
            <a:ext cx="3652544" cy="512064"/>
          </a:xfrm>
          <a:prstGeom prst="rect">
            <a:avLst/>
          </a:prstGeom>
          <a:noFill/>
        </p:spPr>
        <p:txBody>
          <a:bodyPr wrap="square" anchor="ctr">
            <a:spAutoFit/>
          </a:bodyPr>
          <a:lstStyle/>
          <a:p>
            <a:r>
              <a:rPr sz="1600" b="1">
                <a:solidFill>
                  <a:srgbClr val="0F172A"/>
                </a:solidFill>
                <a:latin typeface="Arial"/>
              </a:rPr>
              <a:t>Moving between rooms</a:t>
            </a:r>
          </a:p>
        </p:txBody>
      </p:sp>
      <p:sp>
        <p:nvSpPr>
          <p:cNvPr id="11" name="Rectangle 11">
            <a:extLst>
              <a:ext uri="{FF2B5EF4-FFF2-40B4-BE49-F238E27FC236}">
                <a16:creationId xmlns:a16="http://schemas.microsoft.com/office/drawing/2014/main" id="{191AB500-E4C2-742E-78EF-8DE92ED236B5}"/>
              </a:ext>
            </a:extLst>
          </p:cNvPr>
          <p:cNvSpPr/>
          <p:nvPr/>
        </p:nvSpPr>
        <p:spPr>
          <a:xfrm>
            <a:off x="7511019" y="2702999"/>
            <a:ext cx="4352544" cy="512064"/>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2">
            <a:extLst>
              <a:ext uri="{FF2B5EF4-FFF2-40B4-BE49-F238E27FC236}">
                <a16:creationId xmlns:a16="http://schemas.microsoft.com/office/drawing/2014/main" id="{A5D579D4-3F83-C538-F815-187784FAA69D}"/>
              </a:ext>
            </a:extLst>
          </p:cNvPr>
          <p:cNvSpPr/>
          <p:nvPr/>
        </p:nvSpPr>
        <p:spPr>
          <a:xfrm>
            <a:off x="7675611" y="2803583"/>
            <a:ext cx="310896" cy="31089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3">
            <a:extLst>
              <a:ext uri="{FF2B5EF4-FFF2-40B4-BE49-F238E27FC236}">
                <a16:creationId xmlns:a16="http://schemas.microsoft.com/office/drawing/2014/main" id="{4E45B1BA-49D4-5B71-38A4-3671C9CADEB7}"/>
              </a:ext>
            </a:extLst>
          </p:cNvPr>
          <p:cNvSpPr txBox="1"/>
          <p:nvPr/>
        </p:nvSpPr>
        <p:spPr>
          <a:xfrm>
            <a:off x="7675611" y="2803583"/>
            <a:ext cx="310896" cy="310896"/>
          </a:xfrm>
          <a:prstGeom prst="rect">
            <a:avLst/>
          </a:prstGeom>
          <a:noFill/>
        </p:spPr>
        <p:txBody>
          <a:bodyPr wrap="square" anchor="ctr">
            <a:spAutoFit/>
          </a:bodyPr>
          <a:lstStyle/>
          <a:p>
            <a:pPr algn="ctr"/>
            <a:r>
              <a:rPr sz="1200" b="1">
                <a:solidFill>
                  <a:srgbClr val="FFFFFF"/>
                </a:solidFill>
                <a:latin typeface="Arial"/>
              </a:rPr>
              <a:t>B</a:t>
            </a:r>
          </a:p>
        </p:txBody>
      </p:sp>
      <p:sp>
        <p:nvSpPr>
          <p:cNvPr id="14" name="TextBox 14">
            <a:extLst>
              <a:ext uri="{FF2B5EF4-FFF2-40B4-BE49-F238E27FC236}">
                <a16:creationId xmlns:a16="http://schemas.microsoft.com/office/drawing/2014/main" id="{C687F253-7F78-CBC1-A000-48539D730F41}"/>
              </a:ext>
            </a:extLst>
          </p:cNvPr>
          <p:cNvSpPr txBox="1"/>
          <p:nvPr/>
        </p:nvSpPr>
        <p:spPr>
          <a:xfrm>
            <a:off x="8132811" y="2702999"/>
            <a:ext cx="3652544" cy="512064"/>
          </a:xfrm>
          <a:prstGeom prst="rect">
            <a:avLst/>
          </a:prstGeom>
          <a:noFill/>
        </p:spPr>
        <p:txBody>
          <a:bodyPr wrap="square" anchor="ctr">
            <a:spAutoFit/>
          </a:bodyPr>
          <a:lstStyle/>
          <a:p>
            <a:r>
              <a:rPr sz="1600" b="1">
                <a:solidFill>
                  <a:srgbClr val="0F172A"/>
                </a:solidFill>
                <a:latin typeface="Arial"/>
              </a:rPr>
              <a:t>Two talks you want, at the same time</a:t>
            </a:r>
          </a:p>
        </p:txBody>
      </p:sp>
      <p:sp>
        <p:nvSpPr>
          <p:cNvPr id="15" name="Rectangle 15">
            <a:extLst>
              <a:ext uri="{FF2B5EF4-FFF2-40B4-BE49-F238E27FC236}">
                <a16:creationId xmlns:a16="http://schemas.microsoft.com/office/drawing/2014/main" id="{347D4278-B695-7AE9-2081-52F035E4BCE6}"/>
              </a:ext>
            </a:extLst>
          </p:cNvPr>
          <p:cNvSpPr/>
          <p:nvPr/>
        </p:nvSpPr>
        <p:spPr>
          <a:xfrm>
            <a:off x="7511019" y="3343079"/>
            <a:ext cx="4352544" cy="512064"/>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6">
            <a:extLst>
              <a:ext uri="{FF2B5EF4-FFF2-40B4-BE49-F238E27FC236}">
                <a16:creationId xmlns:a16="http://schemas.microsoft.com/office/drawing/2014/main" id="{6764E70C-A6FE-9234-5CB5-B26E74B60600}"/>
              </a:ext>
            </a:extLst>
          </p:cNvPr>
          <p:cNvSpPr/>
          <p:nvPr/>
        </p:nvSpPr>
        <p:spPr>
          <a:xfrm>
            <a:off x="7675611" y="3443663"/>
            <a:ext cx="310896" cy="310896"/>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7">
            <a:extLst>
              <a:ext uri="{FF2B5EF4-FFF2-40B4-BE49-F238E27FC236}">
                <a16:creationId xmlns:a16="http://schemas.microsoft.com/office/drawing/2014/main" id="{893AD3D3-B58B-F30C-63F2-48EC4C7AE17B}"/>
              </a:ext>
            </a:extLst>
          </p:cNvPr>
          <p:cNvSpPr txBox="1"/>
          <p:nvPr/>
        </p:nvSpPr>
        <p:spPr>
          <a:xfrm>
            <a:off x="7675611" y="3443663"/>
            <a:ext cx="310896" cy="310896"/>
          </a:xfrm>
          <a:prstGeom prst="rect">
            <a:avLst/>
          </a:prstGeom>
          <a:noFill/>
        </p:spPr>
        <p:txBody>
          <a:bodyPr wrap="square" anchor="ctr">
            <a:spAutoFit/>
          </a:bodyPr>
          <a:lstStyle/>
          <a:p>
            <a:pPr algn="ctr"/>
            <a:r>
              <a:rPr sz="1200" b="1">
                <a:solidFill>
                  <a:srgbClr val="FFFFFF"/>
                </a:solidFill>
                <a:latin typeface="Arial"/>
              </a:rPr>
              <a:t>C</a:t>
            </a:r>
          </a:p>
        </p:txBody>
      </p:sp>
      <p:sp>
        <p:nvSpPr>
          <p:cNvPr id="18" name="TextBox 18">
            <a:extLst>
              <a:ext uri="{FF2B5EF4-FFF2-40B4-BE49-F238E27FC236}">
                <a16:creationId xmlns:a16="http://schemas.microsoft.com/office/drawing/2014/main" id="{7250A383-277A-205B-4431-4B12D27053EF}"/>
              </a:ext>
            </a:extLst>
          </p:cNvPr>
          <p:cNvSpPr txBox="1"/>
          <p:nvPr/>
        </p:nvSpPr>
        <p:spPr>
          <a:xfrm>
            <a:off x="8132811" y="3343079"/>
            <a:ext cx="3652544" cy="512064"/>
          </a:xfrm>
          <a:prstGeom prst="rect">
            <a:avLst/>
          </a:prstGeom>
          <a:noFill/>
        </p:spPr>
        <p:txBody>
          <a:bodyPr wrap="square" anchor="ctr">
            <a:spAutoFit/>
          </a:bodyPr>
          <a:lstStyle/>
          <a:p>
            <a:r>
              <a:rPr sz="1600" b="1">
                <a:solidFill>
                  <a:srgbClr val="0F172A"/>
                </a:solidFill>
                <a:latin typeface="Arial"/>
              </a:rPr>
              <a:t>Full rooms (or empty rooms)</a:t>
            </a:r>
          </a:p>
        </p:txBody>
      </p:sp>
      <p:sp>
        <p:nvSpPr>
          <p:cNvPr id="19" name="Rounded Rectangle 18"/>
          <p:cNvSpPr/>
          <p:nvPr/>
        </p:nvSpPr>
        <p:spPr>
          <a:xfrm>
            <a:off x="7511019" y="4114800"/>
            <a:ext cx="4352544" cy="1005840"/>
          </a:xfrm>
          <a:prstGeom prst="roundRect">
            <a:avLst>
              <a:gd name="adj" fmla="val 8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511019" y="4114800"/>
            <a:ext cx="4352544" cy="1005840"/>
          </a:xfrm>
          <a:prstGeom prst="rect">
            <a:avLst/>
          </a:prstGeom>
          <a:noFill/>
        </p:spPr>
        <p:txBody>
          <a:bodyPr wrap="square" lIns="45720" tIns="22860" rIns="45720" bIns="22860" anchor="ctr">
            <a:spAutoFit/>
          </a:bodyPr>
          <a:lstStyle/>
          <a:p>
            <a:pPr algn="ctr"/>
            <a:r>
              <a:rPr sz="2000" b="1" i="0">
                <a:solidFill>
                  <a:srgbClr val="0C4A6E"/>
                </a:solidFill>
                <a:latin typeface="Arial"/>
              </a:rPr>
              <a:t>A good program avoids</a:t>
            </a:r>
          </a:p>
          <a:p>
            <a:pPr algn="ctr"/>
            <a:r>
              <a:rPr sz="2000" b="1" i="0">
                <a:solidFill>
                  <a:srgbClr val="0C4A6E"/>
                </a:solidFill>
                <a:latin typeface="Arial"/>
              </a:rPr>
              <a:t>A, B and C</a:t>
            </a:r>
          </a:p>
        </p:txBody>
      </p:sp>
      <p:sp>
        <p:nvSpPr>
          <p:cNvPr id="21" name="TextBox 20"/>
          <p:cNvSpPr txBox="1"/>
          <p:nvPr/>
        </p:nvSpPr>
        <p:spPr>
          <a:xfrm>
            <a:off x="11164824" y="6492240"/>
            <a:ext cx="457200" cy="219456"/>
          </a:xfrm>
          <a:prstGeom prst="rect">
            <a:avLst/>
          </a:prstGeom>
          <a:noFill/>
          <a:ln/>
        </p:spPr>
        <p:txBody>
          <a:bodyPr wrap="square" lIns="0" tIns="0" rIns="0" bIns="0" rtlCol="0" anchor="ctr"/>
          <a:lstStyle/>
          <a:p>
            <a:pPr marL="0" indent="0" algn="r">
              <a:buNone/>
            </a:pPr>
            <a:fld id="{8B2C3E4A-5D6F-4A1B-9C2D-3E4F5A6B7C8D}" type="slidenum">
              <a:rPr lang="en-US" altLang="ja-JP" sz="1000" dirty="0">
                <a:solidFill>
                  <a:srgbClr val="94A3B8"/>
                </a:solidFill>
                <a:latin typeface="Arial" pitchFamily="34" charset="0"/>
                <a:ea typeface="Arial" pitchFamily="34" charset="-122"/>
                <a:cs typeface="Arial" pitchFamily="34" charset="-120"/>
              </a:rPr>
              <a:t>5</a:t>
            </a:fld>
            <a:endParaRPr lang="en-US" altLang="ja-JP" sz="1000" dirty="0"/>
          </a:p>
        </p:txBody>
      </p:sp>
    </p:spTree>
    <p:extLst>
      <p:ext uri="{BB962C8B-B14F-4D97-AF65-F5344CB8AC3E}">
        <p14:creationId xmlns:p14="http://schemas.microsoft.com/office/powerpoint/2010/main" val="1627675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566928" y="310896"/>
            <a:ext cx="11055096" cy="237744"/>
          </a:xfrm>
          <a:prstGeom prst="rect">
            <a:avLst/>
          </a:prstGeom>
          <a:noFill/>
          <a:ln/>
        </p:spPr>
        <p:txBody>
          <a:bodyPr wrap="square" lIns="0" tIns="0" rIns="0" bIns="0" rtlCol="0" anchor="ctr"/>
          <a:lstStyle/>
          <a:p>
            <a:pPr marL="0" indent="0" algn="l">
              <a:buNone/>
            </a:pPr>
            <a:r>
              <a:rPr lang="en-US" altLang="en-US" sz="1200" b="1" kern="0" spc="100" dirty="0">
                <a:solidFill>
                  <a:srgbClr val="0284C7"/>
                </a:solidFill>
                <a:latin typeface="Arial" pitchFamily="34" charset="0"/>
                <a:ea typeface="Arial" pitchFamily="34" charset="-122"/>
                <a:cs typeface="Arial" pitchFamily="34" charset="-120"/>
              </a:rPr>
              <a:t>1. Background and Objective</a:t>
            </a:r>
            <a:endParaRPr lang="en-US" sz="1200" dirty="0"/>
          </a:p>
        </p:txBody>
      </p:sp>
      <p:sp>
        <p:nvSpPr>
          <p:cNvPr id="4" name="Text 2"/>
          <p:cNvSpPr txBox="1"/>
          <p:nvPr/>
        </p:nvSpPr>
        <p:spPr>
          <a:xfrm>
            <a:off x="566928" y="566928"/>
            <a:ext cx="11055096" cy="566928"/>
          </a:xfrm>
          <a:prstGeom prst="rect">
            <a:avLst/>
          </a:prstGeom>
          <a:noFill/>
          <a:ln/>
        </p:spPr>
        <p:txBody>
          <a:bodyPr wrap="square" lIns="0" tIns="0" rIns="0" bIns="0" rtlCol="0" anchor="ctr"/>
          <a:lstStyle/>
          <a:p>
            <a:r>
              <a:rPr lang="en-US" altLang="en-US" sz="2800" b="1" dirty="0">
                <a:solidFill>
                  <a:srgbClr val="0F172A"/>
                </a:solidFill>
                <a:latin typeface="Arial" pitchFamily="34" charset="0"/>
                <a:cs typeface="Arial" pitchFamily="34" charset="-120"/>
              </a:rPr>
              <a:t>Survey: </a:t>
            </a:r>
            <a:r>
              <a:rPr lang="en-US" altLang="ja-JP" sz="2800" b="1" dirty="0">
                <a:solidFill>
                  <a:srgbClr val="0F172A"/>
                </a:solidFill>
                <a:latin typeface="Arial" pitchFamily="34" charset="0"/>
                <a:cs typeface="Arial" pitchFamily="34" charset="-120"/>
              </a:rPr>
              <a:t>A</a:t>
            </a:r>
            <a:r>
              <a:rPr lang="en-US" altLang="en-US" sz="2800" b="1" dirty="0">
                <a:solidFill>
                  <a:srgbClr val="0F172A"/>
                </a:solidFill>
                <a:latin typeface="Arial" pitchFamily="34" charset="0"/>
                <a:cs typeface="Arial" pitchFamily="34" charset="-120"/>
              </a:rPr>
              <a:t>dministration of the Academic Conference</a:t>
            </a:r>
            <a:endParaRPr lang="en-US" sz="2800" dirty="0"/>
          </a:p>
        </p:txBody>
      </p:sp>
      <p:sp>
        <p:nvSpPr>
          <p:cNvPr id="11" name="Shape 9"/>
          <p:cNvSpPr/>
          <p:nvPr/>
        </p:nvSpPr>
        <p:spPr>
          <a:xfrm>
            <a:off x="566928" y="1725167"/>
            <a:ext cx="3502152" cy="2142157"/>
          </a:xfrm>
          <a:prstGeom prst="roundRect">
            <a:avLst>
              <a:gd name="adj" fmla="val 3241"/>
            </a:avLst>
          </a:prstGeom>
          <a:solidFill>
            <a:srgbClr val="F8FAFC"/>
          </a:solidFill>
          <a:ln w="12700">
            <a:solidFill>
              <a:srgbClr val="E2E8F0"/>
            </a:solidFill>
            <a:prstDash val="solid"/>
          </a:ln>
        </p:spPr>
        <p:txBody>
          <a:bodyPr/>
          <a:lstStyle/>
          <a:p>
            <a:endParaRPr lang="ja-JP" altLang="en-US"/>
          </a:p>
        </p:txBody>
      </p:sp>
      <p:sp>
        <p:nvSpPr>
          <p:cNvPr id="13" name="Text 11"/>
          <p:cNvSpPr txBox="1"/>
          <p:nvPr/>
        </p:nvSpPr>
        <p:spPr>
          <a:xfrm>
            <a:off x="749808" y="2346960"/>
            <a:ext cx="3136392" cy="365760"/>
          </a:xfrm>
          <a:prstGeom prst="rect">
            <a:avLst/>
          </a:prstGeom>
          <a:noFill/>
          <a:ln/>
        </p:spPr>
        <p:txBody>
          <a:bodyPr wrap="square" lIns="0" tIns="0" rIns="0" bIns="0" rtlCol="0" anchor="ctr"/>
          <a:lstStyle/>
          <a:p>
            <a:pPr algn="ctr"/>
            <a:r>
              <a:rPr lang="en-US" altLang="en-US" b="1" dirty="0">
                <a:latin typeface="Arial" pitchFamily="34" charset="0"/>
                <a:ea typeface="Arial" pitchFamily="34" charset="-122"/>
                <a:cs typeface="Arial" pitchFamily="34" charset="-120"/>
              </a:rPr>
              <a:t>Scheduling is “a lot of work”</a:t>
            </a:r>
            <a:endParaRPr lang="en-US" dirty="0"/>
          </a:p>
        </p:txBody>
      </p:sp>
      <p:sp>
        <p:nvSpPr>
          <p:cNvPr id="15" name="Shape 13"/>
          <p:cNvSpPr/>
          <p:nvPr/>
        </p:nvSpPr>
        <p:spPr>
          <a:xfrm>
            <a:off x="4343400" y="1725167"/>
            <a:ext cx="3502152" cy="2142157"/>
          </a:xfrm>
          <a:prstGeom prst="roundRect">
            <a:avLst>
              <a:gd name="adj" fmla="val 3241"/>
            </a:avLst>
          </a:prstGeom>
          <a:solidFill>
            <a:srgbClr val="F8FAFC"/>
          </a:solidFill>
          <a:ln w="12700">
            <a:solidFill>
              <a:srgbClr val="E2E8F0"/>
            </a:solidFill>
            <a:prstDash val="solid"/>
          </a:ln>
        </p:spPr>
        <p:txBody>
          <a:bodyPr/>
          <a:lstStyle/>
          <a:p>
            <a:endParaRPr lang="ja-JP" altLang="en-US"/>
          </a:p>
        </p:txBody>
      </p:sp>
      <p:sp>
        <p:nvSpPr>
          <p:cNvPr id="17" name="Text 15"/>
          <p:cNvSpPr txBox="1"/>
          <p:nvPr/>
        </p:nvSpPr>
        <p:spPr>
          <a:xfrm>
            <a:off x="4526280" y="2389632"/>
            <a:ext cx="3136392" cy="365760"/>
          </a:xfrm>
          <a:prstGeom prst="rect">
            <a:avLst/>
          </a:prstGeom>
          <a:noFill/>
          <a:ln/>
        </p:spPr>
        <p:txBody>
          <a:bodyPr wrap="square" lIns="0" tIns="0" rIns="0" bIns="0" rtlCol="0" anchor="ctr"/>
          <a:lstStyle/>
          <a:p>
            <a:pPr marL="0" indent="0" algn="ctr">
              <a:buNone/>
            </a:pPr>
            <a:r>
              <a:rPr lang="en-US" altLang="en-US" b="1" dirty="0">
                <a:latin typeface="Arial" pitchFamily="34" charset="0"/>
                <a:ea typeface="Arial" pitchFamily="34" charset="-122"/>
                <a:cs typeface="Arial" pitchFamily="34" charset="-120"/>
              </a:rPr>
              <a:t>Done by hand </a:t>
            </a:r>
          </a:p>
          <a:p>
            <a:pPr marL="0" indent="0" algn="ctr">
              <a:buNone/>
            </a:pPr>
            <a:r>
              <a:rPr lang="en-US" altLang="en-US" b="1" dirty="0">
                <a:latin typeface="Arial" pitchFamily="34" charset="0"/>
                <a:ea typeface="Arial" pitchFamily="34" charset="-122"/>
                <a:cs typeface="Arial" pitchFamily="34" charset="-120"/>
              </a:rPr>
              <a:t>in spreadsheets</a:t>
            </a:r>
            <a:endParaRPr lang="en-US" dirty="0"/>
          </a:p>
        </p:txBody>
      </p:sp>
      <p:sp>
        <p:nvSpPr>
          <p:cNvPr id="19" name="Shape 17"/>
          <p:cNvSpPr/>
          <p:nvPr/>
        </p:nvSpPr>
        <p:spPr>
          <a:xfrm>
            <a:off x="8119872" y="1725167"/>
            <a:ext cx="3502152" cy="2142157"/>
          </a:xfrm>
          <a:prstGeom prst="roundRect">
            <a:avLst>
              <a:gd name="adj" fmla="val 3241"/>
            </a:avLst>
          </a:prstGeom>
          <a:solidFill>
            <a:srgbClr val="F8FAFC"/>
          </a:solidFill>
          <a:ln w="12700">
            <a:solidFill>
              <a:srgbClr val="E2E8F0"/>
            </a:solidFill>
            <a:prstDash val="solid"/>
          </a:ln>
        </p:spPr>
        <p:txBody>
          <a:bodyPr/>
          <a:lstStyle/>
          <a:p>
            <a:endParaRPr lang="ja-JP" altLang="en-US"/>
          </a:p>
        </p:txBody>
      </p:sp>
      <p:sp>
        <p:nvSpPr>
          <p:cNvPr id="21" name="Text 19"/>
          <p:cNvSpPr txBox="1"/>
          <p:nvPr/>
        </p:nvSpPr>
        <p:spPr>
          <a:xfrm>
            <a:off x="8302752" y="2346960"/>
            <a:ext cx="3136392" cy="365760"/>
          </a:xfrm>
          <a:prstGeom prst="rect">
            <a:avLst/>
          </a:prstGeom>
          <a:noFill/>
          <a:ln/>
        </p:spPr>
        <p:txBody>
          <a:bodyPr wrap="square" lIns="0" tIns="0" rIns="0" bIns="0" rtlCol="0" anchor="ctr"/>
          <a:lstStyle/>
          <a:p>
            <a:pPr marL="0" indent="0" algn="ctr">
              <a:buNone/>
            </a:pPr>
            <a:r>
              <a:rPr lang="en-US" altLang="en-US" b="1" dirty="0">
                <a:latin typeface="Arial" pitchFamily="34" charset="0"/>
                <a:ea typeface="Arial" pitchFamily="34" charset="-122"/>
                <a:cs typeface="Arial" pitchFamily="34" charset="-120"/>
              </a:rPr>
              <a:t>Open to automated tools</a:t>
            </a:r>
            <a:endParaRPr lang="en-US" dirty="0"/>
          </a:p>
        </p:txBody>
      </p:sp>
      <p:sp>
        <p:nvSpPr>
          <p:cNvPr id="321" name="Shape 321"/>
          <p:cNvSpPr/>
          <p:nvPr/>
        </p:nvSpPr>
        <p:spPr>
          <a:xfrm>
            <a:off x="566928" y="4192790"/>
            <a:ext cx="11055096" cy="1417320"/>
          </a:xfrm>
          <a:prstGeom prst="roundRect">
            <a:avLst>
              <a:gd name="adj" fmla="val 9000"/>
            </a:avLst>
          </a:prstGeom>
          <a:solidFill>
            <a:srgbClr val="E0F2FE"/>
          </a:solidFill>
          <a:ln w="12700">
            <a:solidFill>
              <a:srgbClr val="BAE6FD"/>
            </a:solidFill>
            <a:prstDash val="solid"/>
          </a:ln>
        </p:spPr>
        <p:txBody>
          <a:bodyPr/>
          <a:lstStyle/>
          <a:p>
            <a:endParaRPr lang="en-US"/>
          </a:p>
        </p:txBody>
      </p:sp>
      <p:sp>
        <p:nvSpPr>
          <p:cNvPr id="322" name="Shape 322"/>
          <p:cNvSpPr/>
          <p:nvPr/>
        </p:nvSpPr>
        <p:spPr>
          <a:xfrm rot="5400000">
            <a:off x="868680" y="4746002"/>
            <a:ext cx="256032" cy="310896"/>
          </a:xfrm>
          <a:prstGeom prst="triangle">
            <a:avLst/>
          </a:prstGeom>
          <a:solidFill>
            <a:srgbClr val="0284C7"/>
          </a:solidFill>
          <a:ln w="12700">
            <a:solidFill>
              <a:srgbClr val="0284C7"/>
            </a:solidFill>
            <a:prstDash val="solid"/>
          </a:ln>
        </p:spPr>
        <p:txBody>
          <a:bodyPr/>
          <a:lstStyle/>
          <a:p>
            <a:endParaRPr lang="en-US"/>
          </a:p>
        </p:txBody>
      </p:sp>
      <p:sp>
        <p:nvSpPr>
          <p:cNvPr id="323" name="Text 323"/>
          <p:cNvSpPr txBox="1"/>
          <p:nvPr/>
        </p:nvSpPr>
        <p:spPr>
          <a:xfrm>
            <a:off x="1417320" y="4192790"/>
            <a:ext cx="9966960" cy="1417320"/>
          </a:xfrm>
          <a:prstGeom prst="rect">
            <a:avLst/>
          </a:prstGeom>
          <a:noFill/>
          <a:ln/>
        </p:spPr>
        <p:txBody>
          <a:bodyPr wrap="square" lIns="0" tIns="0" rIns="0" bIns="0" rtlCol="0" anchor="ctr"/>
          <a:lstStyle/>
          <a:p>
            <a:pPr marL="0" indent="0" algn="l">
              <a:spcAft>
                <a:spcPts val="800"/>
              </a:spcAft>
              <a:buNone/>
            </a:pPr>
            <a:r>
              <a:rPr lang="en-US" altLang="en-US" sz="2000" b="1" dirty="0">
                <a:solidFill>
                  <a:srgbClr val="0C4A6E"/>
                </a:solidFill>
                <a:latin typeface="Arial" pitchFamily="34" charset="0"/>
                <a:ea typeface="Arial" pitchFamily="34" charset="-122"/>
                <a:cs typeface="Arial" pitchFamily="34" charset="-120"/>
              </a:rPr>
              <a:t>A lot of work, done by hand — and tools are welcome</a:t>
            </a:r>
            <a:endParaRPr lang="en-US" sz="2000" dirty="0"/>
          </a:p>
        </p:txBody>
      </p:sp>
      <p:sp>
        <p:nvSpPr>
          <p:cNvPr id="325" name="Oval 324"/>
          <p:cNvSpPr/>
          <p:nvPr/>
        </p:nvSpPr>
        <p:spPr>
          <a:xfrm>
            <a:off x="1755648" y="3346704"/>
            <a:ext cx="283464" cy="283464"/>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6" name="Oval 325"/>
          <p:cNvSpPr/>
          <p:nvPr/>
        </p:nvSpPr>
        <p:spPr>
          <a:xfrm>
            <a:off x="2176272" y="3346704"/>
            <a:ext cx="283464" cy="283464"/>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7" name="Oval 326"/>
          <p:cNvSpPr/>
          <p:nvPr/>
        </p:nvSpPr>
        <p:spPr>
          <a:xfrm>
            <a:off x="2596896" y="3346704"/>
            <a:ext cx="283464" cy="283464"/>
          </a:xfrm>
          <a:prstGeom prst="ellipse">
            <a:avLst/>
          </a:prstGeom>
          <a:solidFill>
            <a:srgbClr val="FFFFFF"/>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8" name="Oval 327"/>
          <p:cNvSpPr/>
          <p:nvPr/>
        </p:nvSpPr>
        <p:spPr>
          <a:xfrm>
            <a:off x="5532120" y="3346704"/>
            <a:ext cx="283464" cy="283464"/>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9" name="Oval 328"/>
          <p:cNvSpPr/>
          <p:nvPr/>
        </p:nvSpPr>
        <p:spPr>
          <a:xfrm>
            <a:off x="5952744" y="3346704"/>
            <a:ext cx="283464" cy="283464"/>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 name="Oval 329"/>
          <p:cNvSpPr/>
          <p:nvPr/>
        </p:nvSpPr>
        <p:spPr>
          <a:xfrm>
            <a:off x="6373368" y="3346704"/>
            <a:ext cx="283464" cy="283464"/>
          </a:xfrm>
          <a:prstGeom prst="ellipse">
            <a:avLst/>
          </a:prstGeom>
          <a:solidFill>
            <a:srgbClr val="FFFFFF"/>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1" name="Oval 330"/>
          <p:cNvSpPr/>
          <p:nvPr/>
        </p:nvSpPr>
        <p:spPr>
          <a:xfrm>
            <a:off x="9308592" y="3346704"/>
            <a:ext cx="283464" cy="283464"/>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2" name="Oval 331"/>
          <p:cNvSpPr/>
          <p:nvPr/>
        </p:nvSpPr>
        <p:spPr>
          <a:xfrm>
            <a:off x="9729216" y="3346704"/>
            <a:ext cx="283464" cy="283464"/>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 name="Oval 332"/>
          <p:cNvSpPr/>
          <p:nvPr/>
        </p:nvSpPr>
        <p:spPr>
          <a:xfrm>
            <a:off x="10149840" y="3346704"/>
            <a:ext cx="283464" cy="283464"/>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4" name="TextBox 333"/>
          <p:cNvSpPr txBox="1"/>
          <p:nvPr/>
        </p:nvSpPr>
        <p:spPr>
          <a:xfrm>
            <a:off x="566928" y="5747270"/>
            <a:ext cx="6400800" cy="274320"/>
          </a:xfrm>
          <a:prstGeom prst="rect">
            <a:avLst/>
          </a:prstGeom>
          <a:noFill/>
        </p:spPr>
        <p:txBody>
          <a:bodyPr wrap="square" lIns="45720" tIns="22860" rIns="45720" bIns="22860">
            <a:spAutoFit/>
          </a:bodyPr>
          <a:lstStyle/>
          <a:p>
            <a:r>
              <a:rPr sz="1200" b="0" i="0">
                <a:solidFill>
                  <a:srgbClr val="64748B"/>
                </a:solidFill>
                <a:latin typeface="Arial"/>
              </a:rPr>
              <a:t>All answers → Appendix A2</a:t>
            </a:r>
          </a:p>
        </p:txBody>
      </p:sp>
      <p:sp>
        <p:nvSpPr>
          <p:cNvPr id="335" name="TextBox 334"/>
          <p:cNvSpPr txBox="1"/>
          <p:nvPr/>
        </p:nvSpPr>
        <p:spPr>
          <a:xfrm>
            <a:off x="11164824" y="6492240"/>
            <a:ext cx="457200" cy="219456"/>
          </a:xfrm>
          <a:prstGeom prst="rect">
            <a:avLst/>
          </a:prstGeom>
          <a:noFill/>
          <a:ln/>
        </p:spPr>
        <p:txBody>
          <a:bodyPr wrap="square" lIns="0" tIns="0" rIns="0" bIns="0" rtlCol="0" anchor="ctr"/>
          <a:lstStyle/>
          <a:p>
            <a:pPr marL="0" indent="0" algn="r">
              <a:buNone/>
            </a:pPr>
            <a:fld id="{8B2C3E4A-5D6F-4A1B-9C2D-3E4F5A6B7C8D}" type="slidenum">
              <a:rPr lang="en-US" altLang="ja-JP" sz="1000" dirty="0">
                <a:solidFill>
                  <a:srgbClr val="94A3B8"/>
                </a:solidFill>
                <a:latin typeface="Arial" pitchFamily="34" charset="0"/>
                <a:ea typeface="Arial" pitchFamily="34" charset="-122"/>
                <a:cs typeface="Arial" pitchFamily="34" charset="-120"/>
              </a:rPr>
              <a:t>6</a:t>
            </a:fld>
            <a:endParaRPr lang="en-US" altLang="ja-JP" sz="1000" dirty="0"/>
          </a:p>
        </p:txBody>
      </p:sp>
      <p:pic>
        <p:nvPicPr>
          <p:cNvPr id="7" name="グラフィックス 6" descr="ボディ ビルダー 単色塗りつぶし">
            <a:extLst>
              <a:ext uri="{FF2B5EF4-FFF2-40B4-BE49-F238E27FC236}">
                <a16:creationId xmlns:a16="http://schemas.microsoft.com/office/drawing/2014/main" id="{2BDFD0B9-51B5-377F-2FCB-FFE6C5C4C0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91256" y="2950827"/>
            <a:ext cx="914400" cy="914400"/>
          </a:xfrm>
          <a:prstGeom prst="rect">
            <a:avLst/>
          </a:prstGeom>
        </p:spPr>
      </p:pic>
      <p:pic>
        <p:nvPicPr>
          <p:cNvPr id="14" name="グラフィックス 13" descr="ロボット 単色塗りつぶし">
            <a:extLst>
              <a:ext uri="{FF2B5EF4-FFF2-40B4-BE49-F238E27FC236}">
                <a16:creationId xmlns:a16="http://schemas.microsoft.com/office/drawing/2014/main" id="{8CD4ED53-DC57-1E80-8ABC-7EE6B7AD044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780776" y="2971800"/>
            <a:ext cx="914400" cy="914400"/>
          </a:xfrm>
          <a:prstGeom prst="rect">
            <a:avLst/>
          </a:prstGeom>
        </p:spPr>
      </p:pic>
      <p:pic>
        <p:nvPicPr>
          <p:cNvPr id="22" name="グラフィックス 21" descr="クリップボード 単色塗りつぶし">
            <a:extLst>
              <a:ext uri="{FF2B5EF4-FFF2-40B4-BE49-F238E27FC236}">
                <a16:creationId xmlns:a16="http://schemas.microsoft.com/office/drawing/2014/main" id="{9D4E011B-DBD3-4ACC-1769-8A1336C2944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004346" y="3061982"/>
            <a:ext cx="805342" cy="80534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10896"/>
            <a:ext cx="11055096" cy="237744"/>
          </a:xfrm>
          <a:prstGeom prst="rect">
            <a:avLst/>
          </a:prstGeom>
          <a:noFill/>
        </p:spPr>
        <p:txBody>
          <a:bodyPr wrap="square" lIns="45720" tIns="22860" rIns="45720" bIns="22860">
            <a:spAutoFit/>
          </a:bodyPr>
          <a:lstStyle/>
          <a:p>
            <a:r>
              <a:rPr sz="1200" b="1" i="0">
                <a:solidFill>
                  <a:srgbClr val="0284C7"/>
                </a:solidFill>
                <a:latin typeface="Arial"/>
              </a:rPr>
              <a:t>1. Background and Objective</a:t>
            </a:r>
          </a:p>
        </p:txBody>
      </p:sp>
      <p:sp>
        <p:nvSpPr>
          <p:cNvPr id="3" name="TextBox 2"/>
          <p:cNvSpPr txBox="1"/>
          <p:nvPr/>
        </p:nvSpPr>
        <p:spPr>
          <a:xfrm>
            <a:off x="566928" y="566928"/>
            <a:ext cx="11055096" cy="566928"/>
          </a:xfrm>
          <a:prstGeom prst="rect">
            <a:avLst/>
          </a:prstGeom>
          <a:noFill/>
        </p:spPr>
        <p:txBody>
          <a:bodyPr wrap="square" lIns="45720" tIns="22860" rIns="45720" bIns="22860">
            <a:spAutoFit/>
          </a:bodyPr>
          <a:lstStyle/>
          <a:p>
            <a:r>
              <a:rPr sz="2800" b="1" i="0">
                <a:solidFill>
                  <a:srgbClr val="0F172A"/>
                </a:solidFill>
                <a:latin typeface="Arial"/>
              </a:rPr>
              <a:t>Previous Studies: Powerful, but Hard to Use</a:t>
            </a:r>
          </a:p>
        </p:txBody>
      </p:sp>
      <p:sp>
        <p:nvSpPr>
          <p:cNvPr id="4" name="TextBox 3"/>
          <p:cNvSpPr txBox="1"/>
          <p:nvPr/>
        </p:nvSpPr>
        <p:spPr>
          <a:xfrm>
            <a:off x="566928" y="1325880"/>
            <a:ext cx="6858000" cy="320040"/>
          </a:xfrm>
          <a:prstGeom prst="rect">
            <a:avLst/>
          </a:prstGeom>
          <a:noFill/>
        </p:spPr>
        <p:txBody>
          <a:bodyPr wrap="square" lIns="45720" tIns="22860" rIns="45720" bIns="22860">
            <a:spAutoFit/>
          </a:bodyPr>
          <a:lstStyle/>
          <a:p>
            <a:r>
              <a:rPr sz="1500" b="1" i="0">
                <a:solidFill>
                  <a:srgbClr val="64748B"/>
                </a:solidFill>
                <a:latin typeface="Arial"/>
              </a:rPr>
              <a:t>Previous studies</a:t>
            </a:r>
          </a:p>
        </p:txBody>
      </p:sp>
      <p:sp>
        <p:nvSpPr>
          <p:cNvPr id="5" name="TextBox 4"/>
          <p:cNvSpPr txBox="1"/>
          <p:nvPr/>
        </p:nvSpPr>
        <p:spPr>
          <a:xfrm>
            <a:off x="7598664" y="1325880"/>
            <a:ext cx="4023360" cy="320040"/>
          </a:xfrm>
          <a:prstGeom prst="rect">
            <a:avLst/>
          </a:prstGeom>
          <a:noFill/>
        </p:spPr>
        <p:txBody>
          <a:bodyPr wrap="square" lIns="45720" tIns="22860" rIns="45720" bIns="22860">
            <a:spAutoFit/>
          </a:bodyPr>
          <a:lstStyle/>
          <a:p>
            <a:r>
              <a:rPr sz="1500" b="1" i="0">
                <a:solidFill>
                  <a:srgbClr val="0284C7"/>
                </a:solidFill>
                <a:latin typeface="Arial"/>
              </a:rPr>
              <a:t>This study</a:t>
            </a:r>
          </a:p>
        </p:txBody>
      </p:sp>
      <p:sp>
        <p:nvSpPr>
          <p:cNvPr id="6" name="Rounded Rectangle 5"/>
          <p:cNvSpPr/>
          <p:nvPr/>
        </p:nvSpPr>
        <p:spPr>
          <a:xfrm>
            <a:off x="566928" y="1691640"/>
            <a:ext cx="6858000" cy="160020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04088" y="1783080"/>
            <a:ext cx="457200" cy="274320"/>
          </a:xfrm>
          <a:prstGeom prst="roundRect">
            <a:avLst>
              <a:gd name="adj" fmla="val 5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04088" y="1783080"/>
            <a:ext cx="457200" cy="274320"/>
          </a:xfrm>
          <a:prstGeom prst="rect">
            <a:avLst/>
          </a:prstGeom>
          <a:noFill/>
        </p:spPr>
        <p:txBody>
          <a:bodyPr wrap="square" lIns="45720" tIns="22860" rIns="45720" bIns="22860" anchor="ctr">
            <a:spAutoFit/>
          </a:bodyPr>
          <a:lstStyle/>
          <a:p>
            <a:pPr algn="ctr"/>
            <a:r>
              <a:rPr sz="1100" b="1" i="0">
                <a:solidFill>
                  <a:srgbClr val="FFFFFF"/>
                </a:solidFill>
                <a:latin typeface="Arial"/>
              </a:rPr>
              <a:t>[1]</a:t>
            </a:r>
          </a:p>
        </p:txBody>
      </p:sp>
      <p:sp>
        <p:nvSpPr>
          <p:cNvPr id="9" name="TextBox 8"/>
          <p:cNvSpPr txBox="1"/>
          <p:nvPr/>
        </p:nvSpPr>
        <p:spPr>
          <a:xfrm>
            <a:off x="1207008" y="1764792"/>
            <a:ext cx="6126480" cy="320040"/>
          </a:xfrm>
          <a:prstGeom prst="rect">
            <a:avLst/>
          </a:prstGeom>
          <a:noFill/>
        </p:spPr>
        <p:txBody>
          <a:bodyPr wrap="square" lIns="45720" tIns="22860" rIns="45720" bIns="22860">
            <a:spAutoFit/>
          </a:bodyPr>
          <a:lstStyle/>
          <a:p>
            <a:r>
              <a:rPr sz="1300" b="1" i="0">
                <a:solidFill>
                  <a:srgbClr val="64748B"/>
                </a:solidFill>
                <a:latin typeface="Arial"/>
              </a:rPr>
              <a:t>3 problems solved in a row</a:t>
            </a:r>
          </a:p>
        </p:txBody>
      </p:sp>
      <p:pic>
        <p:nvPicPr>
          <p:cNvPr id="10" name="Picture 9" descr="f_prev1.png"/>
          <p:cNvPicPr>
            <a:picLocks noChangeAspect="1"/>
          </p:cNvPicPr>
          <p:nvPr/>
        </p:nvPicPr>
        <p:blipFill>
          <a:blip r:embed="rId3"/>
          <a:stretch>
            <a:fillRect/>
          </a:stretch>
        </p:blipFill>
        <p:spPr>
          <a:xfrm>
            <a:off x="3062052" y="2103120"/>
            <a:ext cx="1867752" cy="1097280"/>
          </a:xfrm>
          <a:prstGeom prst="rect">
            <a:avLst/>
          </a:prstGeom>
        </p:spPr>
      </p:pic>
      <p:sp>
        <p:nvSpPr>
          <p:cNvPr id="11" name="Rounded Rectangle 10"/>
          <p:cNvSpPr/>
          <p:nvPr/>
        </p:nvSpPr>
        <p:spPr>
          <a:xfrm>
            <a:off x="566928" y="3383280"/>
            <a:ext cx="6858000" cy="137160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704088" y="3474720"/>
            <a:ext cx="457200" cy="274320"/>
          </a:xfrm>
          <a:prstGeom prst="roundRect">
            <a:avLst>
              <a:gd name="adj" fmla="val 5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04088" y="3474720"/>
            <a:ext cx="457200" cy="274320"/>
          </a:xfrm>
          <a:prstGeom prst="rect">
            <a:avLst/>
          </a:prstGeom>
          <a:noFill/>
        </p:spPr>
        <p:txBody>
          <a:bodyPr wrap="square" lIns="45720" tIns="22860" rIns="45720" bIns="22860" anchor="ctr">
            <a:spAutoFit/>
          </a:bodyPr>
          <a:lstStyle/>
          <a:p>
            <a:pPr algn="ctr"/>
            <a:r>
              <a:rPr sz="1100" b="1" i="0">
                <a:solidFill>
                  <a:srgbClr val="FFFFFF"/>
                </a:solidFill>
                <a:latin typeface="Arial"/>
              </a:rPr>
              <a:t>[2]</a:t>
            </a:r>
          </a:p>
        </p:txBody>
      </p:sp>
      <p:sp>
        <p:nvSpPr>
          <p:cNvPr id="14" name="TextBox 13"/>
          <p:cNvSpPr txBox="1"/>
          <p:nvPr/>
        </p:nvSpPr>
        <p:spPr>
          <a:xfrm>
            <a:off x="1207008" y="3456432"/>
            <a:ext cx="6126480" cy="320040"/>
          </a:xfrm>
          <a:prstGeom prst="rect">
            <a:avLst/>
          </a:prstGeom>
          <a:noFill/>
        </p:spPr>
        <p:txBody>
          <a:bodyPr wrap="square" lIns="45720" tIns="22860" rIns="45720" bIns="22860">
            <a:spAutoFit/>
          </a:bodyPr>
          <a:lstStyle/>
          <a:p>
            <a:r>
              <a:rPr sz="1300" b="1" i="0">
                <a:solidFill>
                  <a:srgbClr val="64748B"/>
                </a:solidFill>
                <a:latin typeface="Arial"/>
              </a:rPr>
              <a:t>6 weights × 6 penalty tables</a:t>
            </a:r>
          </a:p>
        </p:txBody>
      </p:sp>
      <p:pic>
        <p:nvPicPr>
          <p:cNvPr id="15" name="Picture 14" descr="f_prev2.png"/>
          <p:cNvPicPr>
            <a:picLocks noChangeAspect="1"/>
          </p:cNvPicPr>
          <p:nvPr/>
        </p:nvPicPr>
        <p:blipFill>
          <a:blip r:embed="rId4"/>
          <a:stretch>
            <a:fillRect/>
          </a:stretch>
        </p:blipFill>
        <p:spPr>
          <a:xfrm>
            <a:off x="2104086" y="3794760"/>
            <a:ext cx="3783683" cy="868679"/>
          </a:xfrm>
          <a:prstGeom prst="rect">
            <a:avLst/>
          </a:prstGeom>
        </p:spPr>
      </p:pic>
      <p:sp>
        <p:nvSpPr>
          <p:cNvPr id="16" name="Rounded Rectangle 15"/>
          <p:cNvSpPr/>
          <p:nvPr/>
        </p:nvSpPr>
        <p:spPr>
          <a:xfrm>
            <a:off x="7598664" y="1691640"/>
            <a:ext cx="4023360" cy="3017520"/>
          </a:xfrm>
          <a:prstGeom prst="roundRect">
            <a:avLst>
              <a:gd name="adj" fmla="val 8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f_ours.png"/>
          <p:cNvPicPr>
            <a:picLocks noChangeAspect="1"/>
          </p:cNvPicPr>
          <p:nvPr/>
        </p:nvPicPr>
        <p:blipFill>
          <a:blip r:embed="rId5"/>
          <a:stretch>
            <a:fillRect/>
          </a:stretch>
        </p:blipFill>
        <p:spPr>
          <a:xfrm>
            <a:off x="7735824" y="2809493"/>
            <a:ext cx="3749039" cy="416054"/>
          </a:xfrm>
          <a:prstGeom prst="rect">
            <a:avLst/>
          </a:prstGeom>
        </p:spPr>
      </p:pic>
      <p:sp>
        <p:nvSpPr>
          <p:cNvPr id="18" name="TextBox 17"/>
          <p:cNvSpPr txBox="1"/>
          <p:nvPr/>
        </p:nvSpPr>
        <p:spPr>
          <a:xfrm>
            <a:off x="7598664" y="3749040"/>
            <a:ext cx="4023360" cy="640080"/>
          </a:xfrm>
          <a:prstGeom prst="rect">
            <a:avLst/>
          </a:prstGeom>
          <a:noFill/>
        </p:spPr>
        <p:txBody>
          <a:bodyPr wrap="square" lIns="45720" tIns="22860" rIns="45720" bIns="22860" anchor="ctr">
            <a:spAutoFit/>
          </a:bodyPr>
          <a:lstStyle/>
          <a:p>
            <a:pPr algn="ctr"/>
            <a:r>
              <a:rPr sz="1300" b="1" i="0">
                <a:solidFill>
                  <a:srgbClr val="0C4A6E"/>
                </a:solidFill>
                <a:latin typeface="Arial"/>
              </a:rPr>
              <a:t>A  continuity    B  conflicts    C  empty seats</a:t>
            </a:r>
          </a:p>
        </p:txBody>
      </p:sp>
      <p:sp>
        <p:nvSpPr>
          <p:cNvPr id="19" name="Rounded Rectangle 18"/>
          <p:cNvSpPr/>
          <p:nvPr/>
        </p:nvSpPr>
        <p:spPr>
          <a:xfrm>
            <a:off x="566928" y="4846320"/>
            <a:ext cx="6858000" cy="64008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66928" y="4846320"/>
            <a:ext cx="6858000" cy="640080"/>
          </a:xfrm>
          <a:prstGeom prst="rect">
            <a:avLst/>
          </a:prstGeom>
          <a:noFill/>
        </p:spPr>
        <p:txBody>
          <a:bodyPr wrap="square" lIns="45720" tIns="22860" rIns="45720" bIns="22860" anchor="ctr">
            <a:spAutoFit/>
          </a:bodyPr>
          <a:lstStyle/>
          <a:p>
            <a:pPr algn="ctr"/>
            <a:r>
              <a:rPr sz="1400" b="1" i="0">
                <a:solidFill>
                  <a:srgbClr val="0F172A"/>
                </a:solidFill>
                <a:latin typeface="Arial"/>
              </a:rPr>
              <a:t>Input: every participant’s preferences [1]  /  9 sheets + 6 weights [2]</a:t>
            </a:r>
          </a:p>
        </p:txBody>
      </p:sp>
      <p:sp>
        <p:nvSpPr>
          <p:cNvPr id="21" name="Rounded Rectangle 20"/>
          <p:cNvSpPr/>
          <p:nvPr/>
        </p:nvSpPr>
        <p:spPr>
          <a:xfrm>
            <a:off x="7598664" y="4846320"/>
            <a:ext cx="4023360" cy="640080"/>
          </a:xfrm>
          <a:prstGeom prst="roundRect">
            <a:avLst>
              <a:gd name="adj" fmla="val 8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598664" y="4846320"/>
            <a:ext cx="4023360" cy="640080"/>
          </a:xfrm>
          <a:prstGeom prst="rect">
            <a:avLst/>
          </a:prstGeom>
          <a:noFill/>
        </p:spPr>
        <p:txBody>
          <a:bodyPr wrap="square" lIns="45720" tIns="22860" rIns="45720" bIns="22860" anchor="ctr">
            <a:spAutoFit/>
          </a:bodyPr>
          <a:lstStyle/>
          <a:p>
            <a:pPr algn="ctr"/>
            <a:r>
              <a:rPr sz="1500" b="1" i="0">
                <a:solidFill>
                  <a:srgbClr val="0C4A6E"/>
                </a:solidFill>
                <a:latin typeface="Arial"/>
              </a:rPr>
              <a:t>Input: 3 sheets + 3 weights</a:t>
            </a:r>
          </a:p>
        </p:txBody>
      </p:sp>
      <p:sp>
        <p:nvSpPr>
          <p:cNvPr id="23" name="TextBox 22"/>
          <p:cNvSpPr txBox="1"/>
          <p:nvPr/>
        </p:nvSpPr>
        <p:spPr>
          <a:xfrm>
            <a:off x="566928" y="5669280"/>
            <a:ext cx="11055096" cy="274320"/>
          </a:xfrm>
          <a:prstGeom prst="rect">
            <a:avLst/>
          </a:prstGeom>
          <a:noFill/>
        </p:spPr>
        <p:txBody>
          <a:bodyPr wrap="square" lIns="45720" tIns="22860" rIns="45720" bIns="22860">
            <a:spAutoFit/>
          </a:bodyPr>
          <a:lstStyle/>
          <a:p>
            <a:r>
              <a:rPr sz="1200" b="0" i="0">
                <a:solidFill>
                  <a:srgbClr val="64748B"/>
                </a:solidFill>
                <a:latin typeface="Arial"/>
              </a:rPr>
              <a:t>[1] Vangerven et al. 2018, Eqs. (1)(4)(8)   [2] Pylyavskyy et al. 2024, Eq. (11)      Details → Appendix A13</a:t>
            </a:r>
          </a:p>
        </p:txBody>
      </p:sp>
      <p:sp>
        <p:nvSpPr>
          <p:cNvPr id="24" name="TextBox 23"/>
          <p:cNvSpPr txBox="1"/>
          <p:nvPr/>
        </p:nvSpPr>
        <p:spPr>
          <a:xfrm>
            <a:off x="11164824" y="6492240"/>
            <a:ext cx="457200" cy="219456"/>
          </a:xfrm>
          <a:prstGeom prst="rect">
            <a:avLst/>
          </a:prstGeom>
          <a:noFill/>
          <a:ln/>
        </p:spPr>
        <p:txBody>
          <a:bodyPr wrap="square" lIns="0" tIns="0" rIns="0" bIns="0" rtlCol="0" anchor="ctr"/>
          <a:lstStyle/>
          <a:p>
            <a:pPr marL="0" indent="0" algn="r">
              <a:buNone/>
            </a:pPr>
            <a:fld id="{8B2C3E4A-5D6F-4A1B-9C2D-3E4F5A6B7C8D}" type="slidenum">
              <a:rPr lang="en-US" altLang="ja-JP" sz="1000" dirty="0">
                <a:solidFill>
                  <a:srgbClr val="94A3B8"/>
                </a:solidFill>
                <a:latin typeface="Arial" pitchFamily="34" charset="0"/>
                <a:ea typeface="Arial" pitchFamily="34" charset="-122"/>
                <a:cs typeface="Arial" pitchFamily="34" charset="-120"/>
              </a:rPr>
              <a:t>7</a:t>
            </a:fld>
            <a:endParaRPr lang="en-US" altLang="ja-JP" sz="1000" dirty="0"/>
          </a:p>
        </p:txBody>
      </p:sp>
      <p:sp>
        <p:nvSpPr>
          <p:cNvPr id="25" name="Rounded Rectangle 15">
            <a:extLst>
              <a:ext uri="{FF2B5EF4-FFF2-40B4-BE49-F238E27FC236}">
                <a16:creationId xmlns:a16="http://schemas.microsoft.com/office/drawing/2014/main" id="{617D115D-A2DE-4308-078A-A48549061BD8}"/>
              </a:ext>
            </a:extLst>
          </p:cNvPr>
          <p:cNvSpPr/>
          <p:nvPr/>
        </p:nvSpPr>
        <p:spPr>
          <a:xfrm>
            <a:off x="7735824" y="2783139"/>
            <a:ext cx="604030" cy="466135"/>
          </a:xfrm>
          <a:prstGeom prst="roundRect">
            <a:avLst>
              <a:gd name="adj" fmla="val 8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5096" cy="237744"/>
          </a:xfrm>
          <a:prstGeom prst="rect">
            <a:avLst/>
          </a:prstGeom>
          <a:noFill/>
        </p:spPr>
        <p:txBody>
          <a:bodyPr wrap="square" lIns="45720" tIns="22860" rIns="45720" bIns="22860">
            <a:spAutoFit/>
          </a:bodyPr>
          <a:lstStyle/>
          <a:p>
            <a:r>
              <a:rPr sz="1200" b="1" i="0">
                <a:solidFill>
                  <a:srgbClr val="0284C7"/>
                </a:solidFill>
                <a:latin typeface="Arial"/>
              </a:rPr>
              <a:t>1. Background and Objective</a:t>
            </a:r>
          </a:p>
        </p:txBody>
      </p:sp>
      <p:sp>
        <p:nvSpPr>
          <p:cNvPr id="3" name="TextBox 2"/>
          <p:cNvSpPr txBox="1"/>
          <p:nvPr/>
        </p:nvSpPr>
        <p:spPr>
          <a:xfrm>
            <a:off x="566928" y="566928"/>
            <a:ext cx="11055096" cy="566928"/>
          </a:xfrm>
          <a:prstGeom prst="rect">
            <a:avLst/>
          </a:prstGeom>
          <a:noFill/>
        </p:spPr>
        <p:txBody>
          <a:bodyPr wrap="square" lIns="45720" tIns="22860" rIns="45720" bIns="22860">
            <a:spAutoFit/>
          </a:bodyPr>
          <a:lstStyle/>
          <a:p>
            <a:r>
              <a:rPr sz="2800" b="1" i="0">
                <a:solidFill>
                  <a:srgbClr val="0F172A"/>
                </a:solidFill>
                <a:latin typeface="Arial"/>
              </a:rPr>
              <a:t>Our Goal</a:t>
            </a:r>
          </a:p>
        </p:txBody>
      </p:sp>
      <p:sp>
        <p:nvSpPr>
          <p:cNvPr id="4" name="Rounded Rectangle 3"/>
          <p:cNvSpPr/>
          <p:nvPr/>
        </p:nvSpPr>
        <p:spPr>
          <a:xfrm>
            <a:off x="566928" y="1257300"/>
            <a:ext cx="11055096" cy="822960"/>
          </a:xfrm>
          <a:prstGeom prst="roundRect">
            <a:avLst>
              <a:gd name="adj" fmla="val 8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430253"/>
            <a:ext cx="11055096" cy="477054"/>
          </a:xfrm>
          <a:prstGeom prst="rect">
            <a:avLst/>
          </a:prstGeom>
          <a:noFill/>
        </p:spPr>
        <p:txBody>
          <a:bodyPr wrap="square" lIns="45720" tIns="22860" rIns="45720" bIns="22860" anchor="ctr">
            <a:spAutoFit/>
          </a:bodyPr>
          <a:lstStyle/>
          <a:p>
            <a:pPr algn="ctr"/>
            <a:r>
              <a:rPr lang="en-US" sz="2800" b="1" i="0" dirty="0">
                <a:solidFill>
                  <a:srgbClr val="FF0000"/>
                </a:solidFill>
                <a:latin typeface="Arial"/>
              </a:rPr>
              <a:t>Creating a “Simple Conference Scheduler”</a:t>
            </a:r>
          </a:p>
        </p:txBody>
      </p:sp>
      <p:sp>
        <p:nvSpPr>
          <p:cNvPr id="26" name="TextBox 25"/>
          <p:cNvSpPr txBox="1"/>
          <p:nvPr/>
        </p:nvSpPr>
        <p:spPr>
          <a:xfrm>
            <a:off x="566928" y="2640330"/>
            <a:ext cx="11055096" cy="320040"/>
          </a:xfrm>
          <a:prstGeom prst="rect">
            <a:avLst/>
          </a:prstGeom>
          <a:noFill/>
        </p:spPr>
        <p:txBody>
          <a:bodyPr wrap="square" lIns="45720" tIns="22860" rIns="45720" bIns="22860">
            <a:spAutoFit/>
          </a:bodyPr>
          <a:lstStyle/>
          <a:p>
            <a:r>
              <a:rPr sz="1300" b="1" i="0">
                <a:solidFill>
                  <a:srgbClr val="64748B"/>
                </a:solidFill>
                <a:latin typeface="Arial"/>
              </a:rPr>
              <a:t>What we did</a:t>
            </a:r>
          </a:p>
        </p:txBody>
      </p:sp>
      <p:sp>
        <p:nvSpPr>
          <p:cNvPr id="27" name="Rounded Rectangle 26"/>
          <p:cNvSpPr/>
          <p:nvPr/>
        </p:nvSpPr>
        <p:spPr>
          <a:xfrm>
            <a:off x="566928" y="3006090"/>
            <a:ext cx="3532632" cy="77724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749808" y="3211830"/>
            <a:ext cx="365760" cy="365760"/>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49808" y="3211830"/>
            <a:ext cx="365760" cy="365760"/>
          </a:xfrm>
          <a:prstGeom prst="rect">
            <a:avLst/>
          </a:prstGeom>
          <a:noFill/>
        </p:spPr>
        <p:txBody>
          <a:bodyPr wrap="square" lIns="45720" tIns="22860" rIns="45720" bIns="22860" anchor="ctr">
            <a:spAutoFit/>
          </a:bodyPr>
          <a:lstStyle/>
          <a:p>
            <a:pPr algn="ctr"/>
            <a:r>
              <a:rPr sz="1400" b="1" i="0">
                <a:solidFill>
                  <a:srgbClr val="FFFFFF"/>
                </a:solidFill>
                <a:latin typeface="Arial"/>
              </a:rPr>
              <a:t>1</a:t>
            </a:r>
          </a:p>
        </p:txBody>
      </p:sp>
      <p:sp>
        <p:nvSpPr>
          <p:cNvPr id="30" name="TextBox 29"/>
          <p:cNvSpPr txBox="1"/>
          <p:nvPr/>
        </p:nvSpPr>
        <p:spPr>
          <a:xfrm>
            <a:off x="1207008" y="3006090"/>
            <a:ext cx="2801112" cy="777240"/>
          </a:xfrm>
          <a:prstGeom prst="rect">
            <a:avLst/>
          </a:prstGeom>
          <a:noFill/>
        </p:spPr>
        <p:txBody>
          <a:bodyPr wrap="square" lIns="45720" tIns="22860" rIns="45720" bIns="22860" anchor="ctr">
            <a:spAutoFit/>
          </a:bodyPr>
          <a:lstStyle/>
          <a:p>
            <a:r>
              <a:rPr sz="1500" b="1" i="0">
                <a:solidFill>
                  <a:srgbClr val="0F172A"/>
                </a:solidFill>
                <a:latin typeface="Arial"/>
              </a:rPr>
              <a:t>Build</a:t>
            </a:r>
          </a:p>
          <a:p>
            <a:r>
              <a:rPr sz="1500" b="1" i="0">
                <a:solidFill>
                  <a:srgbClr val="0F172A"/>
                </a:solidFill>
                <a:latin typeface="Arial"/>
              </a:rPr>
              <a:t>the system</a:t>
            </a:r>
          </a:p>
        </p:txBody>
      </p:sp>
      <p:sp>
        <p:nvSpPr>
          <p:cNvPr id="31" name="Rounded Rectangle 30"/>
          <p:cNvSpPr/>
          <p:nvPr/>
        </p:nvSpPr>
        <p:spPr>
          <a:xfrm>
            <a:off x="4328160" y="3006090"/>
            <a:ext cx="3532632" cy="77724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4511040" y="3211830"/>
            <a:ext cx="365760" cy="365760"/>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511040" y="3211830"/>
            <a:ext cx="365760" cy="365760"/>
          </a:xfrm>
          <a:prstGeom prst="rect">
            <a:avLst/>
          </a:prstGeom>
          <a:noFill/>
        </p:spPr>
        <p:txBody>
          <a:bodyPr wrap="square" lIns="45720" tIns="22860" rIns="45720" bIns="22860" anchor="ctr">
            <a:spAutoFit/>
          </a:bodyPr>
          <a:lstStyle/>
          <a:p>
            <a:pPr algn="ctr"/>
            <a:r>
              <a:rPr sz="1400" b="1" i="0">
                <a:solidFill>
                  <a:srgbClr val="FFFFFF"/>
                </a:solidFill>
                <a:latin typeface="Arial"/>
              </a:rPr>
              <a:t>2</a:t>
            </a:r>
          </a:p>
        </p:txBody>
      </p:sp>
      <p:sp>
        <p:nvSpPr>
          <p:cNvPr id="34" name="TextBox 33"/>
          <p:cNvSpPr txBox="1"/>
          <p:nvPr/>
        </p:nvSpPr>
        <p:spPr>
          <a:xfrm>
            <a:off x="4968240" y="3006090"/>
            <a:ext cx="2801112" cy="777240"/>
          </a:xfrm>
          <a:prstGeom prst="rect">
            <a:avLst/>
          </a:prstGeom>
          <a:noFill/>
        </p:spPr>
        <p:txBody>
          <a:bodyPr wrap="square" lIns="45720" tIns="22860" rIns="45720" bIns="22860" anchor="ctr">
            <a:spAutoFit/>
          </a:bodyPr>
          <a:lstStyle/>
          <a:p>
            <a:r>
              <a:rPr sz="1500" b="1" i="0">
                <a:solidFill>
                  <a:srgbClr val="0F172A"/>
                </a:solidFill>
                <a:latin typeface="Arial"/>
              </a:rPr>
              <a:t>Check</a:t>
            </a:r>
          </a:p>
          <a:p>
            <a:r>
              <a:rPr sz="1500" b="1" i="0">
                <a:solidFill>
                  <a:srgbClr val="0F172A"/>
                </a:solidFill>
                <a:latin typeface="Arial"/>
              </a:rPr>
              <a:t>that it works</a:t>
            </a:r>
          </a:p>
        </p:txBody>
      </p:sp>
      <p:sp>
        <p:nvSpPr>
          <p:cNvPr id="35" name="Rounded Rectangle 34"/>
          <p:cNvSpPr/>
          <p:nvPr/>
        </p:nvSpPr>
        <p:spPr>
          <a:xfrm>
            <a:off x="8089392" y="3006090"/>
            <a:ext cx="3532632" cy="77724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8272272" y="3211830"/>
            <a:ext cx="365760" cy="365760"/>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272272" y="3211830"/>
            <a:ext cx="365760" cy="365760"/>
          </a:xfrm>
          <a:prstGeom prst="rect">
            <a:avLst/>
          </a:prstGeom>
          <a:noFill/>
        </p:spPr>
        <p:txBody>
          <a:bodyPr wrap="square" lIns="45720" tIns="22860" rIns="45720" bIns="22860" anchor="ctr">
            <a:spAutoFit/>
          </a:bodyPr>
          <a:lstStyle/>
          <a:p>
            <a:pPr algn="ctr"/>
            <a:r>
              <a:rPr sz="1400" b="1" i="0">
                <a:solidFill>
                  <a:srgbClr val="FFFFFF"/>
                </a:solidFill>
                <a:latin typeface="Arial"/>
              </a:rPr>
              <a:t>3</a:t>
            </a:r>
          </a:p>
        </p:txBody>
      </p:sp>
      <p:sp>
        <p:nvSpPr>
          <p:cNvPr id="38" name="TextBox 37"/>
          <p:cNvSpPr txBox="1"/>
          <p:nvPr/>
        </p:nvSpPr>
        <p:spPr>
          <a:xfrm>
            <a:off x="8729472" y="3006090"/>
            <a:ext cx="2801112" cy="777240"/>
          </a:xfrm>
          <a:prstGeom prst="rect">
            <a:avLst/>
          </a:prstGeom>
          <a:noFill/>
        </p:spPr>
        <p:txBody>
          <a:bodyPr wrap="square" lIns="45720" tIns="22860" rIns="45720" bIns="22860" anchor="ctr">
            <a:spAutoFit/>
          </a:bodyPr>
          <a:lstStyle/>
          <a:p>
            <a:r>
              <a:rPr sz="1500" b="1" i="0">
                <a:solidFill>
                  <a:srgbClr val="0F172A"/>
                </a:solidFill>
                <a:latin typeface="Arial"/>
              </a:rPr>
              <a:t>Evaluate</a:t>
            </a:r>
          </a:p>
          <a:p>
            <a:r>
              <a:rPr sz="1500" b="1" i="0">
                <a:solidFill>
                  <a:srgbClr val="0F172A"/>
                </a:solidFill>
                <a:latin typeface="Arial"/>
              </a:rPr>
              <a:t>with a real conference</a:t>
            </a:r>
          </a:p>
        </p:txBody>
      </p:sp>
      <p:sp>
        <p:nvSpPr>
          <p:cNvPr id="39" name="TextBox 38"/>
          <p:cNvSpPr txBox="1"/>
          <p:nvPr/>
        </p:nvSpPr>
        <p:spPr>
          <a:xfrm>
            <a:off x="11164824" y="6492240"/>
            <a:ext cx="457200" cy="219456"/>
          </a:xfrm>
          <a:prstGeom prst="rect">
            <a:avLst/>
          </a:prstGeom>
          <a:noFill/>
          <a:ln/>
        </p:spPr>
        <p:txBody>
          <a:bodyPr wrap="square" lIns="0" tIns="0" rIns="0" bIns="0" rtlCol="0" anchor="ctr"/>
          <a:lstStyle/>
          <a:p>
            <a:pPr marL="0" indent="0" algn="r">
              <a:buNone/>
            </a:pPr>
            <a:fld id="{8B2C3E4A-5D6F-4A1B-9C2D-3E4F5A6B7C8D}" type="slidenum">
              <a:rPr lang="en-US" altLang="ja-JP" sz="1000" dirty="0">
                <a:solidFill>
                  <a:srgbClr val="94A3B8"/>
                </a:solidFill>
                <a:latin typeface="Arial" pitchFamily="34" charset="0"/>
                <a:ea typeface="Arial" pitchFamily="34" charset="-122"/>
                <a:cs typeface="Arial" pitchFamily="34" charset="-120"/>
              </a:rPr>
              <a:t>8</a:t>
            </a:fld>
            <a:endParaRPr lang="en-US" altLang="ja-JP" sz="1000" dirty="0"/>
          </a:p>
        </p:txBody>
      </p:sp>
      <p:pic>
        <p:nvPicPr>
          <p:cNvPr id="7" name="図 6" descr="鉛筆を持つ漫画の蜂">
            <a:extLst>
              <a:ext uri="{FF2B5EF4-FFF2-40B4-BE49-F238E27FC236}">
                <a16:creationId xmlns:a16="http://schemas.microsoft.com/office/drawing/2014/main" id="{4C653AAF-FDA6-2A5F-FCC0-EE33EB6E0BA7}"/>
              </a:ext>
            </a:extLst>
          </p:cNvPr>
          <p:cNvPicPr>
            <a:picLocks noChangeAspect="1"/>
          </p:cNvPicPr>
          <p:nvPr/>
        </p:nvPicPr>
        <p:blipFill>
          <a:blip r:embed="rId3"/>
          <a:stretch>
            <a:fillRect/>
          </a:stretch>
        </p:blipFill>
        <p:spPr>
          <a:xfrm>
            <a:off x="1970321" y="4833366"/>
            <a:ext cx="1749929" cy="1878330"/>
          </a:xfrm>
          <a:prstGeom prst="rect">
            <a:avLst/>
          </a:prstGeom>
        </p:spPr>
      </p:pic>
      <p:sp>
        <p:nvSpPr>
          <p:cNvPr id="8" name="吹き出し: 円形 7">
            <a:extLst>
              <a:ext uri="{FF2B5EF4-FFF2-40B4-BE49-F238E27FC236}">
                <a16:creationId xmlns:a16="http://schemas.microsoft.com/office/drawing/2014/main" id="{B324FF0F-1883-28B4-B249-ABB835E67C1F}"/>
              </a:ext>
            </a:extLst>
          </p:cNvPr>
          <p:cNvSpPr/>
          <p:nvPr/>
        </p:nvSpPr>
        <p:spPr>
          <a:xfrm>
            <a:off x="4099560" y="5146497"/>
            <a:ext cx="3775802" cy="1114831"/>
          </a:xfrm>
          <a:prstGeom prst="wedgeEllipseCallout">
            <a:avLst>
              <a:gd name="adj1" fmla="val -51881"/>
              <a:gd name="adj2" fmla="val 39173"/>
            </a:avLst>
          </a:prstGeom>
          <a:solidFill>
            <a:srgbClr val="E0F2FE"/>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We want to make running a conference easier.</a:t>
            </a:r>
            <a:endParaRPr kumimoji="1" lang="ja-JP" altLang="en-US" dirty="0">
              <a:solidFill>
                <a:schemeClr val="tx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0F172A"/>
        </a:solidFill>
        <a:effectLst/>
      </p:bgPr>
    </p:bg>
    <p:spTree>
      <p:nvGrpSpPr>
        <p:cNvPr id="1" name=""/>
        <p:cNvGrpSpPr/>
        <p:nvPr/>
      </p:nvGrpSpPr>
      <p:grpSpPr>
        <a:xfrm>
          <a:off x="0" y="0"/>
          <a:ext cx="0" cy="0"/>
          <a:chOff x="0" y="0"/>
          <a:chExt cx="0" cy="0"/>
        </a:xfrm>
      </p:grpSpPr>
      <p:sp>
        <p:nvSpPr>
          <p:cNvPr id="2" name="Text 0"/>
          <p:cNvSpPr txBox="1"/>
          <p:nvPr/>
        </p:nvSpPr>
        <p:spPr>
          <a:xfrm>
            <a:off x="11164824" y="6492240"/>
            <a:ext cx="457200" cy="219456"/>
          </a:xfrm>
          <a:prstGeom prst="rect">
            <a:avLst/>
          </a:prstGeom>
          <a:noFill/>
          <a:ln/>
        </p:spPr>
        <p:txBody>
          <a:bodyPr wrap="square" lIns="0" tIns="0" rIns="0" bIns="0" rtlCol="0" anchor="ctr"/>
          <a:lstStyle/>
          <a:p>
            <a:pPr marL="0" indent="0" algn="r">
              <a:buNone/>
            </a:pPr>
            <a:fld id="{8B2C3E4A-5D6F-4A1B-9C2D-3E4F5A6B7C8D}" type="slidenum">
              <a:rPr lang="en-US" altLang="ja-JP" sz="1000" dirty="0">
                <a:solidFill>
                  <a:srgbClr val="64748B"/>
                </a:solidFill>
                <a:latin typeface="Arial" pitchFamily="34" charset="0"/>
                <a:ea typeface="Arial" pitchFamily="34" charset="-122"/>
                <a:cs typeface="Arial" pitchFamily="34" charset="-120"/>
              </a:rPr>
              <a:t>9</a:t>
            </a:fld>
            <a:endParaRPr lang="en-US" altLang="ja-JP" sz="1000" dirty="0"/>
          </a:p>
        </p:txBody>
      </p:sp>
      <p:sp>
        <p:nvSpPr>
          <p:cNvPr id="3" name="Text 1"/>
          <p:cNvSpPr txBox="1"/>
          <p:nvPr/>
        </p:nvSpPr>
        <p:spPr>
          <a:xfrm>
            <a:off x="566928" y="1645920"/>
            <a:ext cx="3657600" cy="1188720"/>
          </a:xfrm>
          <a:prstGeom prst="rect">
            <a:avLst/>
          </a:prstGeom>
          <a:noFill/>
          <a:ln/>
        </p:spPr>
        <p:txBody>
          <a:bodyPr wrap="square" lIns="0" tIns="0" rIns="0" bIns="0" rtlCol="0" anchor="ctr"/>
          <a:lstStyle/>
          <a:p>
            <a:pPr marL="0" indent="0" algn="l">
              <a:buNone/>
            </a:pPr>
            <a:r>
              <a:rPr lang="ja-JP" altLang="en-US" sz="7200" b="1" dirty="0">
                <a:solidFill>
                  <a:srgbClr val="0284C7"/>
                </a:solidFill>
                <a:latin typeface="Arial" pitchFamily="34" charset="0"/>
                <a:ea typeface="Arial" pitchFamily="34" charset="-122"/>
                <a:cs typeface="Arial" pitchFamily="34" charset="-120"/>
              </a:rPr>
              <a:t>02</a:t>
            </a:r>
            <a:endParaRPr lang="ja-JP" sz="7200" dirty="0"/>
          </a:p>
        </p:txBody>
      </p:sp>
      <p:sp>
        <p:nvSpPr>
          <p:cNvPr id="4" name="Text 2"/>
          <p:cNvSpPr txBox="1"/>
          <p:nvPr/>
        </p:nvSpPr>
        <p:spPr>
          <a:xfrm>
            <a:off x="566928" y="2907792"/>
            <a:ext cx="10789920" cy="841248"/>
          </a:xfrm>
          <a:prstGeom prst="rect">
            <a:avLst/>
          </a:prstGeom>
          <a:noFill/>
          <a:ln/>
        </p:spPr>
        <p:txBody>
          <a:bodyPr wrap="square" lIns="0" tIns="0" rIns="0" bIns="0" rtlCol="0" anchor="ctr"/>
          <a:lstStyle/>
          <a:p>
            <a:pPr marL="0" indent="0" algn="l">
              <a:buNone/>
            </a:pPr>
            <a:r>
              <a:rPr lang="en-US" altLang="en-US" sz="4200" b="1" dirty="0">
                <a:solidFill>
                  <a:srgbClr val="FFFFFF"/>
                </a:solidFill>
                <a:latin typeface="Arial" pitchFamily="34" charset="0"/>
                <a:ea typeface="Arial" pitchFamily="34" charset="-122"/>
                <a:cs typeface="Arial" pitchFamily="34" charset="-120"/>
              </a:rPr>
              <a:t>System Design</a:t>
            </a:r>
            <a:endParaRPr lang="en-US" sz="4200" dirty="0"/>
          </a:p>
        </p:txBody>
      </p:sp>
      <p:sp>
        <p:nvSpPr>
          <p:cNvPr id="5" name="Text 3"/>
          <p:cNvSpPr txBox="1"/>
          <p:nvPr/>
        </p:nvSpPr>
        <p:spPr>
          <a:xfrm>
            <a:off x="566928" y="3895344"/>
            <a:ext cx="10789920" cy="457200"/>
          </a:xfrm>
          <a:prstGeom prst="rect">
            <a:avLst/>
          </a:prstGeom>
          <a:noFill/>
          <a:ln/>
        </p:spPr>
        <p:txBody>
          <a:bodyPr wrap="square" lIns="0" tIns="0" rIns="0" bIns="0" rtlCol="0" anchor="ctr"/>
          <a:lstStyle/>
          <a:p>
            <a:pPr marL="0" indent="0" algn="l">
              <a:buNone/>
            </a:pPr>
            <a:r>
              <a:rPr lang="en-US" altLang="en-US" sz="2000" dirty="0">
                <a:solidFill>
                  <a:srgbClr val="CBD5E1"/>
                </a:solidFill>
                <a:latin typeface="Arial" pitchFamily="34" charset="0"/>
                <a:ea typeface="Arial" pitchFamily="34" charset="-122"/>
                <a:cs typeface="Arial" pitchFamily="34" charset="-120"/>
              </a:rPr>
              <a:t>Mathematical Optimization / Formulation / Using the App</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164824" y="6492240"/>
            <a:ext cx="457200" cy="219456"/>
          </a:xfrm>
          <a:prstGeom prst="rect">
            <a:avLst/>
          </a:prstGeom>
          <a:noFill/>
          <a:ln/>
        </p:spPr>
        <p:txBody>
          <a:bodyPr wrap="square" lIns="0" tIns="0" rIns="0" bIns="0" rtlCol="0" anchor="ctr"/>
          <a:lstStyle/>
          <a:p>
            <a:pPr marL="0" indent="0" algn="r">
              <a:buNone/>
            </a:pPr>
            <a:fld id="{8B2C3E4A-5D6F-4A1B-9C2D-3E4F5A6B7C8D}" type="slidenum">
              <a:rPr lang="en-US" altLang="ja-JP" sz="1000" dirty="0">
                <a:solidFill>
                  <a:srgbClr val="94A3B8"/>
                </a:solidFill>
                <a:latin typeface="Arial" pitchFamily="34" charset="0"/>
                <a:ea typeface="Arial" pitchFamily="34" charset="-122"/>
                <a:cs typeface="Arial" pitchFamily="34" charset="-120"/>
              </a:rPr>
              <a:t>10</a:t>
            </a:fld>
            <a:endParaRPr lang="en-US" altLang="ja-JP" sz="1000" dirty="0"/>
          </a:p>
        </p:txBody>
      </p:sp>
      <p:sp>
        <p:nvSpPr>
          <p:cNvPr id="3" name="Text 1"/>
          <p:cNvSpPr txBox="1"/>
          <p:nvPr/>
        </p:nvSpPr>
        <p:spPr>
          <a:xfrm>
            <a:off x="566928" y="310896"/>
            <a:ext cx="11055096" cy="237744"/>
          </a:xfrm>
          <a:prstGeom prst="rect">
            <a:avLst/>
          </a:prstGeom>
          <a:noFill/>
          <a:ln/>
        </p:spPr>
        <p:txBody>
          <a:bodyPr wrap="square" lIns="0" tIns="0" rIns="0" bIns="0" rtlCol="0" anchor="ctr"/>
          <a:lstStyle/>
          <a:p>
            <a:pPr marL="0" indent="0" algn="l">
              <a:buNone/>
            </a:pPr>
            <a:r>
              <a:rPr lang="en-US" altLang="en-US" sz="1200" b="1" kern="0" spc="100" dirty="0">
                <a:solidFill>
                  <a:srgbClr val="0284C7"/>
                </a:solidFill>
                <a:latin typeface="Arial" pitchFamily="34" charset="0"/>
                <a:ea typeface="Arial" pitchFamily="34" charset="-122"/>
                <a:cs typeface="Arial" pitchFamily="34" charset="-120"/>
              </a:rPr>
              <a:t>2. System Design</a:t>
            </a:r>
            <a:endParaRPr lang="en-US" sz="1200" dirty="0"/>
          </a:p>
        </p:txBody>
      </p:sp>
      <p:sp>
        <p:nvSpPr>
          <p:cNvPr id="4" name="Text 2"/>
          <p:cNvSpPr txBox="1"/>
          <p:nvPr/>
        </p:nvSpPr>
        <p:spPr>
          <a:xfrm>
            <a:off x="566928" y="566928"/>
            <a:ext cx="11055096" cy="566928"/>
          </a:xfrm>
          <a:prstGeom prst="rect">
            <a:avLst/>
          </a:prstGeom>
          <a:noFill/>
          <a:ln/>
        </p:spPr>
        <p:txBody>
          <a:bodyPr wrap="square" lIns="0" tIns="0" rIns="0" bIns="0" rtlCol="0" anchor="ctr"/>
          <a:lstStyle/>
          <a:p>
            <a:pPr marL="0" indent="0" algn="l">
              <a:buNone/>
            </a:pPr>
            <a:r>
              <a:rPr lang="en-US" altLang="en-US" sz="2800" b="1" dirty="0">
                <a:solidFill>
                  <a:srgbClr val="0F172A"/>
                </a:solidFill>
                <a:latin typeface="Arial" pitchFamily="34" charset="0"/>
                <a:ea typeface="Arial" pitchFamily="34" charset="-122"/>
                <a:cs typeface="Arial" pitchFamily="34" charset="-120"/>
              </a:rPr>
              <a:t>Updated Since the Abstract</a:t>
            </a:r>
            <a:endParaRPr lang="en-US" sz="2800" dirty="0"/>
          </a:p>
        </p:txBody>
      </p:sp>
      <p:sp>
        <p:nvSpPr>
          <p:cNvPr id="5" name="Shape 3"/>
          <p:cNvSpPr/>
          <p:nvPr/>
        </p:nvSpPr>
        <p:spPr>
          <a:xfrm>
            <a:off x="566928" y="1325880"/>
            <a:ext cx="11055096" cy="731520"/>
          </a:xfrm>
          <a:prstGeom prst="roundRect">
            <a:avLst>
              <a:gd name="adj" fmla="val 8750"/>
            </a:avLst>
          </a:prstGeom>
          <a:solidFill>
            <a:srgbClr val="E0F2FE"/>
          </a:solidFill>
          <a:ln w="12700">
            <a:solidFill>
              <a:srgbClr val="BAE6FD"/>
            </a:solidFill>
            <a:prstDash val="solid"/>
          </a:ln>
        </p:spPr>
        <p:txBody>
          <a:bodyPr/>
          <a:lstStyle/>
          <a:p>
            <a:endParaRPr lang="ja-JP" altLang="en-US"/>
          </a:p>
        </p:txBody>
      </p:sp>
      <p:sp>
        <p:nvSpPr>
          <p:cNvPr id="6" name="Text 4"/>
          <p:cNvSpPr txBox="1"/>
          <p:nvPr/>
        </p:nvSpPr>
        <p:spPr>
          <a:xfrm>
            <a:off x="950976" y="1380744"/>
            <a:ext cx="10287000" cy="621792"/>
          </a:xfrm>
          <a:prstGeom prst="rect">
            <a:avLst/>
          </a:prstGeom>
          <a:noFill/>
          <a:ln/>
        </p:spPr>
        <p:txBody>
          <a:bodyPr wrap="square" lIns="0" tIns="0" rIns="0" bIns="0" rtlCol="0" anchor="ctr"/>
          <a:lstStyle/>
          <a:p>
            <a:pPr marL="0" indent="0" algn="l">
              <a:buNone/>
            </a:pPr>
            <a:r>
              <a:rPr lang="en-US" altLang="en-US" sz="1700" b="1" dirty="0">
                <a:solidFill>
                  <a:srgbClr val="0C4A6E"/>
                </a:solidFill>
                <a:latin typeface="Arial" pitchFamily="34" charset="0"/>
                <a:ea typeface="Arial" pitchFamily="34" charset="-122"/>
                <a:cs typeface="Arial" pitchFamily="34" charset="-120"/>
              </a:rPr>
              <a:t>The system has been updated since the Abstract   →   </a:t>
            </a:r>
            <a:r>
              <a:rPr lang="en-US" altLang="en-US" sz="1700" b="1" dirty="0">
                <a:solidFill>
                  <a:srgbClr val="FF0000"/>
                </a:solidFill>
                <a:latin typeface="Arial" pitchFamily="34" charset="0"/>
                <a:ea typeface="Arial" pitchFamily="34" charset="-122"/>
                <a:cs typeface="Arial" pitchFamily="34" charset="-120"/>
              </a:rPr>
              <a:t>Today we present the new version</a:t>
            </a:r>
            <a:endParaRPr lang="en-US" sz="1700" dirty="0">
              <a:solidFill>
                <a:srgbClr val="FF0000"/>
              </a:solidFill>
            </a:endParaRPr>
          </a:p>
        </p:txBody>
      </p:sp>
      <p:sp>
        <p:nvSpPr>
          <p:cNvPr id="9" name="Rounded Rectangle 8"/>
          <p:cNvSpPr/>
          <p:nvPr/>
        </p:nvSpPr>
        <p:spPr>
          <a:xfrm>
            <a:off x="6187440" y="2512502"/>
            <a:ext cx="3749040" cy="365760"/>
          </a:xfrm>
          <a:prstGeom prst="roundRect">
            <a:avLst>
              <a:gd name="adj" fmla="val 50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187440" y="2512502"/>
            <a:ext cx="3749040" cy="365760"/>
          </a:xfrm>
          <a:prstGeom prst="rect">
            <a:avLst/>
          </a:prstGeom>
          <a:noFill/>
        </p:spPr>
        <p:txBody>
          <a:bodyPr wrap="square" lIns="45720" tIns="22860" rIns="45720" bIns="22860" anchor="ctr">
            <a:spAutoFit/>
          </a:bodyPr>
          <a:lstStyle/>
          <a:p>
            <a:pPr algn="ctr"/>
            <a:r>
              <a:rPr sz="1300" b="1" i="0">
                <a:solidFill>
                  <a:srgbClr val="FFFFFF"/>
                </a:solidFill>
                <a:latin typeface="Arial"/>
              </a:rPr>
              <a:t>Today</a:t>
            </a:r>
          </a:p>
        </p:txBody>
      </p:sp>
      <p:sp>
        <p:nvSpPr>
          <p:cNvPr id="11" name="Rounded Rectangle 10"/>
          <p:cNvSpPr/>
          <p:nvPr/>
        </p:nvSpPr>
        <p:spPr>
          <a:xfrm>
            <a:off x="3169920" y="2969702"/>
            <a:ext cx="2926080" cy="68580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61360" y="2969702"/>
            <a:ext cx="2743200" cy="685800"/>
          </a:xfrm>
          <a:prstGeom prst="rect">
            <a:avLst/>
          </a:prstGeom>
          <a:noFill/>
        </p:spPr>
        <p:txBody>
          <a:bodyPr wrap="square" lIns="45720" tIns="22860" rIns="45720" bIns="22860" anchor="ctr">
            <a:spAutoFit/>
          </a:bodyPr>
          <a:lstStyle/>
          <a:p>
            <a:pPr algn="l"/>
            <a:r>
              <a:rPr sz="1500" b="1" i="0">
                <a:solidFill>
                  <a:srgbClr val="0F172A"/>
                </a:solidFill>
                <a:latin typeface="Arial"/>
              </a:rPr>
              <a:t>B  Topic conflicts</a:t>
            </a:r>
          </a:p>
        </p:txBody>
      </p:sp>
      <p:sp>
        <p:nvSpPr>
          <p:cNvPr id="15" name="Rounded Rectangle 14"/>
          <p:cNvSpPr/>
          <p:nvPr/>
        </p:nvSpPr>
        <p:spPr>
          <a:xfrm>
            <a:off x="6187440" y="2969702"/>
            <a:ext cx="3749040" cy="685800"/>
          </a:xfrm>
          <a:prstGeom prst="roundRect">
            <a:avLst>
              <a:gd name="adj" fmla="val 8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78880" y="2969702"/>
            <a:ext cx="3566160" cy="685800"/>
          </a:xfrm>
          <a:prstGeom prst="rect">
            <a:avLst/>
          </a:prstGeom>
          <a:noFill/>
        </p:spPr>
        <p:txBody>
          <a:bodyPr wrap="square" lIns="45720" tIns="22860" rIns="45720" bIns="22860" anchor="ctr">
            <a:spAutoFit/>
          </a:bodyPr>
          <a:lstStyle/>
          <a:p>
            <a:pPr algn="ctr"/>
            <a:r>
              <a:rPr sz="1500" b="1" i="0">
                <a:solidFill>
                  <a:srgbClr val="0C4A6E"/>
                </a:solidFill>
                <a:latin typeface="Arial"/>
              </a:rPr>
              <a:t>Counted</a:t>
            </a:r>
          </a:p>
        </p:txBody>
      </p:sp>
      <p:sp>
        <p:nvSpPr>
          <p:cNvPr id="17" name="Rounded Rectangle 16"/>
          <p:cNvSpPr/>
          <p:nvPr/>
        </p:nvSpPr>
        <p:spPr>
          <a:xfrm>
            <a:off x="3169920" y="3746942"/>
            <a:ext cx="2926080" cy="68580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261360" y="3746942"/>
            <a:ext cx="2743200" cy="685800"/>
          </a:xfrm>
          <a:prstGeom prst="rect">
            <a:avLst/>
          </a:prstGeom>
          <a:noFill/>
        </p:spPr>
        <p:txBody>
          <a:bodyPr wrap="square" lIns="45720" tIns="22860" rIns="45720" bIns="22860" anchor="ctr">
            <a:spAutoFit/>
          </a:bodyPr>
          <a:lstStyle/>
          <a:p>
            <a:pPr algn="l"/>
            <a:r>
              <a:rPr sz="1500" b="1" i="0">
                <a:solidFill>
                  <a:srgbClr val="0F172A"/>
                </a:solidFill>
                <a:latin typeface="Arial"/>
              </a:rPr>
              <a:t>Score</a:t>
            </a:r>
          </a:p>
        </p:txBody>
      </p:sp>
      <p:sp>
        <p:nvSpPr>
          <p:cNvPr id="21" name="Rounded Rectangle 20"/>
          <p:cNvSpPr/>
          <p:nvPr/>
        </p:nvSpPr>
        <p:spPr>
          <a:xfrm>
            <a:off x="6187440" y="3746942"/>
            <a:ext cx="3749040" cy="685800"/>
          </a:xfrm>
          <a:prstGeom prst="roundRect">
            <a:avLst>
              <a:gd name="adj" fmla="val 8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78880" y="3746942"/>
            <a:ext cx="3566160" cy="685800"/>
          </a:xfrm>
          <a:prstGeom prst="rect">
            <a:avLst/>
          </a:prstGeom>
          <a:noFill/>
        </p:spPr>
        <p:txBody>
          <a:bodyPr wrap="square" lIns="45720" tIns="22860" rIns="45720" bIns="22860" anchor="ctr">
            <a:spAutoFit/>
          </a:bodyPr>
          <a:lstStyle/>
          <a:p>
            <a:pPr algn="ctr"/>
            <a:r>
              <a:rPr sz="1500" b="1" i="0">
                <a:solidFill>
                  <a:srgbClr val="0C4A6E"/>
                </a:solidFill>
                <a:latin typeface="Arial"/>
              </a:rPr>
              <a:t>Each term ÷ N  (same scale)</a:t>
            </a:r>
          </a:p>
        </p:txBody>
      </p:sp>
      <p:sp>
        <p:nvSpPr>
          <p:cNvPr id="23" name="Rounded Rectangle 22"/>
          <p:cNvSpPr/>
          <p:nvPr/>
        </p:nvSpPr>
        <p:spPr>
          <a:xfrm>
            <a:off x="3169920" y="4524182"/>
            <a:ext cx="2926080" cy="68580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261360" y="4524182"/>
            <a:ext cx="2743200" cy="685800"/>
          </a:xfrm>
          <a:prstGeom prst="rect">
            <a:avLst/>
          </a:prstGeom>
          <a:noFill/>
        </p:spPr>
        <p:txBody>
          <a:bodyPr wrap="square" lIns="45720" tIns="22860" rIns="45720" bIns="22860" anchor="ctr">
            <a:spAutoFit/>
          </a:bodyPr>
          <a:lstStyle/>
          <a:p>
            <a:pPr algn="l"/>
            <a:r>
              <a:rPr sz="1500" b="1" i="0">
                <a:solidFill>
                  <a:srgbClr val="0F172A"/>
                </a:solidFill>
                <a:latin typeface="Arial"/>
              </a:rPr>
              <a:t>Time  (40 talks, equal weights)</a:t>
            </a:r>
          </a:p>
        </p:txBody>
      </p:sp>
      <p:sp>
        <p:nvSpPr>
          <p:cNvPr id="27" name="Rounded Rectangle 26"/>
          <p:cNvSpPr/>
          <p:nvPr/>
        </p:nvSpPr>
        <p:spPr>
          <a:xfrm>
            <a:off x="6187440" y="4524182"/>
            <a:ext cx="3749040" cy="685800"/>
          </a:xfrm>
          <a:prstGeom prst="roundRect">
            <a:avLst>
              <a:gd name="adj" fmla="val 8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278880" y="4524182"/>
            <a:ext cx="3566160" cy="685800"/>
          </a:xfrm>
          <a:prstGeom prst="rect">
            <a:avLst/>
          </a:prstGeom>
          <a:noFill/>
        </p:spPr>
        <p:txBody>
          <a:bodyPr wrap="square" lIns="45720" tIns="22860" rIns="45720" bIns="22860" anchor="ctr">
            <a:spAutoFit/>
          </a:bodyPr>
          <a:lstStyle/>
          <a:p>
            <a:pPr algn="ctr"/>
            <a:r>
              <a:rPr sz="2200" b="1" i="0">
                <a:solidFill>
                  <a:srgbClr val="0C4A6E"/>
                </a:solidFill>
                <a:latin typeface="Arial"/>
              </a:rPr>
              <a:t>≈ 1,400 s</a:t>
            </a:r>
          </a:p>
        </p:txBody>
      </p:sp>
      <p:sp>
        <p:nvSpPr>
          <p:cNvPr id="29" name="TextBox 28"/>
          <p:cNvSpPr txBox="1"/>
          <p:nvPr/>
        </p:nvSpPr>
        <p:spPr>
          <a:xfrm>
            <a:off x="3169920" y="5438582"/>
            <a:ext cx="6400800" cy="274320"/>
          </a:xfrm>
          <a:prstGeom prst="rect">
            <a:avLst/>
          </a:prstGeom>
          <a:noFill/>
        </p:spPr>
        <p:txBody>
          <a:bodyPr wrap="square" lIns="45720" tIns="22860" rIns="45720" bIns="22860">
            <a:spAutoFit/>
          </a:bodyPr>
          <a:lstStyle/>
          <a:p>
            <a:r>
              <a:rPr sz="1200" b="0" i="0">
                <a:solidFill>
                  <a:srgbClr val="64748B"/>
                </a:solidFill>
                <a:latin typeface="Arial"/>
              </a:rPr>
              <a:t>Details → Appendix A3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566928" y="310896"/>
            <a:ext cx="11055096" cy="237744"/>
          </a:xfrm>
          <a:prstGeom prst="rect">
            <a:avLst/>
          </a:prstGeom>
          <a:noFill/>
          <a:ln/>
        </p:spPr>
        <p:txBody>
          <a:bodyPr wrap="square" lIns="0" tIns="0" rIns="0" bIns="0" rtlCol="0" anchor="ctr"/>
          <a:lstStyle/>
          <a:p>
            <a:pPr marL="0" indent="0" algn="l">
              <a:buNone/>
            </a:pPr>
            <a:r>
              <a:rPr lang="en-US" altLang="en-US" sz="1200" b="1" kern="0" spc="100" dirty="0">
                <a:solidFill>
                  <a:srgbClr val="0284C7"/>
                </a:solidFill>
                <a:latin typeface="Arial" pitchFamily="34" charset="0"/>
                <a:ea typeface="Arial" pitchFamily="34" charset="-122"/>
                <a:cs typeface="Arial" pitchFamily="34" charset="-120"/>
              </a:rPr>
              <a:t>2. System Design</a:t>
            </a:r>
            <a:endParaRPr lang="en-US" sz="1200" dirty="0"/>
          </a:p>
        </p:txBody>
      </p:sp>
      <p:sp>
        <p:nvSpPr>
          <p:cNvPr id="4" name="Text 2"/>
          <p:cNvSpPr txBox="1"/>
          <p:nvPr/>
        </p:nvSpPr>
        <p:spPr>
          <a:xfrm>
            <a:off x="566928" y="566928"/>
            <a:ext cx="11055096" cy="566928"/>
          </a:xfrm>
          <a:prstGeom prst="rect">
            <a:avLst/>
          </a:prstGeom>
          <a:noFill/>
          <a:ln/>
        </p:spPr>
        <p:txBody>
          <a:bodyPr wrap="square" lIns="0" tIns="0" rIns="0" bIns="0" rtlCol="0" anchor="ctr"/>
          <a:lstStyle/>
          <a:p>
            <a:pPr marL="0" indent="0" algn="l">
              <a:buNone/>
            </a:pPr>
            <a:r>
              <a:rPr lang="en-US" altLang="en-US" sz="2800" b="1" dirty="0">
                <a:solidFill>
                  <a:srgbClr val="0F172A"/>
                </a:solidFill>
                <a:latin typeface="Arial" pitchFamily="34" charset="0"/>
                <a:ea typeface="Arial" pitchFamily="34" charset="-122"/>
                <a:cs typeface="Arial" pitchFamily="34" charset="-120"/>
              </a:rPr>
              <a:t>System Overview</a:t>
            </a:r>
            <a:endParaRPr lang="en-US" sz="2800" dirty="0"/>
          </a:p>
        </p:txBody>
      </p:sp>
      <p:sp>
        <p:nvSpPr>
          <p:cNvPr id="5" name="Shape 3"/>
          <p:cNvSpPr/>
          <p:nvPr/>
        </p:nvSpPr>
        <p:spPr>
          <a:xfrm>
            <a:off x="566928" y="1895223"/>
            <a:ext cx="3319272" cy="2761488"/>
          </a:xfrm>
          <a:prstGeom prst="roundRect">
            <a:avLst>
              <a:gd name="adj" fmla="val 2318"/>
            </a:avLst>
          </a:prstGeom>
          <a:solidFill>
            <a:srgbClr val="F8FAFC"/>
          </a:solidFill>
          <a:ln w="12700">
            <a:solidFill>
              <a:srgbClr val="E2E8F0"/>
            </a:solidFill>
            <a:prstDash val="solid"/>
          </a:ln>
        </p:spPr>
        <p:txBody>
          <a:bodyPr/>
          <a:lstStyle/>
          <a:p>
            <a:endParaRPr lang="ja-JP" altLang="en-US"/>
          </a:p>
        </p:txBody>
      </p:sp>
      <p:sp>
        <p:nvSpPr>
          <p:cNvPr id="6" name="Text 4"/>
          <p:cNvSpPr txBox="1"/>
          <p:nvPr/>
        </p:nvSpPr>
        <p:spPr>
          <a:xfrm>
            <a:off x="841248" y="2096391"/>
            <a:ext cx="2770632" cy="365760"/>
          </a:xfrm>
          <a:prstGeom prst="rect">
            <a:avLst/>
          </a:prstGeom>
          <a:noFill/>
          <a:ln/>
        </p:spPr>
        <p:txBody>
          <a:bodyPr wrap="square" lIns="0" tIns="0" rIns="0" bIns="0" rtlCol="0" anchor="ctr"/>
          <a:lstStyle/>
          <a:p>
            <a:pPr marL="0" indent="0" algn="l">
              <a:buNone/>
            </a:pPr>
            <a:r>
              <a:rPr lang="en-US" altLang="en-US" sz="1700" b="1" dirty="0">
                <a:solidFill>
                  <a:srgbClr val="0284C7"/>
                </a:solidFill>
                <a:latin typeface="Arial" pitchFamily="34" charset="0"/>
                <a:ea typeface="Arial" pitchFamily="34" charset="-122"/>
                <a:cs typeface="Arial" pitchFamily="34" charset="-120"/>
              </a:rPr>
              <a:t>①  Input   </a:t>
            </a:r>
            <a:r>
              <a:rPr lang="en-US" altLang="en-US" sz="1700" b="1" dirty="0">
                <a:solidFill>
                  <a:srgbClr val="0F172A"/>
                </a:solidFill>
                <a:latin typeface="Arial" pitchFamily="34" charset="0"/>
                <a:ea typeface="Arial" pitchFamily="34" charset="-122"/>
                <a:cs typeface="Arial" pitchFamily="34" charset="-120"/>
              </a:rPr>
              <a:t>Excel</a:t>
            </a:r>
            <a:endParaRPr lang="en-US" sz="1700" dirty="0"/>
          </a:p>
        </p:txBody>
      </p:sp>
      <p:sp>
        <p:nvSpPr>
          <p:cNvPr id="7" name="Shape 5"/>
          <p:cNvSpPr/>
          <p:nvPr/>
        </p:nvSpPr>
        <p:spPr>
          <a:xfrm rot="5400000">
            <a:off x="4050792" y="3138807"/>
            <a:ext cx="219456" cy="274320"/>
          </a:xfrm>
          <a:prstGeom prst="triangle">
            <a:avLst/>
          </a:prstGeom>
          <a:solidFill>
            <a:srgbClr val="94A3B8"/>
          </a:solidFill>
          <a:ln w="12700">
            <a:solidFill>
              <a:srgbClr val="94A3B8"/>
            </a:solidFill>
            <a:prstDash val="solid"/>
          </a:ln>
        </p:spPr>
        <p:txBody>
          <a:bodyPr/>
          <a:lstStyle/>
          <a:p>
            <a:endParaRPr lang="ja-JP" altLang="en-US"/>
          </a:p>
        </p:txBody>
      </p:sp>
      <p:sp>
        <p:nvSpPr>
          <p:cNvPr id="8" name="Shape 6"/>
          <p:cNvSpPr/>
          <p:nvPr/>
        </p:nvSpPr>
        <p:spPr>
          <a:xfrm>
            <a:off x="4434840" y="1895223"/>
            <a:ext cx="3319272" cy="2761488"/>
          </a:xfrm>
          <a:prstGeom prst="roundRect">
            <a:avLst>
              <a:gd name="adj" fmla="val 2318"/>
            </a:avLst>
          </a:prstGeom>
          <a:solidFill>
            <a:srgbClr val="E0F2FE"/>
          </a:solidFill>
          <a:ln w="12700">
            <a:solidFill>
              <a:srgbClr val="BAE6FD"/>
            </a:solidFill>
            <a:prstDash val="solid"/>
          </a:ln>
        </p:spPr>
        <p:txBody>
          <a:bodyPr/>
          <a:lstStyle/>
          <a:p>
            <a:endParaRPr lang="ja-JP" altLang="en-US"/>
          </a:p>
        </p:txBody>
      </p:sp>
      <p:sp>
        <p:nvSpPr>
          <p:cNvPr id="9" name="Text 7"/>
          <p:cNvSpPr txBox="1"/>
          <p:nvPr/>
        </p:nvSpPr>
        <p:spPr>
          <a:xfrm>
            <a:off x="4709160" y="2096391"/>
            <a:ext cx="2770632" cy="365760"/>
          </a:xfrm>
          <a:prstGeom prst="rect">
            <a:avLst/>
          </a:prstGeom>
          <a:noFill/>
          <a:ln/>
        </p:spPr>
        <p:txBody>
          <a:bodyPr wrap="square" lIns="0" tIns="0" rIns="0" bIns="0" rtlCol="0" anchor="ctr"/>
          <a:lstStyle/>
          <a:p>
            <a:pPr marL="0" indent="0" algn="l">
              <a:buNone/>
            </a:pPr>
            <a:r>
              <a:rPr lang="en-US" altLang="en-US" sz="1700" b="1" dirty="0">
                <a:solidFill>
                  <a:srgbClr val="0284C7"/>
                </a:solidFill>
                <a:latin typeface="Arial" pitchFamily="34" charset="0"/>
                <a:ea typeface="Arial" pitchFamily="34" charset="-122"/>
                <a:cs typeface="Arial" pitchFamily="34" charset="-120"/>
              </a:rPr>
              <a:t>②  Compute   </a:t>
            </a:r>
            <a:r>
              <a:rPr lang="en-US" altLang="en-US" sz="1700" b="1" dirty="0">
                <a:solidFill>
                  <a:srgbClr val="0F172A"/>
                </a:solidFill>
                <a:latin typeface="Arial" pitchFamily="34" charset="0"/>
                <a:ea typeface="Arial" pitchFamily="34" charset="-122"/>
                <a:cs typeface="Arial" pitchFamily="34" charset="-120"/>
              </a:rPr>
              <a:t>App</a:t>
            </a:r>
            <a:endParaRPr lang="en-US" sz="1700" dirty="0"/>
          </a:p>
        </p:txBody>
      </p:sp>
      <p:sp>
        <p:nvSpPr>
          <p:cNvPr id="10" name="Shape 8"/>
          <p:cNvSpPr/>
          <p:nvPr/>
        </p:nvSpPr>
        <p:spPr>
          <a:xfrm rot="5400000">
            <a:off x="7918704" y="3138807"/>
            <a:ext cx="219456" cy="274320"/>
          </a:xfrm>
          <a:prstGeom prst="triangle">
            <a:avLst/>
          </a:prstGeom>
          <a:solidFill>
            <a:srgbClr val="94A3B8"/>
          </a:solidFill>
          <a:ln w="12700">
            <a:solidFill>
              <a:srgbClr val="94A3B8"/>
            </a:solidFill>
            <a:prstDash val="solid"/>
          </a:ln>
        </p:spPr>
        <p:txBody>
          <a:bodyPr/>
          <a:lstStyle/>
          <a:p>
            <a:endParaRPr lang="ja-JP" altLang="en-US"/>
          </a:p>
        </p:txBody>
      </p:sp>
      <p:sp>
        <p:nvSpPr>
          <p:cNvPr id="11" name="Shape 9"/>
          <p:cNvSpPr/>
          <p:nvPr/>
        </p:nvSpPr>
        <p:spPr>
          <a:xfrm>
            <a:off x="8302752" y="1895223"/>
            <a:ext cx="3319272" cy="2761488"/>
          </a:xfrm>
          <a:prstGeom prst="roundRect">
            <a:avLst>
              <a:gd name="adj" fmla="val 2318"/>
            </a:avLst>
          </a:prstGeom>
          <a:solidFill>
            <a:srgbClr val="F8FAFC"/>
          </a:solidFill>
          <a:ln w="12700">
            <a:solidFill>
              <a:srgbClr val="E2E8F0"/>
            </a:solidFill>
            <a:prstDash val="solid"/>
          </a:ln>
        </p:spPr>
        <p:txBody>
          <a:bodyPr/>
          <a:lstStyle/>
          <a:p>
            <a:endParaRPr lang="ja-JP" altLang="en-US"/>
          </a:p>
        </p:txBody>
      </p:sp>
      <p:sp>
        <p:nvSpPr>
          <p:cNvPr id="12" name="Text 10"/>
          <p:cNvSpPr txBox="1"/>
          <p:nvPr/>
        </p:nvSpPr>
        <p:spPr>
          <a:xfrm>
            <a:off x="8577072" y="2096391"/>
            <a:ext cx="2770632" cy="365760"/>
          </a:xfrm>
          <a:prstGeom prst="rect">
            <a:avLst/>
          </a:prstGeom>
          <a:noFill/>
          <a:ln/>
        </p:spPr>
        <p:txBody>
          <a:bodyPr wrap="square" lIns="0" tIns="0" rIns="0" bIns="0" rtlCol="0" anchor="ctr"/>
          <a:lstStyle/>
          <a:p>
            <a:pPr marL="0" indent="0" algn="l">
              <a:buNone/>
            </a:pPr>
            <a:r>
              <a:rPr lang="en-US" altLang="en-US" sz="1700" b="1" dirty="0">
                <a:solidFill>
                  <a:srgbClr val="0284C7"/>
                </a:solidFill>
                <a:latin typeface="Arial" pitchFamily="34" charset="0"/>
                <a:ea typeface="Arial" pitchFamily="34" charset="-122"/>
                <a:cs typeface="Arial" pitchFamily="34" charset="-120"/>
              </a:rPr>
              <a:t>③  Output   </a:t>
            </a:r>
            <a:r>
              <a:rPr lang="en-US" altLang="en-US" sz="1700" b="1" dirty="0">
                <a:solidFill>
                  <a:srgbClr val="0F172A"/>
                </a:solidFill>
                <a:latin typeface="Arial" pitchFamily="34" charset="0"/>
                <a:ea typeface="Arial" pitchFamily="34" charset="-122"/>
                <a:cs typeface="Arial" pitchFamily="34" charset="-120"/>
              </a:rPr>
              <a:t>Excel</a:t>
            </a:r>
            <a:endParaRPr lang="en-US" sz="1700" dirty="0"/>
          </a:p>
        </p:txBody>
      </p:sp>
      <p:sp>
        <p:nvSpPr>
          <p:cNvPr id="13" name="Shape 11"/>
          <p:cNvSpPr/>
          <p:nvPr/>
        </p:nvSpPr>
        <p:spPr>
          <a:xfrm>
            <a:off x="841248" y="2681607"/>
            <a:ext cx="692658" cy="274320"/>
          </a:xfrm>
          <a:prstGeom prst="rect">
            <a:avLst/>
          </a:prstGeom>
          <a:solidFill>
            <a:srgbClr val="0284C7"/>
          </a:solidFill>
          <a:ln w="9525">
            <a:solidFill>
              <a:srgbClr val="CBD5E1"/>
            </a:solidFill>
            <a:prstDash val="solid"/>
          </a:ln>
        </p:spPr>
        <p:txBody>
          <a:bodyPr/>
          <a:lstStyle/>
          <a:p>
            <a:endParaRPr lang="ja-JP" altLang="en-US"/>
          </a:p>
        </p:txBody>
      </p:sp>
      <p:sp>
        <p:nvSpPr>
          <p:cNvPr id="14" name="Shape 12"/>
          <p:cNvSpPr/>
          <p:nvPr/>
        </p:nvSpPr>
        <p:spPr>
          <a:xfrm>
            <a:off x="1533906" y="2681607"/>
            <a:ext cx="692658" cy="274320"/>
          </a:xfrm>
          <a:prstGeom prst="rect">
            <a:avLst/>
          </a:prstGeom>
          <a:solidFill>
            <a:srgbClr val="0284C7"/>
          </a:solidFill>
          <a:ln w="9525">
            <a:solidFill>
              <a:srgbClr val="CBD5E1"/>
            </a:solidFill>
            <a:prstDash val="solid"/>
          </a:ln>
        </p:spPr>
        <p:txBody>
          <a:bodyPr/>
          <a:lstStyle/>
          <a:p>
            <a:endParaRPr lang="ja-JP" altLang="en-US"/>
          </a:p>
        </p:txBody>
      </p:sp>
      <p:sp>
        <p:nvSpPr>
          <p:cNvPr id="15" name="Shape 13"/>
          <p:cNvSpPr/>
          <p:nvPr/>
        </p:nvSpPr>
        <p:spPr>
          <a:xfrm>
            <a:off x="2226564" y="2681607"/>
            <a:ext cx="692658" cy="274320"/>
          </a:xfrm>
          <a:prstGeom prst="rect">
            <a:avLst/>
          </a:prstGeom>
          <a:solidFill>
            <a:srgbClr val="0284C7"/>
          </a:solidFill>
          <a:ln w="9525">
            <a:solidFill>
              <a:srgbClr val="CBD5E1"/>
            </a:solidFill>
            <a:prstDash val="solid"/>
          </a:ln>
        </p:spPr>
        <p:txBody>
          <a:bodyPr/>
          <a:lstStyle/>
          <a:p>
            <a:endParaRPr lang="ja-JP" altLang="en-US"/>
          </a:p>
        </p:txBody>
      </p:sp>
      <p:sp>
        <p:nvSpPr>
          <p:cNvPr id="16" name="Shape 14"/>
          <p:cNvSpPr/>
          <p:nvPr/>
        </p:nvSpPr>
        <p:spPr>
          <a:xfrm>
            <a:off x="2919222" y="2681607"/>
            <a:ext cx="692658" cy="274320"/>
          </a:xfrm>
          <a:prstGeom prst="rect">
            <a:avLst/>
          </a:prstGeom>
          <a:solidFill>
            <a:srgbClr val="CBD5E1"/>
          </a:solidFill>
          <a:ln w="9525">
            <a:solidFill>
              <a:srgbClr val="CBD5E1"/>
            </a:solidFill>
            <a:prstDash val="solid"/>
          </a:ln>
        </p:spPr>
        <p:txBody>
          <a:bodyPr/>
          <a:lstStyle/>
          <a:p>
            <a:endParaRPr lang="ja-JP" altLang="en-US"/>
          </a:p>
        </p:txBody>
      </p:sp>
      <p:sp>
        <p:nvSpPr>
          <p:cNvPr id="17" name="Shape 15"/>
          <p:cNvSpPr/>
          <p:nvPr/>
        </p:nvSpPr>
        <p:spPr>
          <a:xfrm>
            <a:off x="841248" y="2955927"/>
            <a:ext cx="692658" cy="274320"/>
          </a:xfrm>
          <a:prstGeom prst="rect">
            <a:avLst/>
          </a:prstGeom>
          <a:solidFill>
            <a:srgbClr val="FFFFFF"/>
          </a:solidFill>
          <a:ln w="9525">
            <a:solidFill>
              <a:srgbClr val="CBD5E1"/>
            </a:solidFill>
            <a:prstDash val="solid"/>
          </a:ln>
        </p:spPr>
        <p:txBody>
          <a:bodyPr/>
          <a:lstStyle/>
          <a:p>
            <a:endParaRPr lang="ja-JP" altLang="en-US"/>
          </a:p>
        </p:txBody>
      </p:sp>
      <p:sp>
        <p:nvSpPr>
          <p:cNvPr id="18" name="Shape 16"/>
          <p:cNvSpPr/>
          <p:nvPr/>
        </p:nvSpPr>
        <p:spPr>
          <a:xfrm>
            <a:off x="1533906" y="2955927"/>
            <a:ext cx="692658" cy="274320"/>
          </a:xfrm>
          <a:prstGeom prst="rect">
            <a:avLst/>
          </a:prstGeom>
          <a:solidFill>
            <a:srgbClr val="FFFFFF"/>
          </a:solidFill>
          <a:ln w="9525">
            <a:solidFill>
              <a:srgbClr val="CBD5E1"/>
            </a:solidFill>
            <a:prstDash val="solid"/>
          </a:ln>
        </p:spPr>
        <p:txBody>
          <a:bodyPr/>
          <a:lstStyle/>
          <a:p>
            <a:endParaRPr lang="ja-JP" altLang="en-US"/>
          </a:p>
        </p:txBody>
      </p:sp>
      <p:sp>
        <p:nvSpPr>
          <p:cNvPr id="19" name="Shape 17"/>
          <p:cNvSpPr/>
          <p:nvPr/>
        </p:nvSpPr>
        <p:spPr>
          <a:xfrm>
            <a:off x="2226564" y="2955927"/>
            <a:ext cx="692658" cy="274320"/>
          </a:xfrm>
          <a:prstGeom prst="rect">
            <a:avLst/>
          </a:prstGeom>
          <a:solidFill>
            <a:srgbClr val="FFFFFF"/>
          </a:solidFill>
          <a:ln w="9525">
            <a:solidFill>
              <a:srgbClr val="CBD5E1"/>
            </a:solidFill>
            <a:prstDash val="solid"/>
          </a:ln>
        </p:spPr>
        <p:txBody>
          <a:bodyPr/>
          <a:lstStyle/>
          <a:p>
            <a:endParaRPr lang="ja-JP" altLang="en-US"/>
          </a:p>
        </p:txBody>
      </p:sp>
      <p:sp>
        <p:nvSpPr>
          <p:cNvPr id="20" name="Shape 18"/>
          <p:cNvSpPr/>
          <p:nvPr/>
        </p:nvSpPr>
        <p:spPr>
          <a:xfrm>
            <a:off x="2919222" y="2955927"/>
            <a:ext cx="692658" cy="274320"/>
          </a:xfrm>
          <a:prstGeom prst="rect">
            <a:avLst/>
          </a:prstGeom>
          <a:solidFill>
            <a:srgbClr val="FFFFFF"/>
          </a:solidFill>
          <a:ln w="9525">
            <a:solidFill>
              <a:srgbClr val="CBD5E1"/>
            </a:solidFill>
            <a:prstDash val="solid"/>
          </a:ln>
        </p:spPr>
        <p:txBody>
          <a:bodyPr/>
          <a:lstStyle/>
          <a:p>
            <a:endParaRPr lang="ja-JP" altLang="en-US"/>
          </a:p>
        </p:txBody>
      </p:sp>
      <p:sp>
        <p:nvSpPr>
          <p:cNvPr id="21" name="Shape 19"/>
          <p:cNvSpPr/>
          <p:nvPr/>
        </p:nvSpPr>
        <p:spPr>
          <a:xfrm>
            <a:off x="841248" y="3230247"/>
            <a:ext cx="692658" cy="274320"/>
          </a:xfrm>
          <a:prstGeom prst="rect">
            <a:avLst/>
          </a:prstGeom>
          <a:solidFill>
            <a:srgbClr val="FFFFFF"/>
          </a:solidFill>
          <a:ln w="9525">
            <a:solidFill>
              <a:srgbClr val="CBD5E1"/>
            </a:solidFill>
            <a:prstDash val="solid"/>
          </a:ln>
        </p:spPr>
        <p:txBody>
          <a:bodyPr/>
          <a:lstStyle/>
          <a:p>
            <a:endParaRPr lang="ja-JP" altLang="en-US"/>
          </a:p>
        </p:txBody>
      </p:sp>
      <p:sp>
        <p:nvSpPr>
          <p:cNvPr id="22" name="Shape 20"/>
          <p:cNvSpPr/>
          <p:nvPr/>
        </p:nvSpPr>
        <p:spPr>
          <a:xfrm>
            <a:off x="1533906" y="3230247"/>
            <a:ext cx="692658" cy="274320"/>
          </a:xfrm>
          <a:prstGeom prst="rect">
            <a:avLst/>
          </a:prstGeom>
          <a:solidFill>
            <a:srgbClr val="FFFFFF"/>
          </a:solidFill>
          <a:ln w="9525">
            <a:solidFill>
              <a:srgbClr val="CBD5E1"/>
            </a:solidFill>
            <a:prstDash val="solid"/>
          </a:ln>
        </p:spPr>
        <p:txBody>
          <a:bodyPr/>
          <a:lstStyle/>
          <a:p>
            <a:endParaRPr lang="ja-JP" altLang="en-US"/>
          </a:p>
        </p:txBody>
      </p:sp>
      <p:sp>
        <p:nvSpPr>
          <p:cNvPr id="23" name="Shape 21"/>
          <p:cNvSpPr/>
          <p:nvPr/>
        </p:nvSpPr>
        <p:spPr>
          <a:xfrm>
            <a:off x="2226564" y="3230247"/>
            <a:ext cx="692658" cy="274320"/>
          </a:xfrm>
          <a:prstGeom prst="rect">
            <a:avLst/>
          </a:prstGeom>
          <a:solidFill>
            <a:srgbClr val="FFFFFF"/>
          </a:solidFill>
          <a:ln w="9525">
            <a:solidFill>
              <a:srgbClr val="CBD5E1"/>
            </a:solidFill>
            <a:prstDash val="solid"/>
          </a:ln>
        </p:spPr>
        <p:txBody>
          <a:bodyPr/>
          <a:lstStyle/>
          <a:p>
            <a:endParaRPr lang="ja-JP" altLang="en-US"/>
          </a:p>
        </p:txBody>
      </p:sp>
      <p:sp>
        <p:nvSpPr>
          <p:cNvPr id="24" name="Shape 22"/>
          <p:cNvSpPr/>
          <p:nvPr/>
        </p:nvSpPr>
        <p:spPr>
          <a:xfrm>
            <a:off x="2919222" y="3230247"/>
            <a:ext cx="692658" cy="274320"/>
          </a:xfrm>
          <a:prstGeom prst="rect">
            <a:avLst/>
          </a:prstGeom>
          <a:solidFill>
            <a:srgbClr val="FFFFFF"/>
          </a:solidFill>
          <a:ln w="9525">
            <a:solidFill>
              <a:srgbClr val="CBD5E1"/>
            </a:solidFill>
            <a:prstDash val="solid"/>
          </a:ln>
        </p:spPr>
        <p:txBody>
          <a:bodyPr/>
          <a:lstStyle/>
          <a:p>
            <a:endParaRPr lang="ja-JP" altLang="en-US"/>
          </a:p>
        </p:txBody>
      </p:sp>
      <p:sp>
        <p:nvSpPr>
          <p:cNvPr id="25" name="Shape 23"/>
          <p:cNvSpPr/>
          <p:nvPr/>
        </p:nvSpPr>
        <p:spPr>
          <a:xfrm>
            <a:off x="841248" y="3504567"/>
            <a:ext cx="692658" cy="274320"/>
          </a:xfrm>
          <a:prstGeom prst="rect">
            <a:avLst/>
          </a:prstGeom>
          <a:solidFill>
            <a:srgbClr val="FFFFFF"/>
          </a:solidFill>
          <a:ln w="9525">
            <a:solidFill>
              <a:srgbClr val="CBD5E1"/>
            </a:solidFill>
            <a:prstDash val="solid"/>
          </a:ln>
        </p:spPr>
        <p:txBody>
          <a:bodyPr/>
          <a:lstStyle/>
          <a:p>
            <a:endParaRPr lang="ja-JP" altLang="en-US"/>
          </a:p>
        </p:txBody>
      </p:sp>
      <p:sp>
        <p:nvSpPr>
          <p:cNvPr id="26" name="Shape 24"/>
          <p:cNvSpPr/>
          <p:nvPr/>
        </p:nvSpPr>
        <p:spPr>
          <a:xfrm>
            <a:off x="1533906" y="3504567"/>
            <a:ext cx="692658" cy="274320"/>
          </a:xfrm>
          <a:prstGeom prst="rect">
            <a:avLst/>
          </a:prstGeom>
          <a:solidFill>
            <a:srgbClr val="FFFFFF"/>
          </a:solidFill>
          <a:ln w="9525">
            <a:solidFill>
              <a:srgbClr val="CBD5E1"/>
            </a:solidFill>
            <a:prstDash val="solid"/>
          </a:ln>
        </p:spPr>
        <p:txBody>
          <a:bodyPr/>
          <a:lstStyle/>
          <a:p>
            <a:endParaRPr lang="ja-JP" altLang="en-US"/>
          </a:p>
        </p:txBody>
      </p:sp>
      <p:sp>
        <p:nvSpPr>
          <p:cNvPr id="27" name="Shape 25"/>
          <p:cNvSpPr/>
          <p:nvPr/>
        </p:nvSpPr>
        <p:spPr>
          <a:xfrm>
            <a:off x="2226564" y="3504567"/>
            <a:ext cx="692658" cy="274320"/>
          </a:xfrm>
          <a:prstGeom prst="rect">
            <a:avLst/>
          </a:prstGeom>
          <a:solidFill>
            <a:srgbClr val="FFFFFF"/>
          </a:solidFill>
          <a:ln w="9525">
            <a:solidFill>
              <a:srgbClr val="CBD5E1"/>
            </a:solidFill>
            <a:prstDash val="solid"/>
          </a:ln>
        </p:spPr>
        <p:txBody>
          <a:bodyPr/>
          <a:lstStyle/>
          <a:p>
            <a:endParaRPr lang="ja-JP" altLang="en-US"/>
          </a:p>
        </p:txBody>
      </p:sp>
      <p:sp>
        <p:nvSpPr>
          <p:cNvPr id="28" name="Shape 26"/>
          <p:cNvSpPr/>
          <p:nvPr/>
        </p:nvSpPr>
        <p:spPr>
          <a:xfrm>
            <a:off x="2919222" y="3504567"/>
            <a:ext cx="692658" cy="274320"/>
          </a:xfrm>
          <a:prstGeom prst="rect">
            <a:avLst/>
          </a:prstGeom>
          <a:solidFill>
            <a:srgbClr val="FFFFFF"/>
          </a:solidFill>
          <a:ln w="9525">
            <a:solidFill>
              <a:srgbClr val="CBD5E1"/>
            </a:solidFill>
            <a:prstDash val="solid"/>
          </a:ln>
        </p:spPr>
        <p:txBody>
          <a:bodyPr/>
          <a:lstStyle/>
          <a:p>
            <a:endParaRPr lang="ja-JP" altLang="en-US"/>
          </a:p>
        </p:txBody>
      </p:sp>
      <p:sp>
        <p:nvSpPr>
          <p:cNvPr id="29" name="Shape 27"/>
          <p:cNvSpPr/>
          <p:nvPr/>
        </p:nvSpPr>
        <p:spPr>
          <a:xfrm>
            <a:off x="841248" y="3778887"/>
            <a:ext cx="692658" cy="274320"/>
          </a:xfrm>
          <a:prstGeom prst="rect">
            <a:avLst/>
          </a:prstGeom>
          <a:solidFill>
            <a:srgbClr val="FFFFFF"/>
          </a:solidFill>
          <a:ln w="9525">
            <a:solidFill>
              <a:srgbClr val="CBD5E1"/>
            </a:solidFill>
            <a:prstDash val="solid"/>
          </a:ln>
        </p:spPr>
        <p:txBody>
          <a:bodyPr/>
          <a:lstStyle/>
          <a:p>
            <a:endParaRPr lang="ja-JP" altLang="en-US"/>
          </a:p>
        </p:txBody>
      </p:sp>
      <p:sp>
        <p:nvSpPr>
          <p:cNvPr id="30" name="Shape 28"/>
          <p:cNvSpPr/>
          <p:nvPr/>
        </p:nvSpPr>
        <p:spPr>
          <a:xfrm>
            <a:off x="1533906" y="3778887"/>
            <a:ext cx="692658" cy="274320"/>
          </a:xfrm>
          <a:prstGeom prst="rect">
            <a:avLst/>
          </a:prstGeom>
          <a:solidFill>
            <a:srgbClr val="FFFFFF"/>
          </a:solidFill>
          <a:ln w="9525">
            <a:solidFill>
              <a:srgbClr val="CBD5E1"/>
            </a:solidFill>
            <a:prstDash val="solid"/>
          </a:ln>
        </p:spPr>
        <p:txBody>
          <a:bodyPr/>
          <a:lstStyle/>
          <a:p>
            <a:endParaRPr lang="ja-JP" altLang="en-US"/>
          </a:p>
        </p:txBody>
      </p:sp>
      <p:sp>
        <p:nvSpPr>
          <p:cNvPr id="31" name="Shape 29"/>
          <p:cNvSpPr/>
          <p:nvPr/>
        </p:nvSpPr>
        <p:spPr>
          <a:xfrm>
            <a:off x="2226564" y="3778887"/>
            <a:ext cx="692658" cy="274320"/>
          </a:xfrm>
          <a:prstGeom prst="rect">
            <a:avLst/>
          </a:prstGeom>
          <a:solidFill>
            <a:srgbClr val="FFFFFF"/>
          </a:solidFill>
          <a:ln w="9525">
            <a:solidFill>
              <a:srgbClr val="CBD5E1"/>
            </a:solidFill>
            <a:prstDash val="solid"/>
          </a:ln>
        </p:spPr>
        <p:txBody>
          <a:bodyPr/>
          <a:lstStyle/>
          <a:p>
            <a:endParaRPr lang="ja-JP" altLang="en-US"/>
          </a:p>
        </p:txBody>
      </p:sp>
      <p:sp>
        <p:nvSpPr>
          <p:cNvPr id="32" name="Shape 30"/>
          <p:cNvSpPr/>
          <p:nvPr/>
        </p:nvSpPr>
        <p:spPr>
          <a:xfrm>
            <a:off x="2919222" y="3778887"/>
            <a:ext cx="692658" cy="274320"/>
          </a:xfrm>
          <a:prstGeom prst="rect">
            <a:avLst/>
          </a:prstGeom>
          <a:solidFill>
            <a:srgbClr val="FFFFFF"/>
          </a:solidFill>
          <a:ln w="9525">
            <a:solidFill>
              <a:srgbClr val="CBD5E1"/>
            </a:solidFill>
            <a:prstDash val="solid"/>
          </a:ln>
        </p:spPr>
        <p:txBody>
          <a:bodyPr/>
          <a:lstStyle/>
          <a:p>
            <a:endParaRPr lang="ja-JP" altLang="en-US"/>
          </a:p>
        </p:txBody>
      </p:sp>
      <p:sp>
        <p:nvSpPr>
          <p:cNvPr id="33" name="Shape 31"/>
          <p:cNvSpPr/>
          <p:nvPr/>
        </p:nvSpPr>
        <p:spPr>
          <a:xfrm>
            <a:off x="841248" y="4126359"/>
            <a:ext cx="676656" cy="256032"/>
          </a:xfrm>
          <a:prstGeom prst="roundRect">
            <a:avLst>
              <a:gd name="adj" fmla="val 14286"/>
            </a:avLst>
          </a:prstGeom>
          <a:solidFill>
            <a:srgbClr val="FFFFFF"/>
          </a:solidFill>
          <a:ln w="12700">
            <a:solidFill>
              <a:srgbClr val="CBD5E1"/>
            </a:solidFill>
            <a:prstDash val="solid"/>
          </a:ln>
        </p:spPr>
        <p:txBody>
          <a:bodyPr/>
          <a:lstStyle/>
          <a:p>
            <a:endParaRPr lang="ja-JP" altLang="en-US"/>
          </a:p>
        </p:txBody>
      </p:sp>
      <p:sp>
        <p:nvSpPr>
          <p:cNvPr id="34" name="Text 32"/>
          <p:cNvSpPr txBox="1"/>
          <p:nvPr/>
        </p:nvSpPr>
        <p:spPr>
          <a:xfrm>
            <a:off x="841248" y="4126359"/>
            <a:ext cx="676656" cy="256032"/>
          </a:xfrm>
          <a:prstGeom prst="rect">
            <a:avLst/>
          </a:prstGeom>
          <a:noFill/>
          <a:ln/>
        </p:spPr>
        <p:txBody>
          <a:bodyPr wrap="square" lIns="0" tIns="0" rIns="0" bIns="0" rtlCol="0" anchor="ctr"/>
          <a:lstStyle/>
          <a:p>
            <a:pPr marL="0" indent="0" algn="ctr">
              <a:buNone/>
            </a:pPr>
            <a:r>
              <a:rPr lang="ja-JP" altLang="en-US" sz="900" dirty="0">
                <a:solidFill>
                  <a:srgbClr val="475569"/>
                </a:solidFill>
                <a:latin typeface="Arial" pitchFamily="34" charset="0"/>
                <a:ea typeface="Arial" pitchFamily="34" charset="-122"/>
                <a:cs typeface="Arial" pitchFamily="34" charset="-120"/>
              </a:rPr>
              <a:t>Rooms</a:t>
            </a:r>
            <a:endParaRPr lang="ja-JP" sz="900" dirty="0"/>
          </a:p>
        </p:txBody>
      </p:sp>
      <p:sp>
        <p:nvSpPr>
          <p:cNvPr id="35" name="Shape 33"/>
          <p:cNvSpPr/>
          <p:nvPr/>
        </p:nvSpPr>
        <p:spPr>
          <a:xfrm>
            <a:off x="1554480" y="4126359"/>
            <a:ext cx="822960" cy="256032"/>
          </a:xfrm>
          <a:prstGeom prst="roundRect">
            <a:avLst>
              <a:gd name="adj" fmla="val 14286"/>
            </a:avLst>
          </a:prstGeom>
          <a:solidFill>
            <a:srgbClr val="F1F5F9"/>
          </a:solidFill>
          <a:ln w="12700">
            <a:solidFill>
              <a:srgbClr val="CBD5E1"/>
            </a:solidFill>
            <a:prstDash val="solid"/>
          </a:ln>
        </p:spPr>
        <p:txBody>
          <a:bodyPr/>
          <a:lstStyle/>
          <a:p>
            <a:endParaRPr lang="ja-JP" altLang="en-US"/>
          </a:p>
        </p:txBody>
      </p:sp>
      <p:sp>
        <p:nvSpPr>
          <p:cNvPr id="36" name="Text 34"/>
          <p:cNvSpPr txBox="1"/>
          <p:nvPr/>
        </p:nvSpPr>
        <p:spPr>
          <a:xfrm>
            <a:off x="1554480" y="4126359"/>
            <a:ext cx="822960" cy="256032"/>
          </a:xfrm>
          <a:prstGeom prst="rect">
            <a:avLst/>
          </a:prstGeom>
          <a:noFill/>
          <a:ln/>
        </p:spPr>
        <p:txBody>
          <a:bodyPr wrap="square" lIns="0" tIns="0" rIns="0" bIns="0" rtlCol="0" anchor="ctr"/>
          <a:lstStyle/>
          <a:p>
            <a:pPr marL="0" indent="0" algn="ctr">
              <a:buNone/>
            </a:pPr>
            <a:r>
              <a:rPr lang="ja-JP" altLang="en-US" sz="900" dirty="0">
                <a:solidFill>
                  <a:srgbClr val="475569"/>
                </a:solidFill>
                <a:latin typeface="Arial" pitchFamily="34" charset="0"/>
                <a:ea typeface="Arial" pitchFamily="34" charset="-122"/>
                <a:cs typeface="Arial" pitchFamily="34" charset="-120"/>
              </a:rPr>
              <a:t>TimeSlots</a:t>
            </a:r>
            <a:endParaRPr lang="ja-JP" sz="900" dirty="0"/>
          </a:p>
        </p:txBody>
      </p:sp>
      <p:sp>
        <p:nvSpPr>
          <p:cNvPr id="37" name="Shape 35"/>
          <p:cNvSpPr/>
          <p:nvPr/>
        </p:nvSpPr>
        <p:spPr>
          <a:xfrm>
            <a:off x="2414016" y="4126359"/>
            <a:ext cx="1060704" cy="256032"/>
          </a:xfrm>
          <a:prstGeom prst="roundRect">
            <a:avLst>
              <a:gd name="adj" fmla="val 14286"/>
            </a:avLst>
          </a:prstGeom>
          <a:solidFill>
            <a:srgbClr val="F1F5F9"/>
          </a:solidFill>
          <a:ln w="12700">
            <a:solidFill>
              <a:srgbClr val="CBD5E1"/>
            </a:solidFill>
            <a:prstDash val="solid"/>
          </a:ln>
        </p:spPr>
        <p:txBody>
          <a:bodyPr/>
          <a:lstStyle/>
          <a:p>
            <a:endParaRPr lang="ja-JP" altLang="en-US"/>
          </a:p>
        </p:txBody>
      </p:sp>
      <p:sp>
        <p:nvSpPr>
          <p:cNvPr id="38" name="Text 36"/>
          <p:cNvSpPr txBox="1"/>
          <p:nvPr/>
        </p:nvSpPr>
        <p:spPr>
          <a:xfrm>
            <a:off x="2414016" y="4126359"/>
            <a:ext cx="1060704" cy="256032"/>
          </a:xfrm>
          <a:prstGeom prst="rect">
            <a:avLst/>
          </a:prstGeom>
          <a:noFill/>
          <a:ln/>
        </p:spPr>
        <p:txBody>
          <a:bodyPr wrap="square" lIns="0" tIns="0" rIns="0" bIns="0" rtlCol="0" anchor="ctr"/>
          <a:lstStyle/>
          <a:p>
            <a:pPr marL="0" indent="0" algn="ctr">
              <a:buNone/>
            </a:pPr>
            <a:r>
              <a:rPr lang="ja-JP" altLang="en-US" sz="900" dirty="0">
                <a:solidFill>
                  <a:srgbClr val="475569"/>
                </a:solidFill>
                <a:latin typeface="Arial" pitchFamily="34" charset="0"/>
                <a:ea typeface="Arial" pitchFamily="34" charset="-122"/>
                <a:cs typeface="Arial" pitchFamily="34" charset="-120"/>
              </a:rPr>
              <a:t>Presentations</a:t>
            </a:r>
            <a:endParaRPr lang="ja-JP" sz="900" dirty="0"/>
          </a:p>
        </p:txBody>
      </p:sp>
      <p:sp>
        <p:nvSpPr>
          <p:cNvPr id="39" name="Shape 37"/>
          <p:cNvSpPr/>
          <p:nvPr/>
        </p:nvSpPr>
        <p:spPr>
          <a:xfrm>
            <a:off x="4709160" y="2681607"/>
            <a:ext cx="2770632" cy="1700784"/>
          </a:xfrm>
          <a:prstGeom prst="roundRect">
            <a:avLst>
              <a:gd name="adj" fmla="val 2688"/>
            </a:avLst>
          </a:prstGeom>
          <a:solidFill>
            <a:srgbClr val="FFFFFF"/>
          </a:solidFill>
          <a:ln w="12700">
            <a:solidFill>
              <a:srgbClr val="BAE6FD"/>
            </a:solidFill>
            <a:prstDash val="solid"/>
          </a:ln>
        </p:spPr>
        <p:txBody>
          <a:bodyPr/>
          <a:lstStyle/>
          <a:p>
            <a:endParaRPr lang="ja-JP" altLang="en-US"/>
          </a:p>
        </p:txBody>
      </p:sp>
      <p:sp>
        <p:nvSpPr>
          <p:cNvPr id="40" name="Shape 38"/>
          <p:cNvSpPr/>
          <p:nvPr/>
        </p:nvSpPr>
        <p:spPr>
          <a:xfrm>
            <a:off x="4727448" y="2699895"/>
            <a:ext cx="2734056" cy="237744"/>
          </a:xfrm>
          <a:prstGeom prst="rect">
            <a:avLst/>
          </a:prstGeom>
          <a:solidFill>
            <a:srgbClr val="0F172A"/>
          </a:solidFill>
          <a:ln w="9525">
            <a:solidFill>
              <a:srgbClr val="0F172A"/>
            </a:solidFill>
            <a:prstDash val="solid"/>
          </a:ln>
        </p:spPr>
        <p:txBody>
          <a:bodyPr/>
          <a:lstStyle/>
          <a:p>
            <a:endParaRPr lang="ja-JP" altLang="en-US"/>
          </a:p>
        </p:txBody>
      </p:sp>
      <p:sp>
        <p:nvSpPr>
          <p:cNvPr id="41" name="Text 39"/>
          <p:cNvSpPr txBox="1"/>
          <p:nvPr/>
        </p:nvSpPr>
        <p:spPr>
          <a:xfrm>
            <a:off x="4800600" y="2699895"/>
            <a:ext cx="2587752" cy="237744"/>
          </a:xfrm>
          <a:prstGeom prst="rect">
            <a:avLst/>
          </a:prstGeom>
          <a:noFill/>
          <a:ln/>
        </p:spPr>
        <p:txBody>
          <a:bodyPr wrap="square" lIns="0" tIns="0" rIns="0" bIns="0" rtlCol="0" anchor="ctr"/>
          <a:lstStyle/>
          <a:p>
            <a:pPr marL="0" indent="0" algn="l">
              <a:buNone/>
            </a:pPr>
            <a:r>
              <a:rPr lang="ja-JP" altLang="en-US" sz="800" b="1" dirty="0">
                <a:solidFill>
                  <a:srgbClr val="FFFFFF"/>
                </a:solidFill>
                <a:latin typeface="Arial" pitchFamily="34" charset="0"/>
                <a:ea typeface="Arial" pitchFamily="34" charset="-122"/>
                <a:cs typeface="Arial" pitchFamily="34" charset="-120"/>
              </a:rPr>
              <a:t>Conference Presentation Scheduler</a:t>
            </a:r>
            <a:endParaRPr lang="ja-JP" sz="800" dirty="0"/>
          </a:p>
        </p:txBody>
      </p:sp>
      <p:sp>
        <p:nvSpPr>
          <p:cNvPr id="42" name="Shape 40"/>
          <p:cNvSpPr/>
          <p:nvPr/>
        </p:nvSpPr>
        <p:spPr>
          <a:xfrm>
            <a:off x="4873752" y="3157095"/>
            <a:ext cx="1600200" cy="54864"/>
          </a:xfrm>
          <a:prstGeom prst="rect">
            <a:avLst/>
          </a:prstGeom>
          <a:solidFill>
            <a:srgbClr val="CBD5E1"/>
          </a:solidFill>
          <a:ln w="9525">
            <a:solidFill>
              <a:srgbClr val="CBD5E1"/>
            </a:solidFill>
            <a:prstDash val="solid"/>
          </a:ln>
        </p:spPr>
        <p:txBody>
          <a:bodyPr/>
          <a:lstStyle/>
          <a:p>
            <a:endParaRPr lang="ja-JP" altLang="en-US"/>
          </a:p>
        </p:txBody>
      </p:sp>
      <p:sp>
        <p:nvSpPr>
          <p:cNvPr id="43" name="Shape 41"/>
          <p:cNvSpPr/>
          <p:nvPr/>
        </p:nvSpPr>
        <p:spPr>
          <a:xfrm>
            <a:off x="5120640" y="3111375"/>
            <a:ext cx="146304" cy="146304"/>
          </a:xfrm>
          <a:prstGeom prst="ellipse">
            <a:avLst/>
          </a:prstGeom>
          <a:solidFill>
            <a:srgbClr val="0284C7"/>
          </a:solidFill>
          <a:ln w="6350">
            <a:solidFill>
              <a:srgbClr val="0284C7"/>
            </a:solidFill>
            <a:prstDash val="solid"/>
          </a:ln>
        </p:spPr>
        <p:txBody>
          <a:bodyPr/>
          <a:lstStyle/>
          <a:p>
            <a:endParaRPr lang="ja-JP" altLang="en-US"/>
          </a:p>
        </p:txBody>
      </p:sp>
      <p:sp>
        <p:nvSpPr>
          <p:cNvPr id="44" name="Shape 42"/>
          <p:cNvSpPr/>
          <p:nvPr/>
        </p:nvSpPr>
        <p:spPr>
          <a:xfrm>
            <a:off x="4873752" y="3413127"/>
            <a:ext cx="1600200" cy="54864"/>
          </a:xfrm>
          <a:prstGeom prst="rect">
            <a:avLst/>
          </a:prstGeom>
          <a:solidFill>
            <a:srgbClr val="CBD5E1"/>
          </a:solidFill>
          <a:ln w="9525">
            <a:solidFill>
              <a:srgbClr val="CBD5E1"/>
            </a:solidFill>
            <a:prstDash val="solid"/>
          </a:ln>
        </p:spPr>
        <p:txBody>
          <a:bodyPr/>
          <a:lstStyle/>
          <a:p>
            <a:endParaRPr lang="ja-JP" altLang="en-US"/>
          </a:p>
        </p:txBody>
      </p:sp>
      <p:sp>
        <p:nvSpPr>
          <p:cNvPr id="45" name="Shape 43"/>
          <p:cNvSpPr/>
          <p:nvPr/>
        </p:nvSpPr>
        <p:spPr>
          <a:xfrm>
            <a:off x="5422392" y="3367407"/>
            <a:ext cx="146304" cy="146304"/>
          </a:xfrm>
          <a:prstGeom prst="ellipse">
            <a:avLst/>
          </a:prstGeom>
          <a:solidFill>
            <a:srgbClr val="0284C7"/>
          </a:solidFill>
          <a:ln w="6350">
            <a:solidFill>
              <a:srgbClr val="0284C7"/>
            </a:solidFill>
            <a:prstDash val="solid"/>
          </a:ln>
        </p:spPr>
        <p:txBody>
          <a:bodyPr/>
          <a:lstStyle/>
          <a:p>
            <a:endParaRPr lang="ja-JP" altLang="en-US"/>
          </a:p>
        </p:txBody>
      </p:sp>
      <p:sp>
        <p:nvSpPr>
          <p:cNvPr id="46" name="Shape 44"/>
          <p:cNvSpPr/>
          <p:nvPr/>
        </p:nvSpPr>
        <p:spPr>
          <a:xfrm>
            <a:off x="4873752" y="3669159"/>
            <a:ext cx="1600200" cy="54864"/>
          </a:xfrm>
          <a:prstGeom prst="rect">
            <a:avLst/>
          </a:prstGeom>
          <a:solidFill>
            <a:srgbClr val="CBD5E1"/>
          </a:solidFill>
          <a:ln w="9525">
            <a:solidFill>
              <a:srgbClr val="CBD5E1"/>
            </a:solidFill>
            <a:prstDash val="solid"/>
          </a:ln>
        </p:spPr>
        <p:txBody>
          <a:bodyPr/>
          <a:lstStyle/>
          <a:p>
            <a:endParaRPr lang="ja-JP" altLang="en-US"/>
          </a:p>
        </p:txBody>
      </p:sp>
      <p:sp>
        <p:nvSpPr>
          <p:cNvPr id="47" name="Shape 45"/>
          <p:cNvSpPr/>
          <p:nvPr/>
        </p:nvSpPr>
        <p:spPr>
          <a:xfrm>
            <a:off x="5724144" y="3623439"/>
            <a:ext cx="146304" cy="146304"/>
          </a:xfrm>
          <a:prstGeom prst="ellipse">
            <a:avLst/>
          </a:prstGeom>
          <a:solidFill>
            <a:srgbClr val="0284C7"/>
          </a:solidFill>
          <a:ln w="6350">
            <a:solidFill>
              <a:srgbClr val="0284C7"/>
            </a:solidFill>
            <a:prstDash val="solid"/>
          </a:ln>
        </p:spPr>
        <p:txBody>
          <a:bodyPr/>
          <a:lstStyle/>
          <a:p>
            <a:endParaRPr lang="ja-JP" altLang="en-US"/>
          </a:p>
        </p:txBody>
      </p:sp>
      <p:sp>
        <p:nvSpPr>
          <p:cNvPr id="48" name="Shape 46"/>
          <p:cNvSpPr/>
          <p:nvPr/>
        </p:nvSpPr>
        <p:spPr>
          <a:xfrm>
            <a:off x="6492240" y="3925191"/>
            <a:ext cx="868680" cy="310896"/>
          </a:xfrm>
          <a:prstGeom prst="roundRect">
            <a:avLst>
              <a:gd name="adj" fmla="val 50000"/>
            </a:avLst>
          </a:prstGeom>
          <a:solidFill>
            <a:srgbClr val="0284C7"/>
          </a:solidFill>
          <a:ln w="12700">
            <a:solidFill>
              <a:srgbClr val="0284C7"/>
            </a:solidFill>
            <a:prstDash val="solid"/>
          </a:ln>
        </p:spPr>
        <p:txBody>
          <a:bodyPr/>
          <a:lstStyle/>
          <a:p>
            <a:endParaRPr lang="ja-JP" altLang="en-US"/>
          </a:p>
        </p:txBody>
      </p:sp>
      <p:sp>
        <p:nvSpPr>
          <p:cNvPr id="49" name="Text 47"/>
          <p:cNvSpPr txBox="1"/>
          <p:nvPr/>
        </p:nvSpPr>
        <p:spPr>
          <a:xfrm>
            <a:off x="6492240" y="3925191"/>
            <a:ext cx="868680" cy="310896"/>
          </a:xfrm>
          <a:prstGeom prst="rect">
            <a:avLst/>
          </a:prstGeom>
          <a:noFill/>
          <a:ln/>
        </p:spPr>
        <p:txBody>
          <a:bodyPr wrap="square" lIns="0" tIns="0" rIns="0" bIns="0" rtlCol="0" anchor="ctr"/>
          <a:lstStyle/>
          <a:p>
            <a:pPr marL="0" indent="0" algn="ctr">
              <a:buNone/>
            </a:pPr>
            <a:r>
              <a:rPr lang="en-US" altLang="en-US" sz="1050" b="1" dirty="0">
                <a:solidFill>
                  <a:srgbClr val="FFFFFF"/>
                </a:solidFill>
                <a:latin typeface="Arial" pitchFamily="34" charset="0"/>
                <a:ea typeface="Arial" pitchFamily="34" charset="-122"/>
                <a:cs typeface="Arial" pitchFamily="34" charset="-120"/>
              </a:rPr>
              <a:t>► Run</a:t>
            </a:r>
            <a:endParaRPr lang="en-US" sz="1050" dirty="0"/>
          </a:p>
        </p:txBody>
      </p:sp>
      <p:sp>
        <p:nvSpPr>
          <p:cNvPr id="50" name="Shape 48"/>
          <p:cNvSpPr/>
          <p:nvPr/>
        </p:nvSpPr>
        <p:spPr>
          <a:xfrm>
            <a:off x="8604504" y="2709039"/>
            <a:ext cx="499262" cy="219456"/>
          </a:xfrm>
          <a:prstGeom prst="rect">
            <a:avLst/>
          </a:prstGeom>
          <a:solidFill>
            <a:srgbClr val="0284C7"/>
          </a:solidFill>
          <a:ln w="9525">
            <a:solidFill>
              <a:srgbClr val="0284C7"/>
            </a:solidFill>
            <a:prstDash val="solid"/>
          </a:ln>
        </p:spPr>
        <p:txBody>
          <a:bodyPr/>
          <a:lstStyle/>
          <a:p>
            <a:endParaRPr lang="ja-JP" altLang="en-US"/>
          </a:p>
        </p:txBody>
      </p:sp>
      <p:sp>
        <p:nvSpPr>
          <p:cNvPr id="51" name="Shape 49"/>
          <p:cNvSpPr/>
          <p:nvPr/>
        </p:nvSpPr>
        <p:spPr>
          <a:xfrm>
            <a:off x="9158630" y="2709039"/>
            <a:ext cx="499262" cy="219456"/>
          </a:xfrm>
          <a:prstGeom prst="rect">
            <a:avLst/>
          </a:prstGeom>
          <a:solidFill>
            <a:srgbClr val="0284C7"/>
          </a:solidFill>
          <a:ln w="9525">
            <a:solidFill>
              <a:srgbClr val="0284C7"/>
            </a:solidFill>
            <a:prstDash val="solid"/>
          </a:ln>
        </p:spPr>
        <p:txBody>
          <a:bodyPr/>
          <a:lstStyle/>
          <a:p>
            <a:endParaRPr lang="ja-JP" altLang="en-US"/>
          </a:p>
        </p:txBody>
      </p:sp>
      <p:sp>
        <p:nvSpPr>
          <p:cNvPr id="52" name="Shape 50"/>
          <p:cNvSpPr/>
          <p:nvPr/>
        </p:nvSpPr>
        <p:spPr>
          <a:xfrm>
            <a:off x="9712757" y="2709039"/>
            <a:ext cx="499262" cy="219456"/>
          </a:xfrm>
          <a:prstGeom prst="rect">
            <a:avLst/>
          </a:prstGeom>
          <a:solidFill>
            <a:srgbClr val="0284C7"/>
          </a:solidFill>
          <a:ln w="9525">
            <a:solidFill>
              <a:srgbClr val="0284C7"/>
            </a:solidFill>
            <a:prstDash val="solid"/>
          </a:ln>
        </p:spPr>
        <p:txBody>
          <a:bodyPr/>
          <a:lstStyle/>
          <a:p>
            <a:endParaRPr lang="ja-JP" altLang="en-US"/>
          </a:p>
        </p:txBody>
      </p:sp>
      <p:sp>
        <p:nvSpPr>
          <p:cNvPr id="53" name="Shape 51"/>
          <p:cNvSpPr/>
          <p:nvPr/>
        </p:nvSpPr>
        <p:spPr>
          <a:xfrm>
            <a:off x="10266883" y="2709039"/>
            <a:ext cx="499262" cy="219456"/>
          </a:xfrm>
          <a:prstGeom prst="rect">
            <a:avLst/>
          </a:prstGeom>
          <a:solidFill>
            <a:srgbClr val="D97706"/>
          </a:solidFill>
          <a:ln w="9525">
            <a:solidFill>
              <a:srgbClr val="D97706"/>
            </a:solidFill>
            <a:prstDash val="solid"/>
          </a:ln>
        </p:spPr>
        <p:txBody>
          <a:bodyPr/>
          <a:lstStyle/>
          <a:p>
            <a:endParaRPr lang="ja-JP" altLang="en-US"/>
          </a:p>
        </p:txBody>
      </p:sp>
      <p:sp>
        <p:nvSpPr>
          <p:cNvPr id="54" name="Shape 52"/>
          <p:cNvSpPr/>
          <p:nvPr/>
        </p:nvSpPr>
        <p:spPr>
          <a:xfrm>
            <a:off x="10821010" y="2709039"/>
            <a:ext cx="499262" cy="219456"/>
          </a:xfrm>
          <a:prstGeom prst="rect">
            <a:avLst/>
          </a:prstGeom>
          <a:solidFill>
            <a:srgbClr val="D97706"/>
          </a:solidFill>
          <a:ln w="9525">
            <a:solidFill>
              <a:srgbClr val="D97706"/>
            </a:solidFill>
            <a:prstDash val="solid"/>
          </a:ln>
        </p:spPr>
        <p:txBody>
          <a:bodyPr/>
          <a:lstStyle/>
          <a:p>
            <a:endParaRPr lang="ja-JP" altLang="en-US"/>
          </a:p>
        </p:txBody>
      </p:sp>
      <p:sp>
        <p:nvSpPr>
          <p:cNvPr id="55" name="Shape 53"/>
          <p:cNvSpPr/>
          <p:nvPr/>
        </p:nvSpPr>
        <p:spPr>
          <a:xfrm>
            <a:off x="8604504" y="2983359"/>
            <a:ext cx="499262" cy="219456"/>
          </a:xfrm>
          <a:prstGeom prst="rect">
            <a:avLst/>
          </a:prstGeom>
          <a:solidFill>
            <a:srgbClr val="059669"/>
          </a:solidFill>
          <a:ln w="9525">
            <a:solidFill>
              <a:srgbClr val="059669"/>
            </a:solidFill>
            <a:prstDash val="solid"/>
          </a:ln>
        </p:spPr>
        <p:txBody>
          <a:bodyPr/>
          <a:lstStyle/>
          <a:p>
            <a:endParaRPr lang="ja-JP" altLang="en-US"/>
          </a:p>
        </p:txBody>
      </p:sp>
      <p:sp>
        <p:nvSpPr>
          <p:cNvPr id="56" name="Shape 54"/>
          <p:cNvSpPr/>
          <p:nvPr/>
        </p:nvSpPr>
        <p:spPr>
          <a:xfrm>
            <a:off x="9158630" y="2983359"/>
            <a:ext cx="499262" cy="219456"/>
          </a:xfrm>
          <a:prstGeom prst="rect">
            <a:avLst/>
          </a:prstGeom>
          <a:solidFill>
            <a:srgbClr val="059669"/>
          </a:solidFill>
          <a:ln w="9525">
            <a:solidFill>
              <a:srgbClr val="059669"/>
            </a:solidFill>
            <a:prstDash val="solid"/>
          </a:ln>
        </p:spPr>
        <p:txBody>
          <a:bodyPr/>
          <a:lstStyle/>
          <a:p>
            <a:endParaRPr lang="ja-JP" altLang="en-US"/>
          </a:p>
        </p:txBody>
      </p:sp>
      <p:sp>
        <p:nvSpPr>
          <p:cNvPr id="57" name="Shape 55"/>
          <p:cNvSpPr/>
          <p:nvPr/>
        </p:nvSpPr>
        <p:spPr>
          <a:xfrm>
            <a:off x="9712757" y="2983359"/>
            <a:ext cx="499262" cy="219456"/>
          </a:xfrm>
          <a:prstGeom prst="rect">
            <a:avLst/>
          </a:prstGeom>
          <a:solidFill>
            <a:srgbClr val="7C3AED"/>
          </a:solidFill>
          <a:ln w="9525">
            <a:solidFill>
              <a:srgbClr val="7C3AED"/>
            </a:solidFill>
            <a:prstDash val="solid"/>
          </a:ln>
        </p:spPr>
        <p:txBody>
          <a:bodyPr/>
          <a:lstStyle/>
          <a:p>
            <a:endParaRPr lang="ja-JP" altLang="en-US"/>
          </a:p>
        </p:txBody>
      </p:sp>
      <p:sp>
        <p:nvSpPr>
          <p:cNvPr id="58" name="Shape 56"/>
          <p:cNvSpPr/>
          <p:nvPr/>
        </p:nvSpPr>
        <p:spPr>
          <a:xfrm>
            <a:off x="10266883" y="2983359"/>
            <a:ext cx="499262" cy="219456"/>
          </a:xfrm>
          <a:prstGeom prst="rect">
            <a:avLst/>
          </a:prstGeom>
          <a:solidFill>
            <a:srgbClr val="7C3AED"/>
          </a:solidFill>
          <a:ln w="9525">
            <a:solidFill>
              <a:srgbClr val="7C3AED"/>
            </a:solidFill>
            <a:prstDash val="solid"/>
          </a:ln>
        </p:spPr>
        <p:txBody>
          <a:bodyPr/>
          <a:lstStyle/>
          <a:p>
            <a:endParaRPr lang="ja-JP" altLang="en-US"/>
          </a:p>
        </p:txBody>
      </p:sp>
      <p:sp>
        <p:nvSpPr>
          <p:cNvPr id="59" name="Shape 57"/>
          <p:cNvSpPr/>
          <p:nvPr/>
        </p:nvSpPr>
        <p:spPr>
          <a:xfrm>
            <a:off x="10821010" y="2983359"/>
            <a:ext cx="499262" cy="219456"/>
          </a:xfrm>
          <a:prstGeom prst="rect">
            <a:avLst/>
          </a:prstGeom>
          <a:solidFill>
            <a:srgbClr val="7C3AED"/>
          </a:solidFill>
          <a:ln w="9525">
            <a:solidFill>
              <a:srgbClr val="7C3AED"/>
            </a:solidFill>
            <a:prstDash val="solid"/>
          </a:ln>
        </p:spPr>
        <p:txBody>
          <a:bodyPr/>
          <a:lstStyle/>
          <a:p>
            <a:endParaRPr lang="ja-JP" altLang="en-US"/>
          </a:p>
        </p:txBody>
      </p:sp>
      <p:sp>
        <p:nvSpPr>
          <p:cNvPr id="60" name="Shape 58"/>
          <p:cNvSpPr/>
          <p:nvPr/>
        </p:nvSpPr>
        <p:spPr>
          <a:xfrm>
            <a:off x="8604504" y="3257679"/>
            <a:ext cx="499262" cy="219456"/>
          </a:xfrm>
          <a:prstGeom prst="rect">
            <a:avLst/>
          </a:prstGeom>
          <a:solidFill>
            <a:srgbClr val="E11D48"/>
          </a:solidFill>
          <a:ln w="9525">
            <a:solidFill>
              <a:srgbClr val="E11D48"/>
            </a:solidFill>
            <a:prstDash val="solid"/>
          </a:ln>
        </p:spPr>
        <p:txBody>
          <a:bodyPr/>
          <a:lstStyle/>
          <a:p>
            <a:endParaRPr lang="ja-JP" altLang="en-US"/>
          </a:p>
        </p:txBody>
      </p:sp>
      <p:sp>
        <p:nvSpPr>
          <p:cNvPr id="61" name="Shape 59"/>
          <p:cNvSpPr/>
          <p:nvPr/>
        </p:nvSpPr>
        <p:spPr>
          <a:xfrm>
            <a:off x="9158630" y="3257679"/>
            <a:ext cx="499262" cy="219456"/>
          </a:xfrm>
          <a:prstGeom prst="rect">
            <a:avLst/>
          </a:prstGeom>
          <a:solidFill>
            <a:srgbClr val="E11D48"/>
          </a:solidFill>
          <a:ln w="9525">
            <a:solidFill>
              <a:srgbClr val="E11D48"/>
            </a:solidFill>
            <a:prstDash val="solid"/>
          </a:ln>
        </p:spPr>
        <p:txBody>
          <a:bodyPr/>
          <a:lstStyle/>
          <a:p>
            <a:endParaRPr lang="ja-JP" altLang="en-US"/>
          </a:p>
        </p:txBody>
      </p:sp>
      <p:sp>
        <p:nvSpPr>
          <p:cNvPr id="62" name="Shape 60"/>
          <p:cNvSpPr/>
          <p:nvPr/>
        </p:nvSpPr>
        <p:spPr>
          <a:xfrm>
            <a:off x="9712757" y="3257679"/>
            <a:ext cx="499262" cy="219456"/>
          </a:xfrm>
          <a:prstGeom prst="rect">
            <a:avLst/>
          </a:prstGeom>
          <a:solidFill>
            <a:srgbClr val="E11D48"/>
          </a:solidFill>
          <a:ln w="9525">
            <a:solidFill>
              <a:srgbClr val="E11D48"/>
            </a:solidFill>
            <a:prstDash val="solid"/>
          </a:ln>
        </p:spPr>
        <p:txBody>
          <a:bodyPr/>
          <a:lstStyle/>
          <a:p>
            <a:endParaRPr lang="ja-JP" altLang="en-US"/>
          </a:p>
        </p:txBody>
      </p:sp>
      <p:sp>
        <p:nvSpPr>
          <p:cNvPr id="63" name="Shape 61"/>
          <p:cNvSpPr/>
          <p:nvPr/>
        </p:nvSpPr>
        <p:spPr>
          <a:xfrm>
            <a:off x="10266883" y="3257679"/>
            <a:ext cx="499262" cy="219456"/>
          </a:xfrm>
          <a:prstGeom prst="rect">
            <a:avLst/>
          </a:prstGeom>
          <a:solidFill>
            <a:srgbClr val="0284C7"/>
          </a:solidFill>
          <a:ln w="9525">
            <a:solidFill>
              <a:srgbClr val="0284C7"/>
            </a:solidFill>
            <a:prstDash val="solid"/>
          </a:ln>
        </p:spPr>
        <p:txBody>
          <a:bodyPr/>
          <a:lstStyle/>
          <a:p>
            <a:endParaRPr lang="ja-JP" altLang="en-US"/>
          </a:p>
        </p:txBody>
      </p:sp>
      <p:sp>
        <p:nvSpPr>
          <p:cNvPr id="64" name="Shape 62"/>
          <p:cNvSpPr/>
          <p:nvPr/>
        </p:nvSpPr>
        <p:spPr>
          <a:xfrm>
            <a:off x="10821010" y="3257679"/>
            <a:ext cx="499262" cy="219456"/>
          </a:xfrm>
          <a:prstGeom prst="rect">
            <a:avLst/>
          </a:prstGeom>
          <a:solidFill>
            <a:srgbClr val="0284C7"/>
          </a:solidFill>
          <a:ln w="9525">
            <a:solidFill>
              <a:srgbClr val="0284C7"/>
            </a:solidFill>
            <a:prstDash val="solid"/>
          </a:ln>
        </p:spPr>
        <p:txBody>
          <a:bodyPr/>
          <a:lstStyle/>
          <a:p>
            <a:endParaRPr lang="ja-JP" altLang="en-US"/>
          </a:p>
        </p:txBody>
      </p:sp>
      <p:sp>
        <p:nvSpPr>
          <p:cNvPr id="65" name="Shape 63"/>
          <p:cNvSpPr/>
          <p:nvPr/>
        </p:nvSpPr>
        <p:spPr>
          <a:xfrm>
            <a:off x="8604504" y="3531999"/>
            <a:ext cx="499262" cy="219456"/>
          </a:xfrm>
          <a:prstGeom prst="rect">
            <a:avLst/>
          </a:prstGeom>
          <a:solidFill>
            <a:srgbClr val="D97706"/>
          </a:solidFill>
          <a:ln w="9525">
            <a:solidFill>
              <a:srgbClr val="D97706"/>
            </a:solidFill>
            <a:prstDash val="solid"/>
          </a:ln>
        </p:spPr>
        <p:txBody>
          <a:bodyPr/>
          <a:lstStyle/>
          <a:p>
            <a:endParaRPr lang="ja-JP" altLang="en-US"/>
          </a:p>
        </p:txBody>
      </p:sp>
      <p:sp>
        <p:nvSpPr>
          <p:cNvPr id="66" name="Shape 64"/>
          <p:cNvSpPr/>
          <p:nvPr/>
        </p:nvSpPr>
        <p:spPr>
          <a:xfrm>
            <a:off x="9158630" y="3531999"/>
            <a:ext cx="499262" cy="219456"/>
          </a:xfrm>
          <a:prstGeom prst="rect">
            <a:avLst/>
          </a:prstGeom>
          <a:solidFill>
            <a:srgbClr val="059669"/>
          </a:solidFill>
          <a:ln w="9525">
            <a:solidFill>
              <a:srgbClr val="059669"/>
            </a:solidFill>
            <a:prstDash val="solid"/>
          </a:ln>
        </p:spPr>
        <p:txBody>
          <a:bodyPr/>
          <a:lstStyle/>
          <a:p>
            <a:endParaRPr lang="ja-JP" altLang="en-US"/>
          </a:p>
        </p:txBody>
      </p:sp>
      <p:sp>
        <p:nvSpPr>
          <p:cNvPr id="67" name="Shape 65"/>
          <p:cNvSpPr/>
          <p:nvPr/>
        </p:nvSpPr>
        <p:spPr>
          <a:xfrm>
            <a:off x="9712757" y="3531999"/>
            <a:ext cx="499262" cy="219456"/>
          </a:xfrm>
          <a:prstGeom prst="rect">
            <a:avLst/>
          </a:prstGeom>
          <a:solidFill>
            <a:srgbClr val="059669"/>
          </a:solidFill>
          <a:ln w="9525">
            <a:solidFill>
              <a:srgbClr val="059669"/>
            </a:solidFill>
            <a:prstDash val="solid"/>
          </a:ln>
        </p:spPr>
        <p:txBody>
          <a:bodyPr/>
          <a:lstStyle/>
          <a:p>
            <a:endParaRPr lang="ja-JP" altLang="en-US"/>
          </a:p>
        </p:txBody>
      </p:sp>
      <p:sp>
        <p:nvSpPr>
          <p:cNvPr id="68" name="Shape 66"/>
          <p:cNvSpPr/>
          <p:nvPr/>
        </p:nvSpPr>
        <p:spPr>
          <a:xfrm>
            <a:off x="10266883" y="3531999"/>
            <a:ext cx="499262" cy="219456"/>
          </a:xfrm>
          <a:prstGeom prst="rect">
            <a:avLst/>
          </a:prstGeom>
          <a:solidFill>
            <a:srgbClr val="E11D48"/>
          </a:solidFill>
          <a:ln w="9525">
            <a:solidFill>
              <a:srgbClr val="E11D48"/>
            </a:solidFill>
            <a:prstDash val="solid"/>
          </a:ln>
        </p:spPr>
        <p:txBody>
          <a:bodyPr/>
          <a:lstStyle/>
          <a:p>
            <a:endParaRPr lang="ja-JP" altLang="en-US"/>
          </a:p>
        </p:txBody>
      </p:sp>
      <p:sp>
        <p:nvSpPr>
          <p:cNvPr id="69" name="Shape 67"/>
          <p:cNvSpPr/>
          <p:nvPr/>
        </p:nvSpPr>
        <p:spPr>
          <a:xfrm>
            <a:off x="10821010" y="3531999"/>
            <a:ext cx="499262" cy="219456"/>
          </a:xfrm>
          <a:prstGeom prst="rect">
            <a:avLst/>
          </a:prstGeom>
          <a:solidFill>
            <a:srgbClr val="7C3AED"/>
          </a:solidFill>
          <a:ln w="9525">
            <a:solidFill>
              <a:srgbClr val="7C3AED"/>
            </a:solidFill>
            <a:prstDash val="solid"/>
          </a:ln>
        </p:spPr>
        <p:txBody>
          <a:bodyPr/>
          <a:lstStyle/>
          <a:p>
            <a:endParaRPr lang="ja-JP" altLang="en-US"/>
          </a:p>
        </p:txBody>
      </p:sp>
      <p:sp>
        <p:nvSpPr>
          <p:cNvPr id="70" name="Shape 68"/>
          <p:cNvSpPr/>
          <p:nvPr/>
        </p:nvSpPr>
        <p:spPr>
          <a:xfrm>
            <a:off x="8604504" y="3806319"/>
            <a:ext cx="499262" cy="219456"/>
          </a:xfrm>
          <a:prstGeom prst="rect">
            <a:avLst/>
          </a:prstGeom>
          <a:solidFill>
            <a:srgbClr val="0891B2"/>
          </a:solidFill>
          <a:ln w="9525">
            <a:solidFill>
              <a:srgbClr val="0891B2"/>
            </a:solidFill>
            <a:prstDash val="solid"/>
          </a:ln>
        </p:spPr>
        <p:txBody>
          <a:bodyPr/>
          <a:lstStyle/>
          <a:p>
            <a:endParaRPr lang="ja-JP" altLang="en-US"/>
          </a:p>
        </p:txBody>
      </p:sp>
      <p:sp>
        <p:nvSpPr>
          <p:cNvPr id="71" name="Shape 69"/>
          <p:cNvSpPr/>
          <p:nvPr/>
        </p:nvSpPr>
        <p:spPr>
          <a:xfrm>
            <a:off x="9158630" y="3806319"/>
            <a:ext cx="499262" cy="219456"/>
          </a:xfrm>
          <a:prstGeom prst="rect">
            <a:avLst/>
          </a:prstGeom>
          <a:solidFill>
            <a:srgbClr val="0891B2"/>
          </a:solidFill>
          <a:ln w="9525">
            <a:solidFill>
              <a:srgbClr val="0891B2"/>
            </a:solidFill>
            <a:prstDash val="solid"/>
          </a:ln>
        </p:spPr>
        <p:txBody>
          <a:bodyPr/>
          <a:lstStyle/>
          <a:p>
            <a:endParaRPr lang="ja-JP" altLang="en-US"/>
          </a:p>
        </p:txBody>
      </p:sp>
      <p:sp>
        <p:nvSpPr>
          <p:cNvPr id="72" name="Shape 70"/>
          <p:cNvSpPr/>
          <p:nvPr/>
        </p:nvSpPr>
        <p:spPr>
          <a:xfrm>
            <a:off x="9712757" y="3806319"/>
            <a:ext cx="499262" cy="219456"/>
          </a:xfrm>
          <a:prstGeom prst="rect">
            <a:avLst/>
          </a:prstGeom>
          <a:solidFill>
            <a:srgbClr val="65A30D"/>
          </a:solidFill>
          <a:ln w="9525">
            <a:solidFill>
              <a:srgbClr val="65A30D"/>
            </a:solidFill>
            <a:prstDash val="solid"/>
          </a:ln>
        </p:spPr>
        <p:txBody>
          <a:bodyPr/>
          <a:lstStyle/>
          <a:p>
            <a:endParaRPr lang="ja-JP" altLang="en-US"/>
          </a:p>
        </p:txBody>
      </p:sp>
      <p:sp>
        <p:nvSpPr>
          <p:cNvPr id="73" name="Shape 71"/>
          <p:cNvSpPr/>
          <p:nvPr/>
        </p:nvSpPr>
        <p:spPr>
          <a:xfrm>
            <a:off x="10266883" y="3806319"/>
            <a:ext cx="499262" cy="219456"/>
          </a:xfrm>
          <a:prstGeom prst="rect">
            <a:avLst/>
          </a:prstGeom>
          <a:solidFill>
            <a:srgbClr val="65A30D"/>
          </a:solidFill>
          <a:ln w="9525">
            <a:solidFill>
              <a:srgbClr val="65A30D"/>
            </a:solidFill>
            <a:prstDash val="solid"/>
          </a:ln>
        </p:spPr>
        <p:txBody>
          <a:bodyPr/>
          <a:lstStyle/>
          <a:p>
            <a:endParaRPr lang="ja-JP" altLang="en-US"/>
          </a:p>
        </p:txBody>
      </p:sp>
      <p:sp>
        <p:nvSpPr>
          <p:cNvPr id="74" name="Shape 72"/>
          <p:cNvSpPr/>
          <p:nvPr/>
        </p:nvSpPr>
        <p:spPr>
          <a:xfrm>
            <a:off x="10821010" y="3806319"/>
            <a:ext cx="499262" cy="219456"/>
          </a:xfrm>
          <a:prstGeom prst="rect">
            <a:avLst/>
          </a:prstGeom>
          <a:solidFill>
            <a:srgbClr val="65A30D"/>
          </a:solidFill>
          <a:ln w="9525">
            <a:solidFill>
              <a:srgbClr val="65A30D"/>
            </a:solidFill>
            <a:prstDash val="solid"/>
          </a:ln>
        </p:spPr>
        <p:txBody>
          <a:bodyPr/>
          <a:lstStyle/>
          <a:p>
            <a:endParaRPr lang="ja-JP" altLang="en-US"/>
          </a:p>
        </p:txBody>
      </p:sp>
      <p:sp>
        <p:nvSpPr>
          <p:cNvPr id="75" name="Shape 73"/>
          <p:cNvSpPr/>
          <p:nvPr/>
        </p:nvSpPr>
        <p:spPr>
          <a:xfrm>
            <a:off x="8577072" y="4126359"/>
            <a:ext cx="859536" cy="256032"/>
          </a:xfrm>
          <a:prstGeom prst="roundRect">
            <a:avLst>
              <a:gd name="adj" fmla="val 14286"/>
            </a:avLst>
          </a:prstGeom>
          <a:solidFill>
            <a:srgbClr val="FFFFFF"/>
          </a:solidFill>
          <a:ln w="12700">
            <a:solidFill>
              <a:srgbClr val="CBD5E1"/>
            </a:solidFill>
            <a:prstDash val="solid"/>
          </a:ln>
        </p:spPr>
        <p:txBody>
          <a:bodyPr/>
          <a:lstStyle/>
          <a:p>
            <a:endParaRPr lang="ja-JP" altLang="en-US"/>
          </a:p>
        </p:txBody>
      </p:sp>
      <p:sp>
        <p:nvSpPr>
          <p:cNvPr id="76" name="Text 74"/>
          <p:cNvSpPr txBox="1"/>
          <p:nvPr/>
        </p:nvSpPr>
        <p:spPr>
          <a:xfrm>
            <a:off x="8577072" y="4126359"/>
            <a:ext cx="859536" cy="256032"/>
          </a:xfrm>
          <a:prstGeom prst="rect">
            <a:avLst/>
          </a:prstGeom>
          <a:noFill/>
          <a:ln/>
        </p:spPr>
        <p:txBody>
          <a:bodyPr wrap="square" lIns="0" tIns="0" rIns="0" bIns="0" rtlCol="0" anchor="ctr"/>
          <a:lstStyle/>
          <a:p>
            <a:pPr marL="0" indent="0" algn="ctr">
              <a:buNone/>
            </a:pPr>
            <a:r>
              <a:rPr lang="ja-JP" altLang="en-US" sz="900" dirty="0">
                <a:solidFill>
                  <a:srgbClr val="475569"/>
                </a:solidFill>
                <a:latin typeface="Arial" pitchFamily="34" charset="0"/>
                <a:ea typeface="Arial" pitchFamily="34" charset="-122"/>
                <a:cs typeface="Arial" pitchFamily="34" charset="-120"/>
              </a:rPr>
              <a:t>Timetable</a:t>
            </a:r>
            <a:endParaRPr lang="ja-JP" sz="900" dirty="0"/>
          </a:p>
        </p:txBody>
      </p:sp>
      <p:sp>
        <p:nvSpPr>
          <p:cNvPr id="77" name="Shape 75"/>
          <p:cNvSpPr/>
          <p:nvPr/>
        </p:nvSpPr>
        <p:spPr>
          <a:xfrm>
            <a:off x="9473184" y="4126359"/>
            <a:ext cx="585216" cy="256032"/>
          </a:xfrm>
          <a:prstGeom prst="roundRect">
            <a:avLst>
              <a:gd name="adj" fmla="val 14286"/>
            </a:avLst>
          </a:prstGeom>
          <a:solidFill>
            <a:srgbClr val="F1F5F9"/>
          </a:solidFill>
          <a:ln w="12700">
            <a:solidFill>
              <a:srgbClr val="CBD5E1"/>
            </a:solidFill>
            <a:prstDash val="solid"/>
          </a:ln>
        </p:spPr>
        <p:txBody>
          <a:bodyPr/>
          <a:lstStyle/>
          <a:p>
            <a:endParaRPr lang="ja-JP" altLang="en-US"/>
          </a:p>
        </p:txBody>
      </p:sp>
      <p:sp>
        <p:nvSpPr>
          <p:cNvPr id="78" name="Text 76"/>
          <p:cNvSpPr txBox="1"/>
          <p:nvPr/>
        </p:nvSpPr>
        <p:spPr>
          <a:xfrm>
            <a:off x="9473184" y="4126359"/>
            <a:ext cx="585216" cy="256032"/>
          </a:xfrm>
          <a:prstGeom prst="rect">
            <a:avLst/>
          </a:prstGeom>
          <a:noFill/>
          <a:ln/>
        </p:spPr>
        <p:txBody>
          <a:bodyPr wrap="square" lIns="0" tIns="0" rIns="0" bIns="0" rtlCol="0" anchor="ctr"/>
          <a:lstStyle/>
          <a:p>
            <a:pPr marL="0" indent="0" algn="ctr">
              <a:buNone/>
            </a:pPr>
            <a:r>
              <a:rPr lang="ja-JP" altLang="en-US" sz="900" dirty="0">
                <a:solidFill>
                  <a:srgbClr val="475569"/>
                </a:solidFill>
                <a:latin typeface="Arial" pitchFamily="34" charset="0"/>
                <a:ea typeface="Arial" pitchFamily="34" charset="-122"/>
                <a:cs typeface="Arial" pitchFamily="34" charset="-120"/>
              </a:rPr>
              <a:t>List</a:t>
            </a:r>
            <a:endParaRPr lang="ja-JP" sz="900" dirty="0"/>
          </a:p>
        </p:txBody>
      </p:sp>
      <p:sp>
        <p:nvSpPr>
          <p:cNvPr id="79" name="Shape 77"/>
          <p:cNvSpPr/>
          <p:nvPr/>
        </p:nvSpPr>
        <p:spPr>
          <a:xfrm>
            <a:off x="10094976" y="4126359"/>
            <a:ext cx="731520" cy="256032"/>
          </a:xfrm>
          <a:prstGeom prst="roundRect">
            <a:avLst>
              <a:gd name="adj" fmla="val 14286"/>
            </a:avLst>
          </a:prstGeom>
          <a:solidFill>
            <a:srgbClr val="F1F5F9"/>
          </a:solidFill>
          <a:ln w="12700">
            <a:solidFill>
              <a:srgbClr val="CBD5E1"/>
            </a:solidFill>
            <a:prstDash val="solid"/>
          </a:ln>
        </p:spPr>
        <p:txBody>
          <a:bodyPr/>
          <a:lstStyle/>
          <a:p>
            <a:endParaRPr lang="ja-JP" altLang="en-US"/>
          </a:p>
        </p:txBody>
      </p:sp>
      <p:sp>
        <p:nvSpPr>
          <p:cNvPr id="80" name="Text 78"/>
          <p:cNvSpPr txBox="1"/>
          <p:nvPr/>
        </p:nvSpPr>
        <p:spPr>
          <a:xfrm>
            <a:off x="10094976" y="4126359"/>
            <a:ext cx="731520" cy="256032"/>
          </a:xfrm>
          <a:prstGeom prst="rect">
            <a:avLst/>
          </a:prstGeom>
          <a:noFill/>
          <a:ln/>
        </p:spPr>
        <p:txBody>
          <a:bodyPr wrap="square" lIns="0" tIns="0" rIns="0" bIns="0" rtlCol="0" anchor="ctr"/>
          <a:lstStyle/>
          <a:p>
            <a:pPr marL="0" indent="0" algn="ctr">
              <a:buNone/>
            </a:pPr>
            <a:r>
              <a:rPr lang="ja-JP" altLang="en-US" sz="900" dirty="0">
                <a:solidFill>
                  <a:srgbClr val="475569"/>
                </a:solidFill>
                <a:latin typeface="Arial" pitchFamily="34" charset="0"/>
                <a:ea typeface="Arial" pitchFamily="34" charset="-122"/>
                <a:cs typeface="Arial" pitchFamily="34" charset="-120"/>
              </a:rPr>
              <a:t>Report</a:t>
            </a:r>
            <a:endParaRPr lang="ja-JP" sz="900" dirty="0"/>
          </a:p>
        </p:txBody>
      </p:sp>
      <p:sp>
        <p:nvSpPr>
          <p:cNvPr id="81" name="Rectangle 15">
            <a:extLst>
              <a:ext uri="{FF2B5EF4-FFF2-40B4-BE49-F238E27FC236}">
                <a16:creationId xmlns:a16="http://schemas.microsoft.com/office/drawing/2014/main" id="{4CA25D2E-6B06-0319-15CA-71F04B7847B4}"/>
              </a:ext>
            </a:extLst>
          </p:cNvPr>
          <p:cNvSpPr/>
          <p:nvPr/>
        </p:nvSpPr>
        <p:spPr>
          <a:xfrm>
            <a:off x="566928" y="4846320"/>
            <a:ext cx="11055096" cy="731520"/>
          </a:xfrm>
          <a:prstGeom prst="rect">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16">
            <a:extLst>
              <a:ext uri="{FF2B5EF4-FFF2-40B4-BE49-F238E27FC236}">
                <a16:creationId xmlns:a16="http://schemas.microsoft.com/office/drawing/2014/main" id="{BEA8A270-EAAB-30A4-3015-E36A10812F53}"/>
              </a:ext>
            </a:extLst>
          </p:cNvPr>
          <p:cNvSpPr txBox="1"/>
          <p:nvPr/>
        </p:nvSpPr>
        <p:spPr>
          <a:xfrm>
            <a:off x="566928" y="4846320"/>
            <a:ext cx="11055096" cy="731520"/>
          </a:xfrm>
          <a:prstGeom prst="rect">
            <a:avLst/>
          </a:prstGeom>
          <a:noFill/>
        </p:spPr>
        <p:txBody>
          <a:bodyPr wrap="square" anchor="ctr">
            <a:spAutoFit/>
          </a:bodyPr>
          <a:lstStyle/>
          <a:p>
            <a:pPr algn="ctr"/>
            <a:r>
              <a:rPr sz="2000" b="1">
                <a:solidFill>
                  <a:srgbClr val="0C4A6E"/>
                </a:solidFill>
                <a:latin typeface="Arial"/>
              </a:rPr>
              <a:t>Prepare Excel → Press Run → Get the timetable</a:t>
            </a:r>
          </a:p>
        </p:txBody>
      </p:sp>
      <p:sp>
        <p:nvSpPr>
          <p:cNvPr id="83" name="TextBox 82"/>
          <p:cNvSpPr txBox="1"/>
          <p:nvPr/>
        </p:nvSpPr>
        <p:spPr>
          <a:xfrm>
            <a:off x="566928" y="4398264"/>
            <a:ext cx="3319272" cy="256032"/>
          </a:xfrm>
          <a:prstGeom prst="rect">
            <a:avLst/>
          </a:prstGeom>
          <a:noFill/>
        </p:spPr>
        <p:txBody>
          <a:bodyPr wrap="square" lIns="45720" tIns="22860" rIns="45720" bIns="22860">
            <a:spAutoFit/>
          </a:bodyPr>
          <a:lstStyle/>
          <a:p>
            <a:pPr algn="ctr"/>
            <a:r>
              <a:rPr sz="1200" b="1" i="0">
                <a:solidFill>
                  <a:srgbClr val="0284C7"/>
                </a:solidFill>
                <a:latin typeface="Arial"/>
              </a:rPr>
              <a:t>3 sheets · 7 columns</a:t>
            </a:r>
          </a:p>
        </p:txBody>
      </p:sp>
      <p:sp>
        <p:nvSpPr>
          <p:cNvPr id="84" name="TextBox 83"/>
          <p:cNvSpPr txBox="1"/>
          <p:nvPr/>
        </p:nvSpPr>
        <p:spPr>
          <a:xfrm>
            <a:off x="4434840" y="4398264"/>
            <a:ext cx="3319272" cy="256032"/>
          </a:xfrm>
          <a:prstGeom prst="rect">
            <a:avLst/>
          </a:prstGeom>
          <a:noFill/>
        </p:spPr>
        <p:txBody>
          <a:bodyPr wrap="square" lIns="45720" tIns="22860" rIns="45720" bIns="22860">
            <a:spAutoFit/>
          </a:bodyPr>
          <a:lstStyle/>
          <a:p>
            <a:pPr algn="ctr"/>
            <a:r>
              <a:rPr sz="1200" b="1" i="0">
                <a:solidFill>
                  <a:srgbClr val="0284C7"/>
                </a:solidFill>
                <a:latin typeface="Arial"/>
              </a:rPr>
              <a:t>1 click</a:t>
            </a:r>
          </a:p>
        </p:txBody>
      </p:sp>
      <p:sp>
        <p:nvSpPr>
          <p:cNvPr id="85" name="TextBox 84"/>
          <p:cNvSpPr txBox="1"/>
          <p:nvPr/>
        </p:nvSpPr>
        <p:spPr>
          <a:xfrm>
            <a:off x="8302752" y="4398264"/>
            <a:ext cx="3319272" cy="256032"/>
          </a:xfrm>
          <a:prstGeom prst="rect">
            <a:avLst/>
          </a:prstGeom>
          <a:noFill/>
        </p:spPr>
        <p:txBody>
          <a:bodyPr wrap="square" lIns="45720" tIns="22860" rIns="45720" bIns="22860">
            <a:spAutoFit/>
          </a:bodyPr>
          <a:lstStyle/>
          <a:p>
            <a:pPr algn="ctr"/>
            <a:r>
              <a:rPr sz="1200" b="1" i="0">
                <a:solidFill>
                  <a:srgbClr val="0284C7"/>
                </a:solidFill>
                <a:latin typeface="Arial"/>
              </a:rPr>
              <a:t>Timetable · List · Report</a:t>
            </a:r>
          </a:p>
        </p:txBody>
      </p:sp>
      <p:sp>
        <p:nvSpPr>
          <p:cNvPr id="86" name="TextBox 85"/>
          <p:cNvSpPr txBox="1"/>
          <p:nvPr/>
        </p:nvSpPr>
        <p:spPr>
          <a:xfrm>
            <a:off x="11164824" y="6492240"/>
            <a:ext cx="457200" cy="219456"/>
          </a:xfrm>
          <a:prstGeom prst="rect">
            <a:avLst/>
          </a:prstGeom>
          <a:noFill/>
          <a:ln/>
        </p:spPr>
        <p:txBody>
          <a:bodyPr wrap="square" lIns="0" tIns="0" rIns="0" bIns="0" rtlCol="0" anchor="ctr"/>
          <a:lstStyle/>
          <a:p>
            <a:pPr marL="0" indent="0" algn="r">
              <a:buNone/>
            </a:pPr>
            <a:fld id="{8B2C3E4A-5D6F-4A1B-9C2D-3E4F5A6B7C8D}" type="slidenum">
              <a:rPr lang="en-US" altLang="ja-JP" sz="1000" dirty="0">
                <a:solidFill>
                  <a:srgbClr val="94A3B8"/>
                </a:solidFill>
                <a:latin typeface="Arial" pitchFamily="34" charset="0"/>
                <a:ea typeface="Arial" pitchFamily="34" charset="-122"/>
                <a:cs typeface="Arial" pitchFamily="34" charset="-120"/>
              </a:rPr>
              <a:t>11</a:t>
            </a:fld>
            <a:endParaRPr lang="en-US" altLang="ja-JP"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164824" y="6492240"/>
            <a:ext cx="457200" cy="219456"/>
          </a:xfrm>
          <a:prstGeom prst="rect">
            <a:avLst/>
          </a:prstGeom>
          <a:noFill/>
          <a:ln/>
        </p:spPr>
        <p:txBody>
          <a:bodyPr wrap="square" lIns="0" tIns="0" rIns="0" bIns="0" rtlCol="0" anchor="ctr"/>
          <a:lstStyle/>
          <a:p>
            <a:pPr marL="0" indent="0" algn="r">
              <a:buNone/>
            </a:pPr>
            <a:fld id="{8B2C3E4A-5D6F-4A1B-9C2D-3E4F5A6B7C8D}" type="slidenum">
              <a:rPr lang="en-US" altLang="ja-JP" sz="1000" dirty="0">
                <a:solidFill>
                  <a:srgbClr val="94A3B8"/>
                </a:solidFill>
                <a:latin typeface="Arial" pitchFamily="34" charset="0"/>
                <a:ea typeface="Arial" pitchFamily="34" charset="-122"/>
                <a:cs typeface="Arial" pitchFamily="34" charset="-120"/>
              </a:rPr>
              <a:t>12</a:t>
            </a:fld>
            <a:endParaRPr lang="en-US" altLang="ja-JP" sz="1000" dirty="0"/>
          </a:p>
        </p:txBody>
      </p:sp>
      <p:sp>
        <p:nvSpPr>
          <p:cNvPr id="3" name="Text 1"/>
          <p:cNvSpPr txBox="1"/>
          <p:nvPr/>
        </p:nvSpPr>
        <p:spPr>
          <a:xfrm>
            <a:off x="566928" y="310896"/>
            <a:ext cx="11055096" cy="237744"/>
          </a:xfrm>
          <a:prstGeom prst="rect">
            <a:avLst/>
          </a:prstGeom>
          <a:noFill/>
          <a:ln/>
        </p:spPr>
        <p:txBody>
          <a:bodyPr wrap="square" lIns="0" tIns="0" rIns="0" bIns="0" rtlCol="0" anchor="ctr"/>
          <a:lstStyle/>
          <a:p>
            <a:pPr marL="0" indent="0" algn="l">
              <a:buNone/>
            </a:pPr>
            <a:r>
              <a:rPr lang="en-US" altLang="en-US" sz="1200" b="1" kern="0" spc="100" dirty="0">
                <a:solidFill>
                  <a:srgbClr val="0284C7"/>
                </a:solidFill>
                <a:latin typeface="Arial" pitchFamily="34" charset="0"/>
                <a:ea typeface="Arial" pitchFamily="34" charset="-122"/>
                <a:cs typeface="Arial" pitchFamily="34" charset="-120"/>
              </a:rPr>
              <a:t>2. System Design</a:t>
            </a:r>
            <a:endParaRPr lang="en-US" sz="1200" dirty="0"/>
          </a:p>
        </p:txBody>
      </p:sp>
      <p:sp>
        <p:nvSpPr>
          <p:cNvPr id="4" name="Text 2"/>
          <p:cNvSpPr txBox="1"/>
          <p:nvPr/>
        </p:nvSpPr>
        <p:spPr>
          <a:xfrm>
            <a:off x="566928" y="566928"/>
            <a:ext cx="11055096" cy="566928"/>
          </a:xfrm>
          <a:prstGeom prst="rect">
            <a:avLst/>
          </a:prstGeom>
          <a:noFill/>
          <a:ln/>
        </p:spPr>
        <p:txBody>
          <a:bodyPr wrap="square" lIns="0" tIns="0" rIns="0" bIns="0" rtlCol="0" anchor="ctr"/>
          <a:lstStyle/>
          <a:p>
            <a:pPr marL="0" indent="0" algn="l">
              <a:buNone/>
            </a:pPr>
            <a:r>
              <a:rPr lang="en-US" altLang="en-US" sz="2800" b="1" dirty="0">
                <a:solidFill>
                  <a:srgbClr val="0F172A"/>
                </a:solidFill>
                <a:latin typeface="Arial" pitchFamily="34" charset="0"/>
                <a:ea typeface="Arial" pitchFamily="34" charset="-122"/>
                <a:cs typeface="Arial" pitchFamily="34" charset="-120"/>
              </a:rPr>
              <a:t>App Screen: How to Use</a:t>
            </a:r>
            <a:endParaRPr lang="en-US" sz="2800" dirty="0"/>
          </a:p>
        </p:txBody>
      </p:sp>
      <p:pic>
        <p:nvPicPr>
          <p:cNvPr id="5" name="Image 0" descr="App screen (provisional)"/>
          <p:cNvPicPr>
            <a:picLocks noChangeAspect="1"/>
          </p:cNvPicPr>
          <p:nvPr/>
        </p:nvPicPr>
        <p:blipFill>
          <a:blip r:embed="rId3"/>
          <a:stretch>
            <a:fillRect/>
          </a:stretch>
        </p:blipFill>
        <p:spPr>
          <a:xfrm>
            <a:off x="960120" y="1417320"/>
            <a:ext cx="5303520" cy="4530090"/>
          </a:xfrm>
          <a:prstGeom prst="rect">
            <a:avLst/>
          </a:prstGeom>
        </p:spPr>
      </p:pic>
      <p:sp>
        <p:nvSpPr>
          <p:cNvPr id="6" name="Shape 3"/>
          <p:cNvSpPr/>
          <p:nvPr/>
        </p:nvSpPr>
        <p:spPr>
          <a:xfrm>
            <a:off x="960120" y="1417320"/>
            <a:ext cx="5303520" cy="4530090"/>
          </a:xfrm>
          <a:prstGeom prst="rect">
            <a:avLst/>
          </a:prstGeom>
          <a:ln w="12700">
            <a:solidFill>
              <a:srgbClr val="E2E8F0"/>
            </a:solidFill>
            <a:prstDash val="solid"/>
          </a:ln>
        </p:spPr>
        <p:txBody>
          <a:bodyPr/>
          <a:lstStyle/>
          <a:p>
            <a:endParaRPr lang="ja-JP" altLang="en-US"/>
          </a:p>
        </p:txBody>
      </p:sp>
      <p:sp>
        <p:nvSpPr>
          <p:cNvPr id="7" name="Shape 4"/>
          <p:cNvSpPr/>
          <p:nvPr/>
        </p:nvSpPr>
        <p:spPr>
          <a:xfrm>
            <a:off x="960120" y="1956816"/>
            <a:ext cx="5193792" cy="228600"/>
          </a:xfrm>
          <a:prstGeom prst="rect">
            <a:avLst/>
          </a:prstGeom>
          <a:ln w="25400">
            <a:solidFill>
              <a:srgbClr val="0284C7"/>
            </a:solidFill>
            <a:prstDash val="solid"/>
          </a:ln>
        </p:spPr>
        <p:txBody>
          <a:bodyPr/>
          <a:lstStyle/>
          <a:p>
            <a:endParaRPr lang="ja-JP" altLang="en-US"/>
          </a:p>
        </p:txBody>
      </p:sp>
      <p:sp>
        <p:nvSpPr>
          <p:cNvPr id="8" name="Shape 5"/>
          <p:cNvSpPr/>
          <p:nvPr/>
        </p:nvSpPr>
        <p:spPr>
          <a:xfrm>
            <a:off x="960120" y="4187952"/>
            <a:ext cx="960120" cy="228600"/>
          </a:xfrm>
          <a:prstGeom prst="rect">
            <a:avLst/>
          </a:prstGeom>
          <a:ln w="25400">
            <a:solidFill>
              <a:srgbClr val="0284C7"/>
            </a:solidFill>
            <a:prstDash val="solid"/>
          </a:ln>
        </p:spPr>
        <p:txBody>
          <a:bodyPr/>
          <a:lstStyle/>
          <a:p>
            <a:endParaRPr lang="ja-JP" altLang="en-US"/>
          </a:p>
        </p:txBody>
      </p:sp>
      <p:sp>
        <p:nvSpPr>
          <p:cNvPr id="9" name="Shape 6"/>
          <p:cNvSpPr/>
          <p:nvPr/>
        </p:nvSpPr>
        <p:spPr>
          <a:xfrm>
            <a:off x="603504" y="1960436"/>
            <a:ext cx="228600" cy="228600"/>
          </a:xfrm>
          <a:prstGeom prst="ellipse">
            <a:avLst/>
          </a:prstGeom>
          <a:solidFill>
            <a:srgbClr val="0284C7"/>
          </a:solidFill>
          <a:ln w="19050">
            <a:solidFill>
              <a:srgbClr val="0284C7"/>
            </a:solidFill>
            <a:prstDash val="solid"/>
          </a:ln>
        </p:spPr>
        <p:txBody>
          <a:bodyPr/>
          <a:lstStyle/>
          <a:p>
            <a:endParaRPr lang="ja-JP" altLang="en-US"/>
          </a:p>
        </p:txBody>
      </p:sp>
      <p:sp>
        <p:nvSpPr>
          <p:cNvPr id="10" name="Text 7"/>
          <p:cNvSpPr txBox="1"/>
          <p:nvPr/>
        </p:nvSpPr>
        <p:spPr>
          <a:xfrm>
            <a:off x="603504" y="1960436"/>
            <a:ext cx="228600" cy="228600"/>
          </a:xfrm>
          <a:prstGeom prst="rect">
            <a:avLst/>
          </a:prstGeom>
          <a:noFill/>
          <a:ln/>
        </p:spPr>
        <p:txBody>
          <a:bodyPr wrap="square" lIns="0" tIns="0" rIns="0" bIns="0" rtlCol="0" anchor="ctr"/>
          <a:lstStyle/>
          <a:p>
            <a:pPr marL="0" indent="0" algn="ctr">
              <a:buNone/>
            </a:pPr>
            <a:r>
              <a:rPr lang="ja-JP" altLang="en-US" sz="1050" b="1" dirty="0">
                <a:solidFill>
                  <a:srgbClr val="FFFFFF"/>
                </a:solidFill>
                <a:latin typeface="Arial" pitchFamily="34" charset="0"/>
                <a:ea typeface="Arial" pitchFamily="34" charset="-122"/>
                <a:cs typeface="Arial" pitchFamily="34" charset="-120"/>
              </a:rPr>
              <a:t>1</a:t>
            </a:r>
            <a:endParaRPr lang="ja-JP" sz="1050" dirty="0"/>
          </a:p>
        </p:txBody>
      </p:sp>
      <p:sp>
        <p:nvSpPr>
          <p:cNvPr id="11" name="Shape 8"/>
          <p:cNvSpPr/>
          <p:nvPr/>
        </p:nvSpPr>
        <p:spPr>
          <a:xfrm>
            <a:off x="603504" y="2921699"/>
            <a:ext cx="228600" cy="228600"/>
          </a:xfrm>
          <a:prstGeom prst="ellipse">
            <a:avLst/>
          </a:prstGeom>
          <a:solidFill>
            <a:srgbClr val="FFFFFF"/>
          </a:solidFill>
          <a:ln w="19050">
            <a:solidFill>
              <a:srgbClr val="475569"/>
            </a:solidFill>
            <a:prstDash val="solid"/>
          </a:ln>
        </p:spPr>
        <p:txBody>
          <a:bodyPr/>
          <a:lstStyle/>
          <a:p>
            <a:endParaRPr lang="ja-JP" altLang="en-US"/>
          </a:p>
        </p:txBody>
      </p:sp>
      <p:sp>
        <p:nvSpPr>
          <p:cNvPr id="12" name="Text 9"/>
          <p:cNvSpPr txBox="1"/>
          <p:nvPr/>
        </p:nvSpPr>
        <p:spPr>
          <a:xfrm>
            <a:off x="603504" y="2921699"/>
            <a:ext cx="228600" cy="228600"/>
          </a:xfrm>
          <a:prstGeom prst="rect">
            <a:avLst/>
          </a:prstGeom>
          <a:noFill/>
          <a:ln/>
        </p:spPr>
        <p:txBody>
          <a:bodyPr wrap="square" lIns="0" tIns="0" rIns="0" bIns="0" rtlCol="0" anchor="ctr"/>
          <a:lstStyle/>
          <a:p>
            <a:pPr marL="0" indent="0" algn="ctr">
              <a:buNone/>
            </a:pPr>
            <a:r>
              <a:rPr lang="ja-JP" altLang="en-US" sz="1050" b="1" dirty="0">
                <a:solidFill>
                  <a:srgbClr val="475569"/>
                </a:solidFill>
                <a:latin typeface="Arial" pitchFamily="34" charset="0"/>
                <a:ea typeface="Arial" pitchFamily="34" charset="-122"/>
                <a:cs typeface="Arial" pitchFamily="34" charset="-120"/>
              </a:rPr>
              <a:t>3</a:t>
            </a:r>
            <a:endParaRPr lang="ja-JP" sz="1050" dirty="0"/>
          </a:p>
        </p:txBody>
      </p:sp>
      <p:sp>
        <p:nvSpPr>
          <p:cNvPr id="13" name="Shape 10"/>
          <p:cNvSpPr/>
          <p:nvPr/>
        </p:nvSpPr>
        <p:spPr>
          <a:xfrm>
            <a:off x="603504" y="3628835"/>
            <a:ext cx="228600" cy="228600"/>
          </a:xfrm>
          <a:prstGeom prst="ellipse">
            <a:avLst/>
          </a:prstGeom>
          <a:solidFill>
            <a:srgbClr val="FFFFFF"/>
          </a:solidFill>
          <a:ln w="19050">
            <a:solidFill>
              <a:srgbClr val="475569"/>
            </a:solidFill>
            <a:prstDash val="solid"/>
          </a:ln>
        </p:spPr>
        <p:txBody>
          <a:bodyPr/>
          <a:lstStyle/>
          <a:p>
            <a:endParaRPr lang="ja-JP" altLang="en-US"/>
          </a:p>
        </p:txBody>
      </p:sp>
      <p:sp>
        <p:nvSpPr>
          <p:cNvPr id="14" name="Text 11"/>
          <p:cNvSpPr txBox="1"/>
          <p:nvPr/>
        </p:nvSpPr>
        <p:spPr>
          <a:xfrm>
            <a:off x="603504" y="3628835"/>
            <a:ext cx="228600" cy="228600"/>
          </a:xfrm>
          <a:prstGeom prst="rect">
            <a:avLst/>
          </a:prstGeom>
          <a:noFill/>
          <a:ln/>
        </p:spPr>
        <p:txBody>
          <a:bodyPr wrap="square" lIns="0" tIns="0" rIns="0" bIns="0" rtlCol="0" anchor="ctr"/>
          <a:lstStyle/>
          <a:p>
            <a:pPr marL="0" indent="0" algn="ctr">
              <a:buNone/>
            </a:pPr>
            <a:r>
              <a:rPr lang="ja-JP" altLang="en-US" sz="1050" b="1" dirty="0">
                <a:solidFill>
                  <a:srgbClr val="475569"/>
                </a:solidFill>
                <a:latin typeface="Arial" pitchFamily="34" charset="0"/>
                <a:ea typeface="Arial" pitchFamily="34" charset="-122"/>
                <a:cs typeface="Arial" pitchFamily="34" charset="-120"/>
              </a:rPr>
              <a:t>4</a:t>
            </a:r>
            <a:endParaRPr lang="ja-JP" sz="1050" dirty="0"/>
          </a:p>
        </p:txBody>
      </p:sp>
      <p:sp>
        <p:nvSpPr>
          <p:cNvPr id="15" name="Shape 12"/>
          <p:cNvSpPr/>
          <p:nvPr/>
        </p:nvSpPr>
        <p:spPr>
          <a:xfrm>
            <a:off x="603504" y="3916108"/>
            <a:ext cx="228600" cy="228600"/>
          </a:xfrm>
          <a:prstGeom prst="ellipse">
            <a:avLst/>
          </a:prstGeom>
          <a:solidFill>
            <a:srgbClr val="FFFFFF"/>
          </a:solidFill>
          <a:ln w="19050">
            <a:solidFill>
              <a:srgbClr val="475569"/>
            </a:solidFill>
            <a:prstDash val="solid"/>
          </a:ln>
        </p:spPr>
        <p:txBody>
          <a:bodyPr/>
          <a:lstStyle/>
          <a:p>
            <a:endParaRPr lang="ja-JP" altLang="en-US"/>
          </a:p>
        </p:txBody>
      </p:sp>
      <p:sp>
        <p:nvSpPr>
          <p:cNvPr id="16" name="Text 13"/>
          <p:cNvSpPr txBox="1"/>
          <p:nvPr/>
        </p:nvSpPr>
        <p:spPr>
          <a:xfrm>
            <a:off x="603504" y="3916108"/>
            <a:ext cx="228600" cy="228600"/>
          </a:xfrm>
          <a:prstGeom prst="rect">
            <a:avLst/>
          </a:prstGeom>
          <a:noFill/>
          <a:ln/>
        </p:spPr>
        <p:txBody>
          <a:bodyPr wrap="square" lIns="0" tIns="0" rIns="0" bIns="0" rtlCol="0" anchor="ctr"/>
          <a:lstStyle/>
          <a:p>
            <a:pPr marL="0" indent="0" algn="ctr">
              <a:buNone/>
            </a:pPr>
            <a:r>
              <a:rPr lang="ja-JP" altLang="en-US" sz="1050" b="1" dirty="0">
                <a:solidFill>
                  <a:srgbClr val="475569"/>
                </a:solidFill>
                <a:latin typeface="Arial" pitchFamily="34" charset="0"/>
                <a:ea typeface="Arial" pitchFamily="34" charset="-122"/>
                <a:cs typeface="Arial" pitchFamily="34" charset="-120"/>
              </a:rPr>
              <a:t>5</a:t>
            </a:r>
            <a:endParaRPr lang="ja-JP" sz="1050" dirty="0"/>
          </a:p>
        </p:txBody>
      </p:sp>
      <p:sp>
        <p:nvSpPr>
          <p:cNvPr id="17" name="Shape 14"/>
          <p:cNvSpPr/>
          <p:nvPr/>
        </p:nvSpPr>
        <p:spPr>
          <a:xfrm>
            <a:off x="603504" y="4208907"/>
            <a:ext cx="228600" cy="228600"/>
          </a:xfrm>
          <a:prstGeom prst="ellipse">
            <a:avLst/>
          </a:prstGeom>
          <a:solidFill>
            <a:srgbClr val="0284C7"/>
          </a:solidFill>
          <a:ln w="19050">
            <a:solidFill>
              <a:srgbClr val="0284C7"/>
            </a:solidFill>
            <a:prstDash val="solid"/>
          </a:ln>
        </p:spPr>
        <p:txBody>
          <a:bodyPr/>
          <a:lstStyle/>
          <a:p>
            <a:endParaRPr lang="ja-JP" altLang="en-US"/>
          </a:p>
        </p:txBody>
      </p:sp>
      <p:sp>
        <p:nvSpPr>
          <p:cNvPr id="18" name="Text 15"/>
          <p:cNvSpPr txBox="1"/>
          <p:nvPr/>
        </p:nvSpPr>
        <p:spPr>
          <a:xfrm>
            <a:off x="603504" y="4208907"/>
            <a:ext cx="228600" cy="228600"/>
          </a:xfrm>
          <a:prstGeom prst="rect">
            <a:avLst/>
          </a:prstGeom>
          <a:noFill/>
          <a:ln/>
        </p:spPr>
        <p:txBody>
          <a:bodyPr wrap="square" lIns="0" tIns="0" rIns="0" bIns="0" rtlCol="0" anchor="ctr"/>
          <a:lstStyle/>
          <a:p>
            <a:pPr marL="0" indent="0" algn="ctr">
              <a:buNone/>
            </a:pPr>
            <a:r>
              <a:rPr lang="ja-JP" altLang="en-US" sz="1050" b="1" dirty="0">
                <a:solidFill>
                  <a:srgbClr val="FFFFFF"/>
                </a:solidFill>
                <a:latin typeface="Arial" pitchFamily="34" charset="0"/>
                <a:ea typeface="Arial" pitchFamily="34" charset="-122"/>
                <a:cs typeface="Arial" pitchFamily="34" charset="-120"/>
              </a:rPr>
              <a:t>2</a:t>
            </a:r>
            <a:endParaRPr lang="ja-JP" sz="1050" dirty="0"/>
          </a:p>
        </p:txBody>
      </p:sp>
      <p:sp>
        <p:nvSpPr>
          <p:cNvPr id="19" name="Shape 16"/>
          <p:cNvSpPr/>
          <p:nvPr/>
        </p:nvSpPr>
        <p:spPr>
          <a:xfrm>
            <a:off x="603504" y="4573524"/>
            <a:ext cx="228600" cy="228600"/>
          </a:xfrm>
          <a:prstGeom prst="ellipse">
            <a:avLst/>
          </a:prstGeom>
          <a:solidFill>
            <a:srgbClr val="0F172A"/>
          </a:solidFill>
          <a:ln w="19050">
            <a:solidFill>
              <a:srgbClr val="0F172A"/>
            </a:solidFill>
            <a:prstDash val="solid"/>
          </a:ln>
        </p:spPr>
        <p:txBody>
          <a:bodyPr/>
          <a:lstStyle/>
          <a:p>
            <a:endParaRPr lang="ja-JP" altLang="en-US"/>
          </a:p>
        </p:txBody>
      </p:sp>
      <p:sp>
        <p:nvSpPr>
          <p:cNvPr id="20" name="Text 17"/>
          <p:cNvSpPr txBox="1"/>
          <p:nvPr/>
        </p:nvSpPr>
        <p:spPr>
          <a:xfrm>
            <a:off x="603504" y="4573524"/>
            <a:ext cx="228600" cy="228600"/>
          </a:xfrm>
          <a:prstGeom prst="rect">
            <a:avLst/>
          </a:prstGeom>
          <a:noFill/>
          <a:ln/>
        </p:spPr>
        <p:txBody>
          <a:bodyPr wrap="square" lIns="0" tIns="0" rIns="0" bIns="0" rtlCol="0" anchor="ctr"/>
          <a:lstStyle/>
          <a:p>
            <a:pPr marL="0" indent="0" algn="ctr">
              <a:buNone/>
            </a:pPr>
            <a:r>
              <a:rPr lang="ja-JP" altLang="en-US" sz="1050" b="1" dirty="0">
                <a:solidFill>
                  <a:srgbClr val="FFFFFF"/>
                </a:solidFill>
                <a:latin typeface="Arial" pitchFamily="34" charset="0"/>
                <a:ea typeface="Arial" pitchFamily="34" charset="-122"/>
                <a:cs typeface="Arial" pitchFamily="34" charset="-120"/>
              </a:rPr>
              <a:t>6</a:t>
            </a:r>
            <a:endParaRPr lang="ja-JP" sz="1050" dirty="0"/>
          </a:p>
        </p:txBody>
      </p:sp>
      <p:sp>
        <p:nvSpPr>
          <p:cNvPr id="21" name="Shape 18"/>
          <p:cNvSpPr/>
          <p:nvPr/>
        </p:nvSpPr>
        <p:spPr>
          <a:xfrm>
            <a:off x="6492240" y="1453896"/>
            <a:ext cx="713232" cy="256032"/>
          </a:xfrm>
          <a:prstGeom prst="roundRect">
            <a:avLst>
              <a:gd name="adj" fmla="val 50000"/>
            </a:avLst>
          </a:prstGeom>
          <a:solidFill>
            <a:srgbClr val="0284C7"/>
          </a:solidFill>
          <a:ln w="12700">
            <a:solidFill>
              <a:srgbClr val="0284C7"/>
            </a:solidFill>
            <a:prstDash val="solid"/>
          </a:ln>
        </p:spPr>
        <p:txBody>
          <a:bodyPr/>
          <a:lstStyle/>
          <a:p>
            <a:endParaRPr lang="ja-JP" altLang="en-US"/>
          </a:p>
        </p:txBody>
      </p:sp>
      <p:sp>
        <p:nvSpPr>
          <p:cNvPr id="22" name="Text 19"/>
          <p:cNvSpPr txBox="1"/>
          <p:nvPr/>
        </p:nvSpPr>
        <p:spPr>
          <a:xfrm>
            <a:off x="6492240" y="1453896"/>
            <a:ext cx="713232" cy="256032"/>
          </a:xfrm>
          <a:prstGeom prst="rect">
            <a:avLst/>
          </a:prstGeom>
          <a:noFill/>
          <a:ln/>
        </p:spPr>
        <p:txBody>
          <a:bodyPr wrap="square" lIns="0" tIns="0" rIns="0" bIns="0" rtlCol="0" anchor="ctr"/>
          <a:lstStyle/>
          <a:p>
            <a:pPr marL="0" indent="0" algn="ctr">
              <a:buNone/>
            </a:pPr>
            <a:r>
              <a:rPr lang="en-US" altLang="en-US" sz="1050" b="1" dirty="0">
                <a:solidFill>
                  <a:srgbClr val="FFFFFF"/>
                </a:solidFill>
                <a:latin typeface="Arial" pitchFamily="34" charset="0"/>
                <a:ea typeface="Arial" pitchFamily="34" charset="-122"/>
                <a:cs typeface="Arial" pitchFamily="34" charset="-120"/>
              </a:rPr>
              <a:t>Required</a:t>
            </a:r>
            <a:endParaRPr lang="en-US" sz="1050" dirty="0"/>
          </a:p>
        </p:txBody>
      </p:sp>
      <p:sp>
        <p:nvSpPr>
          <p:cNvPr id="23" name="Text 20"/>
          <p:cNvSpPr txBox="1"/>
          <p:nvPr/>
        </p:nvSpPr>
        <p:spPr>
          <a:xfrm>
            <a:off x="7315200" y="1417320"/>
            <a:ext cx="4306824" cy="329184"/>
          </a:xfrm>
          <a:prstGeom prst="rect">
            <a:avLst/>
          </a:prstGeom>
          <a:noFill/>
          <a:ln/>
        </p:spPr>
        <p:txBody>
          <a:bodyPr wrap="square" lIns="0" tIns="0" rIns="0" bIns="0" rtlCol="0" anchor="ctr"/>
          <a:lstStyle/>
          <a:p>
            <a:pPr marL="0" indent="0" algn="l">
              <a:buNone/>
            </a:pPr>
            <a:r>
              <a:rPr lang="en-US" altLang="en-US" sz="1400" b="1" dirty="0">
                <a:solidFill>
                  <a:srgbClr val="FF0000"/>
                </a:solidFill>
                <a:latin typeface="Arial" pitchFamily="34" charset="0"/>
                <a:ea typeface="Arial" pitchFamily="34" charset="-122"/>
                <a:cs typeface="Arial" pitchFamily="34" charset="-120"/>
              </a:rPr>
              <a:t>Required steps</a:t>
            </a:r>
            <a:endParaRPr lang="en-US" sz="1400" dirty="0">
              <a:solidFill>
                <a:srgbClr val="FF0000"/>
              </a:solidFill>
            </a:endParaRPr>
          </a:p>
        </p:txBody>
      </p:sp>
      <p:sp>
        <p:nvSpPr>
          <p:cNvPr id="24" name="Shape 21"/>
          <p:cNvSpPr/>
          <p:nvPr/>
        </p:nvSpPr>
        <p:spPr>
          <a:xfrm>
            <a:off x="6492240" y="1901952"/>
            <a:ext cx="274320" cy="274320"/>
          </a:xfrm>
          <a:prstGeom prst="ellipse">
            <a:avLst/>
          </a:prstGeom>
          <a:solidFill>
            <a:srgbClr val="0284C7"/>
          </a:solidFill>
          <a:ln w="19050">
            <a:solidFill>
              <a:srgbClr val="0284C7"/>
            </a:solidFill>
            <a:prstDash val="solid"/>
          </a:ln>
        </p:spPr>
        <p:txBody>
          <a:bodyPr/>
          <a:lstStyle/>
          <a:p>
            <a:endParaRPr lang="ja-JP" altLang="en-US"/>
          </a:p>
        </p:txBody>
      </p:sp>
      <p:sp>
        <p:nvSpPr>
          <p:cNvPr id="25" name="Text 22"/>
          <p:cNvSpPr txBox="1"/>
          <p:nvPr/>
        </p:nvSpPr>
        <p:spPr>
          <a:xfrm>
            <a:off x="6492240" y="1901952"/>
            <a:ext cx="274320" cy="274320"/>
          </a:xfrm>
          <a:prstGeom prst="rect">
            <a:avLst/>
          </a:prstGeom>
          <a:noFill/>
          <a:ln/>
        </p:spPr>
        <p:txBody>
          <a:bodyPr wrap="square" lIns="0" tIns="0" rIns="0" bIns="0" rtlCol="0" anchor="ctr"/>
          <a:lstStyle/>
          <a:p>
            <a:pPr marL="0" indent="0" algn="ctr">
              <a:buNone/>
            </a:pPr>
            <a:r>
              <a:rPr lang="ja-JP" altLang="en-US" sz="1150" b="1" dirty="0">
                <a:solidFill>
                  <a:srgbClr val="FFFFFF"/>
                </a:solidFill>
                <a:latin typeface="Arial" pitchFamily="34" charset="0"/>
                <a:ea typeface="Arial" pitchFamily="34" charset="-122"/>
                <a:cs typeface="Arial" pitchFamily="34" charset="-120"/>
              </a:rPr>
              <a:t>1</a:t>
            </a:r>
            <a:endParaRPr lang="ja-JP" sz="1150" dirty="0"/>
          </a:p>
        </p:txBody>
      </p:sp>
      <p:sp>
        <p:nvSpPr>
          <p:cNvPr id="26" name="Text 23"/>
          <p:cNvSpPr txBox="1"/>
          <p:nvPr/>
        </p:nvSpPr>
        <p:spPr>
          <a:xfrm>
            <a:off x="6894576" y="1874520"/>
            <a:ext cx="4727448" cy="329184"/>
          </a:xfrm>
          <a:prstGeom prst="rect">
            <a:avLst/>
          </a:prstGeom>
          <a:noFill/>
          <a:ln/>
        </p:spPr>
        <p:txBody>
          <a:bodyPr wrap="square" lIns="0" tIns="0" rIns="0" bIns="0" rtlCol="0" anchor="ctr"/>
          <a:lstStyle/>
          <a:p>
            <a:pPr marL="0" indent="0" algn="l">
              <a:buNone/>
            </a:pPr>
            <a:r>
              <a:rPr lang="en-US" altLang="en-US" sz="1500" b="1" dirty="0">
                <a:solidFill>
                  <a:srgbClr val="FF0000"/>
                </a:solidFill>
                <a:latin typeface="Arial" pitchFamily="34" charset="0"/>
                <a:ea typeface="Arial" pitchFamily="34" charset="-122"/>
                <a:cs typeface="Arial" pitchFamily="34" charset="-120"/>
              </a:rPr>
              <a:t>Choose the input file</a:t>
            </a:r>
            <a:endParaRPr lang="en-US" sz="1500" dirty="0">
              <a:solidFill>
                <a:srgbClr val="FF0000"/>
              </a:solidFill>
            </a:endParaRPr>
          </a:p>
        </p:txBody>
      </p:sp>
      <p:sp>
        <p:nvSpPr>
          <p:cNvPr id="27" name="Shape 24"/>
          <p:cNvSpPr/>
          <p:nvPr/>
        </p:nvSpPr>
        <p:spPr>
          <a:xfrm>
            <a:off x="6492240" y="2377440"/>
            <a:ext cx="274320" cy="274320"/>
          </a:xfrm>
          <a:prstGeom prst="ellipse">
            <a:avLst/>
          </a:prstGeom>
          <a:solidFill>
            <a:srgbClr val="0284C7"/>
          </a:solidFill>
          <a:ln w="19050">
            <a:solidFill>
              <a:srgbClr val="0284C7"/>
            </a:solidFill>
            <a:prstDash val="solid"/>
          </a:ln>
        </p:spPr>
        <p:txBody>
          <a:bodyPr/>
          <a:lstStyle/>
          <a:p>
            <a:endParaRPr lang="ja-JP" altLang="en-US"/>
          </a:p>
        </p:txBody>
      </p:sp>
      <p:sp>
        <p:nvSpPr>
          <p:cNvPr id="28" name="Text 25"/>
          <p:cNvSpPr txBox="1"/>
          <p:nvPr/>
        </p:nvSpPr>
        <p:spPr>
          <a:xfrm>
            <a:off x="6492240" y="2377440"/>
            <a:ext cx="274320" cy="274320"/>
          </a:xfrm>
          <a:prstGeom prst="rect">
            <a:avLst/>
          </a:prstGeom>
          <a:noFill/>
          <a:ln/>
        </p:spPr>
        <p:txBody>
          <a:bodyPr wrap="square" lIns="0" tIns="0" rIns="0" bIns="0" rtlCol="0" anchor="ctr"/>
          <a:lstStyle/>
          <a:p>
            <a:pPr marL="0" indent="0" algn="ctr">
              <a:buNone/>
            </a:pPr>
            <a:r>
              <a:rPr lang="ja-JP" altLang="en-US" sz="1150" b="1" dirty="0">
                <a:solidFill>
                  <a:srgbClr val="FFFFFF"/>
                </a:solidFill>
                <a:latin typeface="Arial" pitchFamily="34" charset="0"/>
                <a:ea typeface="Arial" pitchFamily="34" charset="-122"/>
                <a:cs typeface="Arial" pitchFamily="34" charset="-120"/>
              </a:rPr>
              <a:t>2</a:t>
            </a:r>
            <a:endParaRPr lang="ja-JP" sz="1150" dirty="0"/>
          </a:p>
        </p:txBody>
      </p:sp>
      <p:sp>
        <p:nvSpPr>
          <p:cNvPr id="29" name="Text 26"/>
          <p:cNvSpPr txBox="1"/>
          <p:nvPr/>
        </p:nvSpPr>
        <p:spPr>
          <a:xfrm>
            <a:off x="6894576" y="2348582"/>
            <a:ext cx="4727448" cy="329184"/>
          </a:xfrm>
          <a:prstGeom prst="rect">
            <a:avLst/>
          </a:prstGeom>
          <a:noFill/>
          <a:ln/>
        </p:spPr>
        <p:txBody>
          <a:bodyPr wrap="square" lIns="0" tIns="0" rIns="0" bIns="0" rtlCol="0" anchor="ctr"/>
          <a:lstStyle/>
          <a:p>
            <a:pPr marL="0" indent="0" algn="l">
              <a:buNone/>
            </a:pPr>
            <a:r>
              <a:rPr lang="en-US" altLang="en-US" sz="1500" b="1" dirty="0">
                <a:solidFill>
                  <a:srgbClr val="FF0000"/>
                </a:solidFill>
                <a:latin typeface="Arial" pitchFamily="34" charset="0"/>
                <a:ea typeface="Arial" pitchFamily="34" charset="-122"/>
                <a:cs typeface="Arial" pitchFamily="34" charset="-120"/>
              </a:rPr>
              <a:t>“Run optimization”</a:t>
            </a:r>
            <a:endParaRPr lang="en-US" sz="1500" dirty="0">
              <a:solidFill>
                <a:srgbClr val="FF0000"/>
              </a:solidFill>
            </a:endParaRPr>
          </a:p>
        </p:txBody>
      </p:sp>
      <p:sp>
        <p:nvSpPr>
          <p:cNvPr id="30" name="Shape 27"/>
          <p:cNvSpPr/>
          <p:nvPr/>
        </p:nvSpPr>
        <p:spPr>
          <a:xfrm>
            <a:off x="6492240" y="3063240"/>
            <a:ext cx="713232" cy="256032"/>
          </a:xfrm>
          <a:prstGeom prst="roundRect">
            <a:avLst>
              <a:gd name="adj" fmla="val 50000"/>
            </a:avLst>
          </a:prstGeom>
          <a:solidFill>
            <a:srgbClr val="FFFFFF"/>
          </a:solidFill>
          <a:ln w="12700">
            <a:solidFill>
              <a:srgbClr val="94A3B8"/>
            </a:solidFill>
            <a:prstDash val="dash"/>
          </a:ln>
        </p:spPr>
        <p:txBody>
          <a:bodyPr/>
          <a:lstStyle/>
          <a:p>
            <a:endParaRPr lang="ja-JP" altLang="en-US"/>
          </a:p>
        </p:txBody>
      </p:sp>
      <p:sp>
        <p:nvSpPr>
          <p:cNvPr id="31" name="Text 28"/>
          <p:cNvSpPr txBox="1"/>
          <p:nvPr/>
        </p:nvSpPr>
        <p:spPr>
          <a:xfrm>
            <a:off x="6492240" y="3063240"/>
            <a:ext cx="713232" cy="256032"/>
          </a:xfrm>
          <a:prstGeom prst="rect">
            <a:avLst/>
          </a:prstGeom>
          <a:noFill/>
          <a:ln/>
        </p:spPr>
        <p:txBody>
          <a:bodyPr wrap="square" lIns="0" tIns="0" rIns="0" bIns="0" rtlCol="0" anchor="ctr"/>
          <a:lstStyle/>
          <a:p>
            <a:pPr marL="0" indent="0" algn="ctr">
              <a:buNone/>
            </a:pPr>
            <a:r>
              <a:rPr lang="en-US" altLang="en-US" sz="1050" dirty="0">
                <a:solidFill>
                  <a:srgbClr val="475569"/>
                </a:solidFill>
                <a:latin typeface="Arial" pitchFamily="34" charset="0"/>
                <a:ea typeface="Arial" pitchFamily="34" charset="-122"/>
                <a:cs typeface="Arial" pitchFamily="34" charset="-120"/>
              </a:rPr>
              <a:t>Optional</a:t>
            </a:r>
            <a:endParaRPr lang="en-US" sz="1050" dirty="0"/>
          </a:p>
        </p:txBody>
      </p:sp>
      <p:sp>
        <p:nvSpPr>
          <p:cNvPr id="32" name="Text 29"/>
          <p:cNvSpPr txBox="1"/>
          <p:nvPr/>
        </p:nvSpPr>
        <p:spPr>
          <a:xfrm>
            <a:off x="7315200" y="3026664"/>
            <a:ext cx="4306824" cy="329184"/>
          </a:xfrm>
          <a:prstGeom prst="rect">
            <a:avLst/>
          </a:prstGeom>
          <a:noFill/>
          <a:ln/>
        </p:spPr>
        <p:txBody>
          <a:bodyPr wrap="square" lIns="0" tIns="0" rIns="0" bIns="0" rtlCol="0" anchor="ctr"/>
          <a:lstStyle/>
          <a:p>
            <a:pPr marL="0" indent="0" algn="l">
              <a:buNone/>
            </a:pPr>
            <a:r>
              <a:rPr lang="en-US" altLang="en-US" sz="1400" b="1" dirty="0">
                <a:solidFill>
                  <a:srgbClr val="0F172A"/>
                </a:solidFill>
                <a:latin typeface="Arial" pitchFamily="34" charset="0"/>
                <a:ea typeface="Arial" pitchFamily="34" charset="-122"/>
                <a:cs typeface="Arial" pitchFamily="34" charset="-120"/>
              </a:rPr>
              <a:t>Optional (defaults work)</a:t>
            </a:r>
            <a:endParaRPr lang="en-US" sz="1400" dirty="0"/>
          </a:p>
        </p:txBody>
      </p:sp>
      <p:sp>
        <p:nvSpPr>
          <p:cNvPr id="33" name="Shape 30"/>
          <p:cNvSpPr/>
          <p:nvPr/>
        </p:nvSpPr>
        <p:spPr>
          <a:xfrm>
            <a:off x="6492240" y="3511296"/>
            <a:ext cx="274320" cy="274320"/>
          </a:xfrm>
          <a:prstGeom prst="ellipse">
            <a:avLst/>
          </a:prstGeom>
          <a:solidFill>
            <a:srgbClr val="FFFFFF"/>
          </a:solidFill>
          <a:ln w="19050">
            <a:solidFill>
              <a:srgbClr val="475569"/>
            </a:solidFill>
            <a:prstDash val="solid"/>
          </a:ln>
        </p:spPr>
        <p:txBody>
          <a:bodyPr/>
          <a:lstStyle/>
          <a:p>
            <a:endParaRPr lang="ja-JP" altLang="en-US"/>
          </a:p>
        </p:txBody>
      </p:sp>
      <p:sp>
        <p:nvSpPr>
          <p:cNvPr id="34" name="Text 31"/>
          <p:cNvSpPr txBox="1"/>
          <p:nvPr/>
        </p:nvSpPr>
        <p:spPr>
          <a:xfrm>
            <a:off x="6492240" y="3511296"/>
            <a:ext cx="274320" cy="274320"/>
          </a:xfrm>
          <a:prstGeom prst="rect">
            <a:avLst/>
          </a:prstGeom>
          <a:noFill/>
          <a:ln/>
        </p:spPr>
        <p:txBody>
          <a:bodyPr wrap="square" lIns="0" tIns="0" rIns="0" bIns="0" rtlCol="0" anchor="ctr"/>
          <a:lstStyle/>
          <a:p>
            <a:pPr marL="0" indent="0" algn="ctr">
              <a:buNone/>
            </a:pPr>
            <a:r>
              <a:rPr lang="ja-JP" altLang="en-US" sz="1150" b="1" dirty="0">
                <a:solidFill>
                  <a:srgbClr val="475569"/>
                </a:solidFill>
                <a:latin typeface="Arial" pitchFamily="34" charset="0"/>
                <a:ea typeface="Arial" pitchFamily="34" charset="-122"/>
                <a:cs typeface="Arial" pitchFamily="34" charset="-120"/>
              </a:rPr>
              <a:t>3</a:t>
            </a:r>
            <a:endParaRPr lang="ja-JP" sz="1150" dirty="0"/>
          </a:p>
        </p:txBody>
      </p:sp>
      <p:sp>
        <p:nvSpPr>
          <p:cNvPr id="35" name="Text 32"/>
          <p:cNvSpPr txBox="1"/>
          <p:nvPr/>
        </p:nvSpPr>
        <p:spPr>
          <a:xfrm>
            <a:off x="6894576" y="3483864"/>
            <a:ext cx="4727448" cy="329184"/>
          </a:xfrm>
          <a:prstGeom prst="rect">
            <a:avLst/>
          </a:prstGeom>
          <a:noFill/>
          <a:ln/>
        </p:spPr>
        <p:txBody>
          <a:bodyPr wrap="square" lIns="0" tIns="0" rIns="0" bIns="0" rtlCol="0" anchor="ctr"/>
          <a:lstStyle/>
          <a:p>
            <a:pPr marL="0" indent="0" algn="l">
              <a:buNone/>
            </a:pPr>
            <a:r>
              <a:rPr lang="en-US" altLang="en-US" sz="1500" b="1" dirty="0">
                <a:solidFill>
                  <a:srgbClr val="0F172A"/>
                </a:solidFill>
                <a:latin typeface="Arial" pitchFamily="34" charset="0"/>
                <a:ea typeface="Arial" pitchFamily="34" charset="-122"/>
                <a:cs typeface="Arial" pitchFamily="34" charset="-120"/>
              </a:rPr>
              <a:t>Weights (0–10, default 1.0)</a:t>
            </a:r>
            <a:endParaRPr lang="en-US" sz="1500" dirty="0"/>
          </a:p>
        </p:txBody>
      </p:sp>
      <p:sp>
        <p:nvSpPr>
          <p:cNvPr id="36" name="Shape 33"/>
          <p:cNvSpPr/>
          <p:nvPr/>
        </p:nvSpPr>
        <p:spPr>
          <a:xfrm>
            <a:off x="6492240" y="3986784"/>
            <a:ext cx="274320" cy="274320"/>
          </a:xfrm>
          <a:prstGeom prst="ellipse">
            <a:avLst/>
          </a:prstGeom>
          <a:solidFill>
            <a:srgbClr val="FFFFFF"/>
          </a:solidFill>
          <a:ln w="19050">
            <a:solidFill>
              <a:srgbClr val="475569"/>
            </a:solidFill>
            <a:prstDash val="solid"/>
          </a:ln>
        </p:spPr>
        <p:txBody>
          <a:bodyPr/>
          <a:lstStyle/>
          <a:p>
            <a:endParaRPr lang="ja-JP" altLang="en-US"/>
          </a:p>
        </p:txBody>
      </p:sp>
      <p:sp>
        <p:nvSpPr>
          <p:cNvPr id="37" name="Text 34"/>
          <p:cNvSpPr txBox="1"/>
          <p:nvPr/>
        </p:nvSpPr>
        <p:spPr>
          <a:xfrm>
            <a:off x="6492240" y="3986784"/>
            <a:ext cx="274320" cy="274320"/>
          </a:xfrm>
          <a:prstGeom prst="rect">
            <a:avLst/>
          </a:prstGeom>
          <a:noFill/>
          <a:ln/>
        </p:spPr>
        <p:txBody>
          <a:bodyPr wrap="square" lIns="0" tIns="0" rIns="0" bIns="0" rtlCol="0" anchor="ctr"/>
          <a:lstStyle/>
          <a:p>
            <a:pPr marL="0" indent="0" algn="ctr">
              <a:buNone/>
            </a:pPr>
            <a:r>
              <a:rPr lang="ja-JP" altLang="en-US" sz="1150" b="1" dirty="0">
                <a:solidFill>
                  <a:srgbClr val="475569"/>
                </a:solidFill>
                <a:latin typeface="Arial" pitchFamily="34" charset="0"/>
                <a:ea typeface="Arial" pitchFamily="34" charset="-122"/>
                <a:cs typeface="Arial" pitchFamily="34" charset="-120"/>
              </a:rPr>
              <a:t>4</a:t>
            </a:r>
            <a:endParaRPr lang="ja-JP" sz="1150" dirty="0"/>
          </a:p>
        </p:txBody>
      </p:sp>
      <p:sp>
        <p:nvSpPr>
          <p:cNvPr id="38" name="Text 35"/>
          <p:cNvSpPr txBox="1"/>
          <p:nvPr/>
        </p:nvSpPr>
        <p:spPr>
          <a:xfrm>
            <a:off x="6894576" y="3959352"/>
            <a:ext cx="4727448" cy="329184"/>
          </a:xfrm>
          <a:prstGeom prst="rect">
            <a:avLst/>
          </a:prstGeom>
          <a:noFill/>
          <a:ln/>
        </p:spPr>
        <p:txBody>
          <a:bodyPr wrap="square" lIns="0" tIns="0" rIns="0" bIns="0" rtlCol="0" anchor="ctr"/>
          <a:lstStyle/>
          <a:p>
            <a:pPr marL="0" indent="0" algn="l">
              <a:buNone/>
            </a:pPr>
            <a:r>
              <a:rPr lang="en-US" altLang="en-US" sz="1500" b="1" dirty="0">
                <a:solidFill>
                  <a:srgbClr val="0F172A"/>
                </a:solidFill>
                <a:latin typeface="Arial" pitchFamily="34" charset="0"/>
                <a:ea typeface="Arial" pitchFamily="34" charset="-122"/>
                <a:cs typeface="Arial" pitchFamily="34" charset="-120"/>
              </a:rPr>
              <a:t>Gap · time limit · candidates</a:t>
            </a:r>
            <a:endParaRPr lang="en-US" sz="1500" dirty="0"/>
          </a:p>
        </p:txBody>
      </p:sp>
      <p:sp>
        <p:nvSpPr>
          <p:cNvPr id="39" name="Shape 36"/>
          <p:cNvSpPr/>
          <p:nvPr/>
        </p:nvSpPr>
        <p:spPr>
          <a:xfrm>
            <a:off x="6492240" y="4462272"/>
            <a:ext cx="274320" cy="274320"/>
          </a:xfrm>
          <a:prstGeom prst="ellipse">
            <a:avLst/>
          </a:prstGeom>
          <a:solidFill>
            <a:srgbClr val="FFFFFF"/>
          </a:solidFill>
          <a:ln w="19050">
            <a:solidFill>
              <a:srgbClr val="475569"/>
            </a:solidFill>
            <a:prstDash val="solid"/>
          </a:ln>
        </p:spPr>
        <p:txBody>
          <a:bodyPr/>
          <a:lstStyle/>
          <a:p>
            <a:endParaRPr lang="ja-JP" altLang="en-US"/>
          </a:p>
        </p:txBody>
      </p:sp>
      <p:sp>
        <p:nvSpPr>
          <p:cNvPr id="40" name="Text 37"/>
          <p:cNvSpPr txBox="1"/>
          <p:nvPr/>
        </p:nvSpPr>
        <p:spPr>
          <a:xfrm>
            <a:off x="6492240" y="4462272"/>
            <a:ext cx="274320" cy="274320"/>
          </a:xfrm>
          <a:prstGeom prst="rect">
            <a:avLst/>
          </a:prstGeom>
          <a:noFill/>
          <a:ln/>
        </p:spPr>
        <p:txBody>
          <a:bodyPr wrap="square" lIns="0" tIns="0" rIns="0" bIns="0" rtlCol="0" anchor="ctr"/>
          <a:lstStyle/>
          <a:p>
            <a:pPr marL="0" indent="0" algn="ctr">
              <a:buNone/>
            </a:pPr>
            <a:r>
              <a:rPr lang="ja-JP" altLang="en-US" sz="1150" b="1" dirty="0">
                <a:solidFill>
                  <a:srgbClr val="475569"/>
                </a:solidFill>
                <a:latin typeface="Arial" pitchFamily="34" charset="0"/>
                <a:ea typeface="Arial" pitchFamily="34" charset="-122"/>
                <a:cs typeface="Arial" pitchFamily="34" charset="-120"/>
              </a:rPr>
              <a:t>5</a:t>
            </a:r>
            <a:endParaRPr lang="ja-JP" sz="1150" dirty="0"/>
          </a:p>
        </p:txBody>
      </p:sp>
      <p:sp>
        <p:nvSpPr>
          <p:cNvPr id="41" name="Text 38"/>
          <p:cNvSpPr txBox="1"/>
          <p:nvPr/>
        </p:nvSpPr>
        <p:spPr>
          <a:xfrm>
            <a:off x="6894576" y="4434840"/>
            <a:ext cx="4727448" cy="329184"/>
          </a:xfrm>
          <a:prstGeom prst="rect">
            <a:avLst/>
          </a:prstGeom>
          <a:noFill/>
          <a:ln/>
        </p:spPr>
        <p:txBody>
          <a:bodyPr wrap="square" lIns="0" tIns="0" rIns="0" bIns="0" rtlCol="0" anchor="ctr"/>
          <a:lstStyle/>
          <a:p>
            <a:pPr marL="0" indent="0" algn="l">
              <a:buNone/>
            </a:pPr>
            <a:r>
              <a:rPr lang="en-US" altLang="en-US" sz="1500" b="1" dirty="0">
                <a:solidFill>
                  <a:srgbClr val="0F172A"/>
                </a:solidFill>
                <a:latin typeface="Arial" pitchFamily="34" charset="0"/>
                <a:ea typeface="Arial" pitchFamily="34" charset="-122"/>
                <a:cs typeface="Arial" pitchFamily="34" charset="-120"/>
              </a:rPr>
              <a:t>Save the run log</a:t>
            </a:r>
            <a:endParaRPr lang="en-US" sz="1500" dirty="0"/>
          </a:p>
        </p:txBody>
      </p:sp>
      <p:sp>
        <p:nvSpPr>
          <p:cNvPr id="42" name="Shape 39"/>
          <p:cNvSpPr/>
          <p:nvPr/>
        </p:nvSpPr>
        <p:spPr>
          <a:xfrm>
            <a:off x="6492240" y="5148072"/>
            <a:ext cx="713232" cy="256032"/>
          </a:xfrm>
          <a:prstGeom prst="roundRect">
            <a:avLst>
              <a:gd name="adj" fmla="val 50000"/>
            </a:avLst>
          </a:prstGeom>
          <a:solidFill>
            <a:srgbClr val="0F172A"/>
          </a:solidFill>
          <a:ln w="12700">
            <a:solidFill>
              <a:srgbClr val="0F172A"/>
            </a:solidFill>
            <a:prstDash val="solid"/>
          </a:ln>
        </p:spPr>
        <p:txBody>
          <a:bodyPr/>
          <a:lstStyle/>
          <a:p>
            <a:endParaRPr lang="ja-JP" altLang="en-US"/>
          </a:p>
        </p:txBody>
      </p:sp>
      <p:sp>
        <p:nvSpPr>
          <p:cNvPr id="43" name="Text 40"/>
          <p:cNvSpPr txBox="1"/>
          <p:nvPr/>
        </p:nvSpPr>
        <p:spPr>
          <a:xfrm>
            <a:off x="6492240" y="5148072"/>
            <a:ext cx="713232" cy="256032"/>
          </a:xfrm>
          <a:prstGeom prst="rect">
            <a:avLst/>
          </a:prstGeom>
          <a:noFill/>
          <a:ln/>
        </p:spPr>
        <p:txBody>
          <a:bodyPr wrap="square" lIns="0" tIns="0" rIns="0" bIns="0" rtlCol="0" anchor="ctr"/>
          <a:lstStyle/>
          <a:p>
            <a:pPr marL="0" indent="0" algn="ctr">
              <a:buNone/>
            </a:pPr>
            <a:r>
              <a:rPr lang="en-US" altLang="en-US" sz="1050" b="1" dirty="0">
                <a:solidFill>
                  <a:srgbClr val="FFFFFF"/>
                </a:solidFill>
                <a:latin typeface="Arial" pitchFamily="34" charset="0"/>
                <a:ea typeface="Arial" pitchFamily="34" charset="-122"/>
                <a:cs typeface="Arial" pitchFamily="34" charset="-120"/>
              </a:rPr>
              <a:t>Result</a:t>
            </a:r>
            <a:endParaRPr lang="en-US" sz="1050" dirty="0"/>
          </a:p>
        </p:txBody>
      </p:sp>
      <p:sp>
        <p:nvSpPr>
          <p:cNvPr id="44" name="Text 41"/>
          <p:cNvSpPr txBox="1"/>
          <p:nvPr/>
        </p:nvSpPr>
        <p:spPr>
          <a:xfrm>
            <a:off x="7315200" y="5111496"/>
            <a:ext cx="4306824" cy="329184"/>
          </a:xfrm>
          <a:prstGeom prst="rect">
            <a:avLst/>
          </a:prstGeom>
          <a:noFill/>
          <a:ln/>
        </p:spPr>
        <p:txBody>
          <a:bodyPr wrap="square" lIns="0" tIns="0" rIns="0" bIns="0" rtlCol="0" anchor="ctr"/>
          <a:lstStyle/>
          <a:p>
            <a:pPr marL="0" indent="0" algn="l">
              <a:buNone/>
            </a:pPr>
            <a:r>
              <a:rPr lang="en-US" altLang="en-US" sz="1400" b="1" dirty="0">
                <a:solidFill>
                  <a:srgbClr val="0F172A"/>
                </a:solidFill>
                <a:latin typeface="Arial" pitchFamily="34" charset="0"/>
                <a:ea typeface="Arial" pitchFamily="34" charset="-122"/>
                <a:cs typeface="Arial" pitchFamily="34" charset="-120"/>
              </a:rPr>
              <a:t>Check the result</a:t>
            </a:r>
            <a:endParaRPr lang="en-US" sz="1400" dirty="0"/>
          </a:p>
        </p:txBody>
      </p:sp>
      <p:sp>
        <p:nvSpPr>
          <p:cNvPr id="45" name="Shape 42"/>
          <p:cNvSpPr/>
          <p:nvPr/>
        </p:nvSpPr>
        <p:spPr>
          <a:xfrm>
            <a:off x="6492240" y="5596128"/>
            <a:ext cx="274320" cy="274320"/>
          </a:xfrm>
          <a:prstGeom prst="ellipse">
            <a:avLst/>
          </a:prstGeom>
          <a:solidFill>
            <a:srgbClr val="0F172A"/>
          </a:solidFill>
          <a:ln w="19050">
            <a:solidFill>
              <a:srgbClr val="0F172A"/>
            </a:solidFill>
            <a:prstDash val="solid"/>
          </a:ln>
        </p:spPr>
        <p:txBody>
          <a:bodyPr/>
          <a:lstStyle/>
          <a:p>
            <a:endParaRPr lang="ja-JP" altLang="en-US"/>
          </a:p>
        </p:txBody>
      </p:sp>
      <p:sp>
        <p:nvSpPr>
          <p:cNvPr id="46" name="Text 43"/>
          <p:cNvSpPr txBox="1"/>
          <p:nvPr/>
        </p:nvSpPr>
        <p:spPr>
          <a:xfrm>
            <a:off x="6492240" y="5596128"/>
            <a:ext cx="274320" cy="274320"/>
          </a:xfrm>
          <a:prstGeom prst="rect">
            <a:avLst/>
          </a:prstGeom>
          <a:noFill/>
          <a:ln/>
        </p:spPr>
        <p:txBody>
          <a:bodyPr wrap="square" lIns="0" tIns="0" rIns="0" bIns="0" rtlCol="0" anchor="ctr"/>
          <a:lstStyle/>
          <a:p>
            <a:pPr marL="0" indent="0" algn="ctr">
              <a:buNone/>
            </a:pPr>
            <a:r>
              <a:rPr lang="ja-JP" altLang="en-US" sz="1150" b="1" dirty="0">
                <a:solidFill>
                  <a:srgbClr val="FFFFFF"/>
                </a:solidFill>
                <a:latin typeface="Arial" pitchFamily="34" charset="0"/>
                <a:ea typeface="Arial" pitchFamily="34" charset="-122"/>
                <a:cs typeface="Arial" pitchFamily="34" charset="-120"/>
              </a:rPr>
              <a:t>6</a:t>
            </a:r>
            <a:endParaRPr lang="ja-JP" sz="1150" dirty="0"/>
          </a:p>
        </p:txBody>
      </p:sp>
      <p:sp>
        <p:nvSpPr>
          <p:cNvPr id="47" name="Text 44"/>
          <p:cNvSpPr txBox="1"/>
          <p:nvPr/>
        </p:nvSpPr>
        <p:spPr>
          <a:xfrm>
            <a:off x="6894576" y="5568696"/>
            <a:ext cx="4727448" cy="329184"/>
          </a:xfrm>
          <a:prstGeom prst="rect">
            <a:avLst/>
          </a:prstGeom>
          <a:noFill/>
          <a:ln/>
        </p:spPr>
        <p:txBody>
          <a:bodyPr wrap="square" lIns="0" tIns="0" rIns="0" bIns="0" rtlCol="0" anchor="ctr"/>
          <a:lstStyle/>
          <a:p>
            <a:pPr marL="0" indent="0" algn="l">
              <a:buNone/>
            </a:pPr>
            <a:r>
              <a:rPr lang="en-US" altLang="en-US" sz="1500" b="1" dirty="0">
                <a:solidFill>
                  <a:srgbClr val="0F172A"/>
                </a:solidFill>
                <a:latin typeface="Arial" pitchFamily="34" charset="0"/>
                <a:ea typeface="Arial" pitchFamily="34" charset="-122"/>
                <a:cs typeface="Arial" pitchFamily="34" charset="-120"/>
              </a:rPr>
              <a:t>Score and breakdown</a:t>
            </a:r>
            <a:endParaRPr lang="en-US" sz="1500" dirty="0"/>
          </a:p>
        </p:txBody>
      </p:sp>
      <p:sp>
        <p:nvSpPr>
          <p:cNvPr id="48" name="Text 45"/>
          <p:cNvSpPr txBox="1"/>
          <p:nvPr/>
        </p:nvSpPr>
        <p:spPr>
          <a:xfrm>
            <a:off x="5577840" y="6144768"/>
            <a:ext cx="6044184" cy="256032"/>
          </a:xfrm>
          <a:prstGeom prst="rect">
            <a:avLst/>
          </a:prstGeom>
          <a:noFill/>
          <a:ln/>
        </p:spPr>
        <p:txBody>
          <a:bodyPr wrap="square" lIns="0" tIns="0" rIns="0" bIns="0" rtlCol="0" anchor="ctr"/>
          <a:lstStyle/>
          <a:p>
            <a:pPr marL="0" indent="0" algn="r">
              <a:buNone/>
            </a:pPr>
            <a:r>
              <a:rPr lang="en-US" altLang="en-US" sz="1100" b="1" dirty="0">
                <a:solidFill>
                  <a:srgbClr val="0284C7"/>
                </a:solidFill>
                <a:latin typeface="Arial" pitchFamily="34" charset="0"/>
                <a:ea typeface="Arial" pitchFamily="34" charset="-122"/>
                <a:cs typeface="Arial" pitchFamily="34" charset="-120"/>
              </a:rPr>
              <a:t>Settings → Appendix A4</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6FD6710-3D07-FCD6-ADB8-C370F81990D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0D7758F-F44B-6C50-5464-4F951EDE85BB}"/>
              </a:ext>
            </a:extLst>
          </p:cNvPr>
          <p:cNvSpPr txBox="1"/>
          <p:nvPr/>
        </p:nvSpPr>
        <p:spPr>
          <a:xfrm>
            <a:off x="11164824" y="6492240"/>
            <a:ext cx="457200" cy="219456"/>
          </a:xfrm>
          <a:prstGeom prst="rect">
            <a:avLst/>
          </a:prstGeom>
          <a:noFill/>
          <a:ln/>
        </p:spPr>
        <p:txBody>
          <a:bodyPr wrap="square" lIns="0" tIns="0" rIns="0" bIns="0" rtlCol="0" anchor="ctr"/>
          <a:lstStyle/>
          <a:p>
            <a:pPr marL="0" indent="0" algn="r">
              <a:buNone/>
            </a:pPr>
            <a:fld id="{8B2C3E4A-5D6F-4A1B-9C2D-3E4F5A6B7C8D}" type="slidenum">
              <a:rPr lang="en-US" altLang="ja-JP" sz="1000" dirty="0">
                <a:solidFill>
                  <a:srgbClr val="94A3B8"/>
                </a:solidFill>
                <a:latin typeface="Arial" pitchFamily="34" charset="0"/>
                <a:ea typeface="Arial" pitchFamily="34" charset="-122"/>
                <a:cs typeface="Arial" pitchFamily="34" charset="-120"/>
              </a:rPr>
              <a:t>13</a:t>
            </a:fld>
            <a:endParaRPr lang="en-US" altLang="ja-JP" sz="1000" dirty="0"/>
          </a:p>
        </p:txBody>
      </p:sp>
      <p:sp>
        <p:nvSpPr>
          <p:cNvPr id="3" name="Text 1">
            <a:extLst>
              <a:ext uri="{FF2B5EF4-FFF2-40B4-BE49-F238E27FC236}">
                <a16:creationId xmlns:a16="http://schemas.microsoft.com/office/drawing/2014/main" id="{05F4DB44-7CE4-417C-05A5-88C7B5A6C15D}"/>
              </a:ext>
            </a:extLst>
          </p:cNvPr>
          <p:cNvSpPr txBox="1"/>
          <p:nvPr/>
        </p:nvSpPr>
        <p:spPr>
          <a:xfrm>
            <a:off x="566928" y="310896"/>
            <a:ext cx="11055096" cy="237744"/>
          </a:xfrm>
          <a:prstGeom prst="rect">
            <a:avLst/>
          </a:prstGeom>
          <a:noFill/>
          <a:ln/>
        </p:spPr>
        <p:txBody>
          <a:bodyPr wrap="square" lIns="0" tIns="0" rIns="0" bIns="0" rtlCol="0" anchor="ctr"/>
          <a:lstStyle/>
          <a:p>
            <a:pPr marL="0" indent="0" algn="l">
              <a:buNone/>
            </a:pPr>
            <a:r>
              <a:rPr lang="en-US" altLang="en-US" sz="1200" b="1" kern="0" spc="100" dirty="0">
                <a:solidFill>
                  <a:srgbClr val="0284C7"/>
                </a:solidFill>
                <a:latin typeface="Arial" pitchFamily="34" charset="0"/>
                <a:ea typeface="Arial" pitchFamily="34" charset="-122"/>
                <a:cs typeface="Arial" pitchFamily="34" charset="-120"/>
              </a:rPr>
              <a:t>2. System Design</a:t>
            </a:r>
            <a:endParaRPr lang="en-US" sz="1200" dirty="0"/>
          </a:p>
        </p:txBody>
      </p:sp>
      <p:sp>
        <p:nvSpPr>
          <p:cNvPr id="4" name="Text 2">
            <a:extLst>
              <a:ext uri="{FF2B5EF4-FFF2-40B4-BE49-F238E27FC236}">
                <a16:creationId xmlns:a16="http://schemas.microsoft.com/office/drawing/2014/main" id="{39014CEC-3DFB-000E-D88D-9CAB41CCC0C5}"/>
              </a:ext>
            </a:extLst>
          </p:cNvPr>
          <p:cNvSpPr txBox="1"/>
          <p:nvPr/>
        </p:nvSpPr>
        <p:spPr>
          <a:xfrm>
            <a:off x="566928" y="566928"/>
            <a:ext cx="11055096" cy="566928"/>
          </a:xfrm>
          <a:prstGeom prst="rect">
            <a:avLst/>
          </a:prstGeom>
          <a:noFill/>
          <a:ln/>
        </p:spPr>
        <p:txBody>
          <a:bodyPr wrap="square" lIns="0" tIns="0" rIns="0" bIns="0" rtlCol="0" anchor="ctr"/>
          <a:lstStyle/>
          <a:p>
            <a:pPr marL="0" indent="0" algn="l">
              <a:buNone/>
            </a:pPr>
            <a:r>
              <a:rPr lang="en-US" altLang="en-US" sz="2800" b="1" dirty="0">
                <a:solidFill>
                  <a:srgbClr val="0F172A"/>
                </a:solidFill>
                <a:latin typeface="Arial" pitchFamily="34" charset="0"/>
                <a:ea typeface="Arial" pitchFamily="34" charset="-122"/>
                <a:cs typeface="Arial" pitchFamily="34" charset="-120"/>
              </a:rPr>
              <a:t>App Screen: How It Works</a:t>
            </a:r>
            <a:endParaRPr lang="en-US" sz="2800" dirty="0"/>
          </a:p>
        </p:txBody>
      </p:sp>
      <p:pic>
        <p:nvPicPr>
          <p:cNvPr id="50" name="動画編集v3">
            <a:hlinkClick r:id="" action="ppaction://media"/>
            <a:extLst>
              <a:ext uri="{FF2B5EF4-FFF2-40B4-BE49-F238E27FC236}">
                <a16:creationId xmlns:a16="http://schemas.microsoft.com/office/drawing/2014/main" id="{2818DF62-E282-A5C0-6986-54ED7A13FD19}"/>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l="18390" r="18307"/>
          <a:stretch>
            <a:fillRect/>
          </a:stretch>
        </p:blipFill>
        <p:spPr>
          <a:xfrm>
            <a:off x="2265028" y="1152144"/>
            <a:ext cx="6316911" cy="5613124"/>
          </a:xfrm>
          <a:prstGeom prst="rect">
            <a:avLst/>
          </a:prstGeom>
        </p:spPr>
      </p:pic>
    </p:spTree>
    <p:extLst>
      <p:ext uri="{BB962C8B-B14F-4D97-AF65-F5344CB8AC3E}">
        <p14:creationId xmlns:p14="http://schemas.microsoft.com/office/powerpoint/2010/main" val="1895319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7233" fill="hold"/>
                                        <p:tgtEl>
                                          <p:spTgt spid="5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0"/>
                </p:tgtEl>
              </p:cMediaNode>
            </p:video>
            <p:seq concurrent="1" nextAc="seek">
              <p:cTn id="8" restart="whenNotActive" fill="hold" evtFilter="cancelBubble" nodeType="interactiveSeq">
                <p:stCondLst>
                  <p:cond evt="onClick" delay="0">
                    <p:tgtEl>
                      <p:spTgt spid="5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0"/>
                                        </p:tgtEl>
                                      </p:cBhvr>
                                    </p:cmd>
                                  </p:childTnLst>
                                </p:cTn>
                              </p:par>
                            </p:childTnLst>
                          </p:cTn>
                        </p:par>
                      </p:childTnLst>
                    </p:cTn>
                  </p:par>
                </p:childTnLst>
              </p:cTn>
              <p:nextCondLst>
                <p:cond evt="onClick" delay="0">
                  <p:tgtEl>
                    <p:spTgt spid="50"/>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5096" cy="237744"/>
          </a:xfrm>
          <a:prstGeom prst="rect">
            <a:avLst/>
          </a:prstGeom>
          <a:noFill/>
        </p:spPr>
        <p:txBody>
          <a:bodyPr wrap="square">
            <a:spAutoFit/>
          </a:bodyPr>
          <a:lstStyle/>
          <a:p>
            <a:r>
              <a:rPr sz="1200" b="1">
                <a:solidFill>
                  <a:srgbClr val="0284C7"/>
                </a:solidFill>
                <a:latin typeface="Arial"/>
              </a:rPr>
              <a:t>2. System Design</a:t>
            </a:r>
          </a:p>
        </p:txBody>
      </p:sp>
      <p:sp>
        <p:nvSpPr>
          <p:cNvPr id="3" name="TextBox 2"/>
          <p:cNvSpPr txBox="1"/>
          <p:nvPr/>
        </p:nvSpPr>
        <p:spPr>
          <a:xfrm>
            <a:off x="566928" y="566928"/>
            <a:ext cx="11055096" cy="566928"/>
          </a:xfrm>
          <a:prstGeom prst="rect">
            <a:avLst/>
          </a:prstGeom>
          <a:noFill/>
        </p:spPr>
        <p:txBody>
          <a:bodyPr wrap="square">
            <a:spAutoFit/>
          </a:bodyPr>
          <a:lstStyle/>
          <a:p>
            <a:r>
              <a:rPr sz="2800" b="1">
                <a:solidFill>
                  <a:srgbClr val="0F172A"/>
                </a:solidFill>
                <a:latin typeface="Arial"/>
              </a:rPr>
              <a:t>What Is Mathematical Optimization?</a:t>
            </a:r>
          </a:p>
        </p:txBody>
      </p:sp>
      <p:sp>
        <p:nvSpPr>
          <p:cNvPr id="4" name="TextBox 3"/>
          <p:cNvSpPr txBox="1"/>
          <p:nvPr/>
        </p:nvSpPr>
        <p:spPr>
          <a:xfrm>
            <a:off x="11164824" y="6492240"/>
            <a:ext cx="457200" cy="219456"/>
          </a:xfrm>
          <a:prstGeom prst="rect">
            <a:avLst/>
          </a:prstGeom>
          <a:noFill/>
          <a:ln/>
        </p:spPr>
        <p:txBody>
          <a:bodyPr wrap="square" lIns="0" tIns="0" rIns="0" bIns="0" rtlCol="0" anchor="ctr"/>
          <a:lstStyle/>
          <a:p>
            <a:pPr marL="0" indent="0" algn="r">
              <a:buNone/>
            </a:pPr>
            <a:fld id="{8B2C3E4A-5D6F-4A1B-9C2D-3E4F5A6B7C8D}" type="slidenum">
              <a:rPr lang="en-US" altLang="ja-JP" sz="1000" dirty="0">
                <a:solidFill>
                  <a:srgbClr val="94A3B8"/>
                </a:solidFill>
                <a:latin typeface="Arial" pitchFamily="34" charset="0"/>
                <a:ea typeface="Arial" pitchFamily="34" charset="-122"/>
                <a:cs typeface="Arial" pitchFamily="34" charset="-120"/>
              </a:rPr>
              <a:t>14</a:t>
            </a:fld>
            <a:endParaRPr lang="en-US" altLang="ja-JP" sz="1000" dirty="0"/>
          </a:p>
        </p:txBody>
      </p:sp>
      <p:sp>
        <p:nvSpPr>
          <p:cNvPr id="5" name="Rectangle 4"/>
          <p:cNvSpPr/>
          <p:nvPr/>
        </p:nvSpPr>
        <p:spPr>
          <a:xfrm>
            <a:off x="566928" y="1463040"/>
            <a:ext cx="11055096" cy="640080"/>
          </a:xfrm>
          <a:prstGeom prst="rect">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1463040"/>
            <a:ext cx="11055096" cy="640080"/>
          </a:xfrm>
          <a:prstGeom prst="rect">
            <a:avLst/>
          </a:prstGeom>
          <a:noFill/>
        </p:spPr>
        <p:txBody>
          <a:bodyPr wrap="square" anchor="ctr">
            <a:spAutoFit/>
          </a:bodyPr>
          <a:lstStyle/>
          <a:p>
            <a:pPr algn="ctr"/>
            <a:r>
              <a:rPr sz="2200" b="1">
                <a:solidFill>
                  <a:srgbClr val="0C4A6E"/>
                </a:solidFill>
                <a:latin typeface="Arial"/>
              </a:rPr>
              <a:t>Find the best choice that follows the rules</a:t>
            </a:r>
          </a:p>
        </p:txBody>
      </p:sp>
      <p:sp>
        <p:nvSpPr>
          <p:cNvPr id="8" name="Rectangle 7"/>
          <p:cNvSpPr/>
          <p:nvPr/>
        </p:nvSpPr>
        <p:spPr>
          <a:xfrm>
            <a:off x="566928" y="2337520"/>
            <a:ext cx="3532632" cy="30574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9808" y="2474680"/>
            <a:ext cx="3166872" cy="500000"/>
          </a:xfrm>
          <a:prstGeom prst="rect">
            <a:avLst/>
          </a:prstGeom>
          <a:noFill/>
        </p:spPr>
        <p:txBody>
          <a:bodyPr wrap="square">
            <a:spAutoFit/>
          </a:bodyPr>
          <a:lstStyle/>
          <a:p>
            <a:r>
              <a:rPr sz="2000" b="1">
                <a:solidFill>
                  <a:srgbClr val="0284C7"/>
                </a:solidFill>
                <a:latin typeface="Arial"/>
              </a:rPr>
              <a:t>Variables</a:t>
            </a:r>
          </a:p>
        </p:txBody>
      </p:sp>
      <p:sp>
        <p:nvSpPr>
          <p:cNvPr id="10" name="TextBox 9"/>
          <p:cNvSpPr txBox="1"/>
          <p:nvPr/>
        </p:nvSpPr>
        <p:spPr>
          <a:xfrm>
            <a:off x="749808" y="3017520"/>
            <a:ext cx="3166872" cy="338554"/>
          </a:xfrm>
          <a:prstGeom prst="rect">
            <a:avLst/>
          </a:prstGeom>
          <a:noFill/>
        </p:spPr>
        <p:txBody>
          <a:bodyPr wrap="square">
            <a:spAutoFit/>
          </a:bodyPr>
          <a:lstStyle/>
          <a:p>
            <a:r>
              <a:rPr sz="1600" b="0" dirty="0">
                <a:solidFill>
                  <a:srgbClr val="0F172A"/>
                </a:solidFill>
                <a:latin typeface="Arial"/>
              </a:rPr>
              <a:t>What we decide</a:t>
            </a:r>
          </a:p>
        </p:txBody>
      </p:sp>
      <p:sp>
        <p:nvSpPr>
          <p:cNvPr id="11" name="Rectangle 10"/>
          <p:cNvSpPr/>
          <p:nvPr/>
        </p:nvSpPr>
        <p:spPr>
          <a:xfrm>
            <a:off x="4328160" y="2337520"/>
            <a:ext cx="3532632" cy="30574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11040" y="2474680"/>
            <a:ext cx="3166872" cy="500000"/>
          </a:xfrm>
          <a:prstGeom prst="rect">
            <a:avLst/>
          </a:prstGeom>
          <a:noFill/>
        </p:spPr>
        <p:txBody>
          <a:bodyPr wrap="square">
            <a:spAutoFit/>
          </a:bodyPr>
          <a:lstStyle/>
          <a:p>
            <a:r>
              <a:rPr sz="2000" b="1">
                <a:solidFill>
                  <a:srgbClr val="0284C7"/>
                </a:solidFill>
                <a:latin typeface="Arial"/>
              </a:rPr>
              <a:t>Constraints</a:t>
            </a:r>
          </a:p>
        </p:txBody>
      </p:sp>
      <p:sp>
        <p:nvSpPr>
          <p:cNvPr id="13" name="TextBox 12"/>
          <p:cNvSpPr txBox="1"/>
          <p:nvPr/>
        </p:nvSpPr>
        <p:spPr>
          <a:xfrm>
            <a:off x="4511040" y="3017520"/>
            <a:ext cx="3166872" cy="338554"/>
          </a:xfrm>
          <a:prstGeom prst="rect">
            <a:avLst/>
          </a:prstGeom>
          <a:noFill/>
        </p:spPr>
        <p:txBody>
          <a:bodyPr wrap="square">
            <a:spAutoFit/>
          </a:bodyPr>
          <a:lstStyle/>
          <a:p>
            <a:r>
              <a:rPr sz="1600" b="0" dirty="0">
                <a:solidFill>
                  <a:srgbClr val="0F172A"/>
                </a:solidFill>
                <a:latin typeface="Arial"/>
              </a:rPr>
              <a:t>Rules to follow</a:t>
            </a:r>
          </a:p>
        </p:txBody>
      </p:sp>
      <p:sp>
        <p:nvSpPr>
          <p:cNvPr id="14" name="Rectangle 13"/>
          <p:cNvSpPr/>
          <p:nvPr/>
        </p:nvSpPr>
        <p:spPr>
          <a:xfrm>
            <a:off x="8089392" y="2337520"/>
            <a:ext cx="3532632" cy="30574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72272" y="2474680"/>
            <a:ext cx="3166872" cy="500000"/>
          </a:xfrm>
          <a:prstGeom prst="rect">
            <a:avLst/>
          </a:prstGeom>
          <a:noFill/>
        </p:spPr>
        <p:txBody>
          <a:bodyPr wrap="square">
            <a:spAutoFit/>
          </a:bodyPr>
          <a:lstStyle/>
          <a:p>
            <a:r>
              <a:rPr sz="2000" b="1">
                <a:solidFill>
                  <a:srgbClr val="0284C7"/>
                </a:solidFill>
                <a:latin typeface="Arial"/>
              </a:rPr>
              <a:t>Objective function</a:t>
            </a:r>
          </a:p>
        </p:txBody>
      </p:sp>
      <p:sp>
        <p:nvSpPr>
          <p:cNvPr id="16" name="TextBox 15"/>
          <p:cNvSpPr txBox="1"/>
          <p:nvPr/>
        </p:nvSpPr>
        <p:spPr>
          <a:xfrm>
            <a:off x="8272272" y="3017520"/>
            <a:ext cx="3166872" cy="338554"/>
          </a:xfrm>
          <a:prstGeom prst="rect">
            <a:avLst/>
          </a:prstGeom>
          <a:noFill/>
        </p:spPr>
        <p:txBody>
          <a:bodyPr wrap="square">
            <a:spAutoFit/>
          </a:bodyPr>
          <a:lstStyle/>
          <a:p>
            <a:r>
              <a:rPr sz="1600" b="0" dirty="0">
                <a:solidFill>
                  <a:srgbClr val="0F172A"/>
                </a:solidFill>
                <a:latin typeface="Arial"/>
              </a:rPr>
              <a:t>A score for “how good”</a:t>
            </a:r>
          </a:p>
        </p:txBody>
      </p:sp>
      <p:sp>
        <p:nvSpPr>
          <p:cNvPr id="19" name="Shape 18">
            <a:extLst>
              <a:ext uri="{FF2B5EF4-FFF2-40B4-BE49-F238E27FC236}">
                <a16:creationId xmlns:a16="http://schemas.microsoft.com/office/drawing/2014/main" id="{B3108122-A160-A2D2-294A-D4F9C4D36E71}"/>
              </a:ext>
            </a:extLst>
          </p:cNvPr>
          <p:cNvSpPr/>
          <p:nvPr/>
        </p:nvSpPr>
        <p:spPr>
          <a:xfrm>
            <a:off x="1303020" y="3618104"/>
            <a:ext cx="566928" cy="566928"/>
          </a:xfrm>
          <a:prstGeom prst="roundRect">
            <a:avLst>
              <a:gd name="adj" fmla="val 12903"/>
            </a:avLst>
          </a:prstGeom>
          <a:solidFill>
            <a:srgbClr val="E0F2FE"/>
          </a:solidFill>
          <a:ln w="15875">
            <a:solidFill>
              <a:srgbClr val="0284C7"/>
            </a:solidFill>
            <a:prstDash val="solid"/>
          </a:ln>
        </p:spPr>
        <p:txBody>
          <a:bodyPr/>
          <a:lstStyle/>
          <a:p>
            <a:endParaRPr lang="ja-JP" altLang="en-US"/>
          </a:p>
        </p:txBody>
      </p:sp>
      <p:sp>
        <p:nvSpPr>
          <p:cNvPr id="20" name="Text 19">
            <a:extLst>
              <a:ext uri="{FF2B5EF4-FFF2-40B4-BE49-F238E27FC236}">
                <a16:creationId xmlns:a16="http://schemas.microsoft.com/office/drawing/2014/main" id="{2B300056-0C13-7D3D-A8D6-674B9EC972F4}"/>
              </a:ext>
            </a:extLst>
          </p:cNvPr>
          <p:cNvSpPr txBox="1"/>
          <p:nvPr/>
        </p:nvSpPr>
        <p:spPr>
          <a:xfrm>
            <a:off x="1303020" y="3618104"/>
            <a:ext cx="566928" cy="566928"/>
          </a:xfrm>
          <a:prstGeom prst="rect">
            <a:avLst/>
          </a:prstGeom>
          <a:noFill/>
          <a:ln/>
        </p:spPr>
        <p:txBody>
          <a:bodyPr wrap="square" lIns="0" tIns="0" rIns="0" bIns="0" rtlCol="0" anchor="ctr"/>
          <a:lstStyle/>
          <a:p>
            <a:pPr marL="0" indent="0" algn="ctr">
              <a:buNone/>
            </a:pPr>
            <a:r>
              <a:rPr lang="ja-JP" altLang="en-US" sz="2200" b="1" dirty="0">
                <a:solidFill>
                  <a:srgbClr val="0284C7"/>
                </a:solidFill>
                <a:latin typeface="Arial" pitchFamily="34" charset="0"/>
                <a:ea typeface="Arial" pitchFamily="34" charset="-122"/>
                <a:cs typeface="Arial" pitchFamily="34" charset="-120"/>
              </a:rPr>
              <a:t>?</a:t>
            </a:r>
            <a:endParaRPr lang="ja-JP" sz="2200" dirty="0"/>
          </a:p>
        </p:txBody>
      </p:sp>
      <p:sp>
        <p:nvSpPr>
          <p:cNvPr id="21" name="Shape 20">
            <a:extLst>
              <a:ext uri="{FF2B5EF4-FFF2-40B4-BE49-F238E27FC236}">
                <a16:creationId xmlns:a16="http://schemas.microsoft.com/office/drawing/2014/main" id="{DA0A6E31-24FA-DF61-B7B1-818FF897654D}"/>
              </a:ext>
            </a:extLst>
          </p:cNvPr>
          <p:cNvSpPr/>
          <p:nvPr/>
        </p:nvSpPr>
        <p:spPr>
          <a:xfrm>
            <a:off x="2034540" y="3618104"/>
            <a:ext cx="566928" cy="566928"/>
          </a:xfrm>
          <a:prstGeom prst="roundRect">
            <a:avLst>
              <a:gd name="adj" fmla="val 12903"/>
            </a:avLst>
          </a:prstGeom>
          <a:solidFill>
            <a:srgbClr val="E0F2FE"/>
          </a:solidFill>
          <a:ln w="15875">
            <a:solidFill>
              <a:srgbClr val="0284C7"/>
            </a:solidFill>
            <a:prstDash val="solid"/>
          </a:ln>
        </p:spPr>
        <p:txBody>
          <a:bodyPr/>
          <a:lstStyle/>
          <a:p>
            <a:endParaRPr lang="ja-JP" altLang="en-US"/>
          </a:p>
        </p:txBody>
      </p:sp>
      <p:sp>
        <p:nvSpPr>
          <p:cNvPr id="22" name="Text 21">
            <a:extLst>
              <a:ext uri="{FF2B5EF4-FFF2-40B4-BE49-F238E27FC236}">
                <a16:creationId xmlns:a16="http://schemas.microsoft.com/office/drawing/2014/main" id="{C95D731A-68BC-1FE2-8EB4-CB0F5D55A7C7}"/>
              </a:ext>
            </a:extLst>
          </p:cNvPr>
          <p:cNvSpPr txBox="1"/>
          <p:nvPr/>
        </p:nvSpPr>
        <p:spPr>
          <a:xfrm>
            <a:off x="2034540" y="3618104"/>
            <a:ext cx="566928" cy="566928"/>
          </a:xfrm>
          <a:prstGeom prst="rect">
            <a:avLst/>
          </a:prstGeom>
          <a:noFill/>
          <a:ln/>
        </p:spPr>
        <p:txBody>
          <a:bodyPr wrap="square" lIns="0" tIns="0" rIns="0" bIns="0" rtlCol="0" anchor="ctr"/>
          <a:lstStyle/>
          <a:p>
            <a:pPr marL="0" indent="0" algn="ctr">
              <a:buNone/>
            </a:pPr>
            <a:r>
              <a:rPr lang="ja-JP" altLang="en-US" sz="2200" b="1" dirty="0">
                <a:solidFill>
                  <a:srgbClr val="0284C7"/>
                </a:solidFill>
                <a:latin typeface="Arial" pitchFamily="34" charset="0"/>
                <a:ea typeface="Arial" pitchFamily="34" charset="-122"/>
                <a:cs typeface="Arial" pitchFamily="34" charset="-120"/>
              </a:rPr>
              <a:t>?</a:t>
            </a:r>
            <a:endParaRPr lang="ja-JP" sz="2200" dirty="0"/>
          </a:p>
        </p:txBody>
      </p:sp>
      <p:sp>
        <p:nvSpPr>
          <p:cNvPr id="23" name="Shape 22">
            <a:extLst>
              <a:ext uri="{FF2B5EF4-FFF2-40B4-BE49-F238E27FC236}">
                <a16:creationId xmlns:a16="http://schemas.microsoft.com/office/drawing/2014/main" id="{32A3A45B-B44D-1D2D-3665-D866BC78F504}"/>
              </a:ext>
            </a:extLst>
          </p:cNvPr>
          <p:cNvSpPr/>
          <p:nvPr/>
        </p:nvSpPr>
        <p:spPr>
          <a:xfrm>
            <a:off x="2766060" y="3618104"/>
            <a:ext cx="566928" cy="566928"/>
          </a:xfrm>
          <a:prstGeom prst="roundRect">
            <a:avLst>
              <a:gd name="adj" fmla="val 12903"/>
            </a:avLst>
          </a:prstGeom>
          <a:solidFill>
            <a:srgbClr val="E0F2FE"/>
          </a:solidFill>
          <a:ln w="15875">
            <a:solidFill>
              <a:srgbClr val="0284C7"/>
            </a:solidFill>
            <a:prstDash val="solid"/>
          </a:ln>
        </p:spPr>
        <p:txBody>
          <a:bodyPr/>
          <a:lstStyle/>
          <a:p>
            <a:endParaRPr lang="ja-JP" altLang="en-US"/>
          </a:p>
        </p:txBody>
      </p:sp>
      <p:sp>
        <p:nvSpPr>
          <p:cNvPr id="24" name="Text 23">
            <a:extLst>
              <a:ext uri="{FF2B5EF4-FFF2-40B4-BE49-F238E27FC236}">
                <a16:creationId xmlns:a16="http://schemas.microsoft.com/office/drawing/2014/main" id="{7BD36C23-A8EC-B0C7-3BC6-078722BB977E}"/>
              </a:ext>
            </a:extLst>
          </p:cNvPr>
          <p:cNvSpPr txBox="1"/>
          <p:nvPr/>
        </p:nvSpPr>
        <p:spPr>
          <a:xfrm>
            <a:off x="2766060" y="3618104"/>
            <a:ext cx="566928" cy="566928"/>
          </a:xfrm>
          <a:prstGeom prst="rect">
            <a:avLst/>
          </a:prstGeom>
          <a:noFill/>
          <a:ln/>
        </p:spPr>
        <p:txBody>
          <a:bodyPr wrap="square" lIns="0" tIns="0" rIns="0" bIns="0" rtlCol="0" anchor="ctr"/>
          <a:lstStyle/>
          <a:p>
            <a:pPr marL="0" indent="0" algn="ctr">
              <a:buNone/>
            </a:pPr>
            <a:r>
              <a:rPr lang="ja-JP" altLang="en-US" sz="2200" b="1" dirty="0">
                <a:solidFill>
                  <a:srgbClr val="0284C7"/>
                </a:solidFill>
                <a:latin typeface="Arial" pitchFamily="34" charset="0"/>
                <a:ea typeface="Arial" pitchFamily="34" charset="-122"/>
                <a:cs typeface="Arial" pitchFamily="34" charset="-120"/>
              </a:rPr>
              <a:t>?</a:t>
            </a:r>
            <a:endParaRPr lang="ja-JP" sz="2200" dirty="0"/>
          </a:p>
        </p:txBody>
      </p:sp>
      <p:sp>
        <p:nvSpPr>
          <p:cNvPr id="25" name="Text 24">
            <a:extLst>
              <a:ext uri="{FF2B5EF4-FFF2-40B4-BE49-F238E27FC236}">
                <a16:creationId xmlns:a16="http://schemas.microsoft.com/office/drawing/2014/main" id="{6B18E20E-853D-E3A6-B4DA-E43AF9A00302}"/>
              </a:ext>
            </a:extLst>
          </p:cNvPr>
          <p:cNvSpPr txBox="1"/>
          <p:nvPr/>
        </p:nvSpPr>
        <p:spPr>
          <a:xfrm>
            <a:off x="1303020" y="4221608"/>
            <a:ext cx="566928" cy="237744"/>
          </a:xfrm>
          <a:prstGeom prst="rect">
            <a:avLst/>
          </a:prstGeom>
          <a:noFill/>
          <a:ln/>
        </p:spPr>
        <p:txBody>
          <a:bodyPr wrap="square" lIns="0" tIns="0" rIns="0" bIns="0" rtlCol="0" anchor="ctr"/>
          <a:lstStyle/>
          <a:p>
            <a:pPr marL="0" indent="0" algn="ctr">
              <a:buNone/>
            </a:pPr>
            <a:r>
              <a:rPr lang="ja-JP" altLang="en-US" sz="1100" dirty="0">
                <a:solidFill>
                  <a:srgbClr val="64748B"/>
                </a:solidFill>
                <a:latin typeface="Arial" pitchFamily="34" charset="0"/>
                <a:ea typeface="Arial" pitchFamily="34" charset="-122"/>
                <a:cs typeface="Arial" pitchFamily="34" charset="-120"/>
              </a:rPr>
              <a:t>x₁</a:t>
            </a:r>
            <a:endParaRPr lang="ja-JP" sz="1100" dirty="0"/>
          </a:p>
        </p:txBody>
      </p:sp>
      <p:sp>
        <p:nvSpPr>
          <p:cNvPr id="26" name="Text 25">
            <a:extLst>
              <a:ext uri="{FF2B5EF4-FFF2-40B4-BE49-F238E27FC236}">
                <a16:creationId xmlns:a16="http://schemas.microsoft.com/office/drawing/2014/main" id="{FB358EB5-862D-1E07-B94E-4BAFAC27FAEB}"/>
              </a:ext>
            </a:extLst>
          </p:cNvPr>
          <p:cNvSpPr txBox="1"/>
          <p:nvPr/>
        </p:nvSpPr>
        <p:spPr>
          <a:xfrm>
            <a:off x="2034540" y="4221608"/>
            <a:ext cx="566928" cy="237744"/>
          </a:xfrm>
          <a:prstGeom prst="rect">
            <a:avLst/>
          </a:prstGeom>
          <a:noFill/>
          <a:ln/>
        </p:spPr>
        <p:txBody>
          <a:bodyPr wrap="square" lIns="0" tIns="0" rIns="0" bIns="0" rtlCol="0" anchor="ctr"/>
          <a:lstStyle/>
          <a:p>
            <a:pPr marL="0" indent="0" algn="ctr">
              <a:buNone/>
            </a:pPr>
            <a:r>
              <a:rPr lang="ja-JP" altLang="en-US" sz="1100" dirty="0">
                <a:solidFill>
                  <a:srgbClr val="64748B"/>
                </a:solidFill>
                <a:latin typeface="Arial" pitchFamily="34" charset="0"/>
                <a:ea typeface="Arial" pitchFamily="34" charset="-122"/>
                <a:cs typeface="Arial" pitchFamily="34" charset="-120"/>
              </a:rPr>
              <a:t>x₂</a:t>
            </a:r>
            <a:endParaRPr lang="ja-JP" sz="1100" dirty="0"/>
          </a:p>
        </p:txBody>
      </p:sp>
      <p:sp>
        <p:nvSpPr>
          <p:cNvPr id="27" name="Text 26">
            <a:extLst>
              <a:ext uri="{FF2B5EF4-FFF2-40B4-BE49-F238E27FC236}">
                <a16:creationId xmlns:a16="http://schemas.microsoft.com/office/drawing/2014/main" id="{A19C362D-61C7-790B-BFA6-E2E6EF616C65}"/>
              </a:ext>
            </a:extLst>
          </p:cNvPr>
          <p:cNvSpPr txBox="1"/>
          <p:nvPr/>
        </p:nvSpPr>
        <p:spPr>
          <a:xfrm>
            <a:off x="2766060" y="4221608"/>
            <a:ext cx="566928" cy="237744"/>
          </a:xfrm>
          <a:prstGeom prst="rect">
            <a:avLst/>
          </a:prstGeom>
          <a:noFill/>
          <a:ln/>
        </p:spPr>
        <p:txBody>
          <a:bodyPr wrap="square" lIns="0" tIns="0" rIns="0" bIns="0" rtlCol="0" anchor="ctr"/>
          <a:lstStyle/>
          <a:p>
            <a:pPr marL="0" indent="0" algn="ctr">
              <a:buNone/>
            </a:pPr>
            <a:r>
              <a:rPr lang="ja-JP" altLang="en-US" sz="1100" dirty="0">
                <a:solidFill>
                  <a:srgbClr val="64748B"/>
                </a:solidFill>
                <a:latin typeface="Arial" pitchFamily="34" charset="0"/>
                <a:ea typeface="Arial" pitchFamily="34" charset="-122"/>
                <a:cs typeface="Arial" pitchFamily="34" charset="-120"/>
              </a:rPr>
              <a:t>x₃</a:t>
            </a:r>
            <a:endParaRPr lang="ja-JP" sz="1100" dirty="0"/>
          </a:p>
        </p:txBody>
      </p:sp>
      <p:sp>
        <p:nvSpPr>
          <p:cNvPr id="28" name="Shape 27">
            <a:extLst>
              <a:ext uri="{FF2B5EF4-FFF2-40B4-BE49-F238E27FC236}">
                <a16:creationId xmlns:a16="http://schemas.microsoft.com/office/drawing/2014/main" id="{B8EB76F7-53EC-1156-E003-5DA02D34AE30}"/>
              </a:ext>
            </a:extLst>
          </p:cNvPr>
          <p:cNvSpPr/>
          <p:nvPr/>
        </p:nvSpPr>
        <p:spPr>
          <a:xfrm>
            <a:off x="4846320" y="3947288"/>
            <a:ext cx="2496312" cy="420624"/>
          </a:xfrm>
          <a:prstGeom prst="rect">
            <a:avLst/>
          </a:prstGeom>
          <a:solidFill>
            <a:srgbClr val="FFFFFF"/>
          </a:solidFill>
          <a:ln w="9525">
            <a:solidFill>
              <a:srgbClr val="CBD5E1"/>
            </a:solidFill>
            <a:prstDash val="solid"/>
          </a:ln>
        </p:spPr>
        <p:txBody>
          <a:bodyPr/>
          <a:lstStyle/>
          <a:p>
            <a:endParaRPr lang="ja-JP" altLang="en-US"/>
          </a:p>
        </p:txBody>
      </p:sp>
      <p:sp>
        <p:nvSpPr>
          <p:cNvPr id="29" name="Shape 28">
            <a:extLst>
              <a:ext uri="{FF2B5EF4-FFF2-40B4-BE49-F238E27FC236}">
                <a16:creationId xmlns:a16="http://schemas.microsoft.com/office/drawing/2014/main" id="{9E322EEE-30BE-8F74-79D8-B3D73009B40F}"/>
              </a:ext>
            </a:extLst>
          </p:cNvPr>
          <p:cNvSpPr/>
          <p:nvPr/>
        </p:nvSpPr>
        <p:spPr>
          <a:xfrm>
            <a:off x="4846320" y="3947288"/>
            <a:ext cx="1547713" cy="420624"/>
          </a:xfrm>
          <a:prstGeom prst="rect">
            <a:avLst/>
          </a:prstGeom>
          <a:solidFill>
            <a:srgbClr val="7DD3FC"/>
          </a:solidFill>
          <a:ln w="9525">
            <a:solidFill>
              <a:srgbClr val="7DD3FC"/>
            </a:solidFill>
            <a:prstDash val="solid"/>
          </a:ln>
        </p:spPr>
        <p:txBody>
          <a:bodyPr/>
          <a:lstStyle/>
          <a:p>
            <a:endParaRPr lang="ja-JP" altLang="en-US"/>
          </a:p>
        </p:txBody>
      </p:sp>
      <p:sp>
        <p:nvSpPr>
          <p:cNvPr id="30" name="Shape 29">
            <a:extLst>
              <a:ext uri="{FF2B5EF4-FFF2-40B4-BE49-F238E27FC236}">
                <a16:creationId xmlns:a16="http://schemas.microsoft.com/office/drawing/2014/main" id="{615A3F37-1C2E-D0E9-2AD1-0E9CB09170DB}"/>
              </a:ext>
            </a:extLst>
          </p:cNvPr>
          <p:cNvSpPr/>
          <p:nvPr/>
        </p:nvSpPr>
        <p:spPr>
          <a:xfrm>
            <a:off x="6843370" y="3709544"/>
            <a:ext cx="0" cy="896112"/>
          </a:xfrm>
          <a:prstGeom prst="line">
            <a:avLst/>
          </a:prstGeom>
          <a:noFill/>
          <a:ln w="22225">
            <a:solidFill>
              <a:srgbClr val="E11D48"/>
            </a:solidFill>
            <a:prstDash val="dash"/>
          </a:ln>
        </p:spPr>
        <p:txBody>
          <a:bodyPr/>
          <a:lstStyle/>
          <a:p>
            <a:endParaRPr lang="ja-JP" altLang="en-US"/>
          </a:p>
        </p:txBody>
      </p:sp>
      <p:sp>
        <p:nvSpPr>
          <p:cNvPr id="31" name="Text 30">
            <a:extLst>
              <a:ext uri="{FF2B5EF4-FFF2-40B4-BE49-F238E27FC236}">
                <a16:creationId xmlns:a16="http://schemas.microsoft.com/office/drawing/2014/main" id="{1FD9E520-BBEB-1217-17D7-3BBFE7614BC0}"/>
              </a:ext>
            </a:extLst>
          </p:cNvPr>
          <p:cNvSpPr txBox="1"/>
          <p:nvPr/>
        </p:nvSpPr>
        <p:spPr>
          <a:xfrm>
            <a:off x="6431890" y="3435224"/>
            <a:ext cx="822960" cy="256032"/>
          </a:xfrm>
          <a:prstGeom prst="rect">
            <a:avLst/>
          </a:prstGeom>
          <a:noFill/>
          <a:ln/>
        </p:spPr>
        <p:txBody>
          <a:bodyPr wrap="square" lIns="0" tIns="0" rIns="0" bIns="0" rtlCol="0" anchor="ctr"/>
          <a:lstStyle/>
          <a:p>
            <a:pPr marL="0" indent="0" algn="ctr">
              <a:buNone/>
            </a:pPr>
            <a:r>
              <a:rPr lang="en-US" altLang="en-US" sz="1100" b="1" dirty="0">
                <a:solidFill>
                  <a:srgbClr val="BE123C"/>
                </a:solidFill>
                <a:latin typeface="Arial" pitchFamily="34" charset="0"/>
                <a:ea typeface="Arial" pitchFamily="34" charset="-122"/>
                <a:cs typeface="Arial" pitchFamily="34" charset="-120"/>
              </a:rPr>
              <a:t>Limit</a:t>
            </a:r>
            <a:endParaRPr lang="en-US" sz="1100" dirty="0"/>
          </a:p>
        </p:txBody>
      </p:sp>
      <p:sp>
        <p:nvSpPr>
          <p:cNvPr id="32" name="Text 31">
            <a:extLst>
              <a:ext uri="{FF2B5EF4-FFF2-40B4-BE49-F238E27FC236}">
                <a16:creationId xmlns:a16="http://schemas.microsoft.com/office/drawing/2014/main" id="{30613085-0855-0BBB-CCFB-718BE2A2CDC6}"/>
              </a:ext>
            </a:extLst>
          </p:cNvPr>
          <p:cNvSpPr txBox="1"/>
          <p:nvPr/>
        </p:nvSpPr>
        <p:spPr>
          <a:xfrm>
            <a:off x="4846320" y="4422776"/>
            <a:ext cx="1547713" cy="237744"/>
          </a:xfrm>
          <a:prstGeom prst="rect">
            <a:avLst/>
          </a:prstGeom>
          <a:noFill/>
          <a:ln/>
        </p:spPr>
        <p:txBody>
          <a:bodyPr wrap="square" lIns="0" tIns="0" rIns="0" bIns="0" rtlCol="0" anchor="ctr"/>
          <a:lstStyle/>
          <a:p>
            <a:pPr marL="0" indent="0" algn="ctr">
              <a:buNone/>
            </a:pPr>
            <a:r>
              <a:rPr lang="en-US" altLang="en-US" sz="1050" dirty="0">
                <a:solidFill>
                  <a:srgbClr val="475569"/>
                </a:solidFill>
                <a:latin typeface="Arial" pitchFamily="34" charset="0"/>
                <a:ea typeface="Arial" pitchFamily="34" charset="-122"/>
                <a:cs typeface="Arial" pitchFamily="34" charset="-120"/>
              </a:rPr>
              <a:t>Choose within this range</a:t>
            </a:r>
            <a:endParaRPr lang="en-US" sz="1050" dirty="0"/>
          </a:p>
        </p:txBody>
      </p:sp>
      <p:sp>
        <p:nvSpPr>
          <p:cNvPr id="33" name="Shape 32">
            <a:extLst>
              <a:ext uri="{FF2B5EF4-FFF2-40B4-BE49-F238E27FC236}">
                <a16:creationId xmlns:a16="http://schemas.microsoft.com/office/drawing/2014/main" id="{6DD5918F-8FD3-50AA-11B3-F8BCD2E05D7D}"/>
              </a:ext>
            </a:extLst>
          </p:cNvPr>
          <p:cNvSpPr/>
          <p:nvPr/>
        </p:nvSpPr>
        <p:spPr>
          <a:xfrm>
            <a:off x="8709660" y="4294760"/>
            <a:ext cx="347472" cy="329184"/>
          </a:xfrm>
          <a:prstGeom prst="rect">
            <a:avLst/>
          </a:prstGeom>
          <a:solidFill>
            <a:srgbClr val="CBD5E1"/>
          </a:solidFill>
          <a:ln w="9525">
            <a:solidFill>
              <a:srgbClr val="CBD5E1"/>
            </a:solidFill>
            <a:prstDash val="solid"/>
          </a:ln>
        </p:spPr>
        <p:txBody>
          <a:bodyPr/>
          <a:lstStyle/>
          <a:p>
            <a:endParaRPr lang="ja-JP" altLang="en-US"/>
          </a:p>
        </p:txBody>
      </p:sp>
      <p:sp>
        <p:nvSpPr>
          <p:cNvPr id="34" name="Shape 33">
            <a:extLst>
              <a:ext uri="{FF2B5EF4-FFF2-40B4-BE49-F238E27FC236}">
                <a16:creationId xmlns:a16="http://schemas.microsoft.com/office/drawing/2014/main" id="{6A5D29EE-B55E-DE91-711F-F6E2711E68FB}"/>
              </a:ext>
            </a:extLst>
          </p:cNvPr>
          <p:cNvSpPr/>
          <p:nvPr/>
        </p:nvSpPr>
        <p:spPr>
          <a:xfrm>
            <a:off x="9203436" y="4148456"/>
            <a:ext cx="347472" cy="475488"/>
          </a:xfrm>
          <a:prstGeom prst="rect">
            <a:avLst/>
          </a:prstGeom>
          <a:solidFill>
            <a:srgbClr val="CBD5E1"/>
          </a:solidFill>
          <a:ln w="9525">
            <a:solidFill>
              <a:srgbClr val="CBD5E1"/>
            </a:solidFill>
            <a:prstDash val="solid"/>
          </a:ln>
        </p:spPr>
        <p:txBody>
          <a:bodyPr/>
          <a:lstStyle/>
          <a:p>
            <a:endParaRPr lang="ja-JP" altLang="en-US"/>
          </a:p>
        </p:txBody>
      </p:sp>
      <p:sp>
        <p:nvSpPr>
          <p:cNvPr id="35" name="Shape 34">
            <a:extLst>
              <a:ext uri="{FF2B5EF4-FFF2-40B4-BE49-F238E27FC236}">
                <a16:creationId xmlns:a16="http://schemas.microsoft.com/office/drawing/2014/main" id="{905D7F15-941B-509A-C042-FE014DEBBFD0}"/>
              </a:ext>
            </a:extLst>
          </p:cNvPr>
          <p:cNvSpPr/>
          <p:nvPr/>
        </p:nvSpPr>
        <p:spPr>
          <a:xfrm>
            <a:off x="9697212" y="3929000"/>
            <a:ext cx="347472" cy="694944"/>
          </a:xfrm>
          <a:prstGeom prst="rect">
            <a:avLst/>
          </a:prstGeom>
          <a:solidFill>
            <a:srgbClr val="0284C7"/>
          </a:solidFill>
          <a:ln w="9525">
            <a:solidFill>
              <a:srgbClr val="0284C7"/>
            </a:solidFill>
            <a:prstDash val="solid"/>
          </a:ln>
        </p:spPr>
        <p:txBody>
          <a:bodyPr/>
          <a:lstStyle/>
          <a:p>
            <a:endParaRPr lang="ja-JP" altLang="en-US"/>
          </a:p>
        </p:txBody>
      </p:sp>
      <p:sp>
        <p:nvSpPr>
          <p:cNvPr id="36" name="Shape 35">
            <a:extLst>
              <a:ext uri="{FF2B5EF4-FFF2-40B4-BE49-F238E27FC236}">
                <a16:creationId xmlns:a16="http://schemas.microsoft.com/office/drawing/2014/main" id="{698CA53F-F350-1247-913F-9A1916BD1934}"/>
              </a:ext>
            </a:extLst>
          </p:cNvPr>
          <p:cNvSpPr/>
          <p:nvPr/>
        </p:nvSpPr>
        <p:spPr>
          <a:xfrm>
            <a:off x="10190988" y="4093592"/>
            <a:ext cx="347472" cy="530352"/>
          </a:xfrm>
          <a:prstGeom prst="rect">
            <a:avLst/>
          </a:prstGeom>
          <a:solidFill>
            <a:srgbClr val="CBD5E1"/>
          </a:solidFill>
          <a:ln w="9525">
            <a:solidFill>
              <a:srgbClr val="CBD5E1"/>
            </a:solidFill>
            <a:prstDash val="solid"/>
          </a:ln>
        </p:spPr>
        <p:txBody>
          <a:bodyPr/>
          <a:lstStyle/>
          <a:p>
            <a:endParaRPr lang="ja-JP" altLang="en-US"/>
          </a:p>
        </p:txBody>
      </p:sp>
      <p:sp>
        <p:nvSpPr>
          <p:cNvPr id="37" name="Shape 36">
            <a:extLst>
              <a:ext uri="{FF2B5EF4-FFF2-40B4-BE49-F238E27FC236}">
                <a16:creationId xmlns:a16="http://schemas.microsoft.com/office/drawing/2014/main" id="{07609F33-8D76-40DE-AC74-D67EC7D829CD}"/>
              </a:ext>
            </a:extLst>
          </p:cNvPr>
          <p:cNvSpPr/>
          <p:nvPr/>
        </p:nvSpPr>
        <p:spPr>
          <a:xfrm>
            <a:off x="10684764" y="4239896"/>
            <a:ext cx="347472" cy="384048"/>
          </a:xfrm>
          <a:prstGeom prst="rect">
            <a:avLst/>
          </a:prstGeom>
          <a:solidFill>
            <a:srgbClr val="CBD5E1"/>
          </a:solidFill>
          <a:ln w="9525">
            <a:solidFill>
              <a:srgbClr val="CBD5E1"/>
            </a:solidFill>
            <a:prstDash val="solid"/>
          </a:ln>
        </p:spPr>
        <p:txBody>
          <a:bodyPr/>
          <a:lstStyle/>
          <a:p>
            <a:endParaRPr lang="ja-JP" altLang="en-US"/>
          </a:p>
        </p:txBody>
      </p:sp>
      <p:sp>
        <p:nvSpPr>
          <p:cNvPr id="38" name="Shape 37">
            <a:extLst>
              <a:ext uri="{FF2B5EF4-FFF2-40B4-BE49-F238E27FC236}">
                <a16:creationId xmlns:a16="http://schemas.microsoft.com/office/drawing/2014/main" id="{DC69B87B-9C76-4CB7-15D4-2B28ED3F15C0}"/>
              </a:ext>
            </a:extLst>
          </p:cNvPr>
          <p:cNvSpPr/>
          <p:nvPr/>
        </p:nvSpPr>
        <p:spPr>
          <a:xfrm>
            <a:off x="8618220" y="4623944"/>
            <a:ext cx="2505456" cy="0"/>
          </a:xfrm>
          <a:prstGeom prst="line">
            <a:avLst/>
          </a:prstGeom>
          <a:noFill/>
          <a:ln w="12700">
            <a:solidFill>
              <a:srgbClr val="94A3B8"/>
            </a:solidFill>
            <a:prstDash val="solid"/>
          </a:ln>
        </p:spPr>
        <p:txBody>
          <a:bodyPr/>
          <a:lstStyle/>
          <a:p>
            <a:endParaRPr lang="ja-JP" altLang="en-US"/>
          </a:p>
        </p:txBody>
      </p:sp>
      <p:sp>
        <p:nvSpPr>
          <p:cNvPr id="39" name="Text 38">
            <a:extLst>
              <a:ext uri="{FF2B5EF4-FFF2-40B4-BE49-F238E27FC236}">
                <a16:creationId xmlns:a16="http://schemas.microsoft.com/office/drawing/2014/main" id="{FC746451-76E4-B3D5-AFC7-AB994146145C}"/>
              </a:ext>
            </a:extLst>
          </p:cNvPr>
          <p:cNvSpPr txBox="1"/>
          <p:nvPr/>
        </p:nvSpPr>
        <p:spPr>
          <a:xfrm>
            <a:off x="9459468" y="3672968"/>
            <a:ext cx="822960" cy="237744"/>
          </a:xfrm>
          <a:prstGeom prst="rect">
            <a:avLst/>
          </a:prstGeom>
          <a:noFill/>
          <a:ln/>
        </p:spPr>
        <p:txBody>
          <a:bodyPr wrap="square" lIns="0" tIns="0" rIns="0" bIns="0" rtlCol="0" anchor="ctr"/>
          <a:lstStyle/>
          <a:p>
            <a:pPr marL="0" indent="0" algn="ctr">
              <a:buNone/>
            </a:pPr>
            <a:r>
              <a:rPr lang="en-US" altLang="en-US" sz="1100" b="1" dirty="0">
                <a:solidFill>
                  <a:srgbClr val="0369A1"/>
                </a:solidFill>
                <a:latin typeface="Arial" pitchFamily="34" charset="0"/>
                <a:ea typeface="Arial" pitchFamily="34" charset="-122"/>
                <a:cs typeface="Arial" pitchFamily="34" charset="-120"/>
              </a:rPr>
              <a:t>Max</a:t>
            </a:r>
            <a:endParaRPr lang="en-US" sz="1100" dirty="0"/>
          </a:p>
        </p:txBody>
      </p:sp>
      <p:sp>
        <p:nvSpPr>
          <p:cNvPr id="62" name="Shape 360">
            <a:extLst>
              <a:ext uri="{FF2B5EF4-FFF2-40B4-BE49-F238E27FC236}">
                <a16:creationId xmlns:a16="http://schemas.microsoft.com/office/drawing/2014/main" id="{CC3E0DEB-BE82-6859-4972-DFA80D12371B}"/>
              </a:ext>
            </a:extLst>
          </p:cNvPr>
          <p:cNvSpPr/>
          <p:nvPr/>
        </p:nvSpPr>
        <p:spPr>
          <a:xfrm>
            <a:off x="566928" y="5350700"/>
            <a:ext cx="11055096" cy="822960"/>
          </a:xfrm>
          <a:prstGeom prst="roundRect">
            <a:avLst>
              <a:gd name="adj" fmla="val 9000"/>
            </a:avLst>
          </a:prstGeom>
          <a:solidFill>
            <a:srgbClr val="0F172A"/>
          </a:solidFill>
          <a:ln w="12700">
            <a:solidFill>
              <a:srgbClr val="0F172A"/>
            </a:solidFill>
            <a:prstDash val="solid"/>
          </a:ln>
        </p:spPr>
        <p:txBody>
          <a:bodyPr/>
          <a:lstStyle/>
          <a:p>
            <a:endParaRPr lang="en-US"/>
          </a:p>
        </p:txBody>
      </p:sp>
      <p:sp>
        <p:nvSpPr>
          <p:cNvPr id="63" name="Text 361">
            <a:extLst>
              <a:ext uri="{FF2B5EF4-FFF2-40B4-BE49-F238E27FC236}">
                <a16:creationId xmlns:a16="http://schemas.microsoft.com/office/drawing/2014/main" id="{64C2E6E5-BDB4-616F-5112-1E1F23837CCA}"/>
              </a:ext>
            </a:extLst>
          </p:cNvPr>
          <p:cNvSpPr txBox="1"/>
          <p:nvPr/>
        </p:nvSpPr>
        <p:spPr>
          <a:xfrm>
            <a:off x="841248" y="5350700"/>
            <a:ext cx="1920240" cy="822960"/>
          </a:xfrm>
          <a:prstGeom prst="rect">
            <a:avLst/>
          </a:prstGeom>
          <a:noFill/>
          <a:ln/>
        </p:spPr>
        <p:txBody>
          <a:bodyPr wrap="square" lIns="0" tIns="0" rIns="0" bIns="0" rtlCol="0" anchor="ctr"/>
          <a:lstStyle/>
          <a:p>
            <a:pPr marL="0" indent="0" algn="l">
              <a:buNone/>
            </a:pPr>
            <a:r>
              <a:rPr lang="en-US" altLang="en-US" sz="1300" b="1" dirty="0">
                <a:solidFill>
                  <a:srgbClr val="7DD3FC"/>
                </a:solidFill>
                <a:latin typeface="Arial" pitchFamily="34" charset="0"/>
                <a:ea typeface="Arial" pitchFamily="34" charset="-122"/>
                <a:cs typeface="Arial" pitchFamily="34" charset="-120"/>
              </a:rPr>
              <a:t>Compared</a:t>
            </a:r>
            <a:endParaRPr lang="en-US" sz="1300" dirty="0"/>
          </a:p>
          <a:p>
            <a:pPr marL="0" indent="0" algn="l">
              <a:buNone/>
            </a:pPr>
            <a:r>
              <a:rPr lang="en-US" altLang="en-US" sz="1300" b="1" dirty="0">
                <a:solidFill>
                  <a:srgbClr val="7DD3FC"/>
                </a:solidFill>
                <a:latin typeface="Arial" pitchFamily="34" charset="0"/>
                <a:ea typeface="Arial" pitchFamily="34" charset="-122"/>
                <a:cs typeface="Arial" pitchFamily="34" charset="-120"/>
              </a:rPr>
              <a:t>with AI</a:t>
            </a:r>
            <a:endParaRPr lang="en-US" sz="1300" dirty="0"/>
          </a:p>
        </p:txBody>
      </p:sp>
      <p:sp>
        <p:nvSpPr>
          <p:cNvPr id="64" name="Shape 362">
            <a:extLst>
              <a:ext uri="{FF2B5EF4-FFF2-40B4-BE49-F238E27FC236}">
                <a16:creationId xmlns:a16="http://schemas.microsoft.com/office/drawing/2014/main" id="{604260E3-F6A3-975C-B01A-23FAFE8FA43D}"/>
              </a:ext>
            </a:extLst>
          </p:cNvPr>
          <p:cNvSpPr/>
          <p:nvPr/>
        </p:nvSpPr>
        <p:spPr>
          <a:xfrm>
            <a:off x="2834640" y="5588444"/>
            <a:ext cx="347472" cy="347472"/>
          </a:xfrm>
          <a:prstGeom prst="ellipse">
            <a:avLst/>
          </a:prstGeom>
          <a:solidFill>
            <a:srgbClr val="0284C7"/>
          </a:solidFill>
          <a:ln w="12700">
            <a:solidFill>
              <a:srgbClr val="0284C7"/>
            </a:solidFill>
            <a:prstDash val="solid"/>
          </a:ln>
        </p:spPr>
        <p:txBody>
          <a:bodyPr/>
          <a:lstStyle/>
          <a:p>
            <a:endParaRPr lang="en-US"/>
          </a:p>
        </p:txBody>
      </p:sp>
      <p:sp>
        <p:nvSpPr>
          <p:cNvPr id="65" name="Text 363">
            <a:extLst>
              <a:ext uri="{FF2B5EF4-FFF2-40B4-BE49-F238E27FC236}">
                <a16:creationId xmlns:a16="http://schemas.microsoft.com/office/drawing/2014/main" id="{8B258DAC-A786-1C33-3DA4-20B6E20C3348}"/>
              </a:ext>
            </a:extLst>
          </p:cNvPr>
          <p:cNvSpPr txBox="1"/>
          <p:nvPr/>
        </p:nvSpPr>
        <p:spPr>
          <a:xfrm>
            <a:off x="2834640" y="5588444"/>
            <a:ext cx="347472" cy="347472"/>
          </a:xfrm>
          <a:prstGeom prst="rect">
            <a:avLst/>
          </a:prstGeom>
          <a:noFill/>
          <a:ln/>
        </p:spPr>
        <p:txBody>
          <a:bodyPr wrap="square" lIns="0" tIns="0" rIns="0" bIns="0" rtlCol="0" anchor="ctr"/>
          <a:lstStyle/>
          <a:p>
            <a:pPr marL="0" indent="0" algn="ctr">
              <a:buNone/>
            </a:pPr>
            <a:r>
              <a:rPr lang="en-US" alt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66" name="Text 364">
            <a:extLst>
              <a:ext uri="{FF2B5EF4-FFF2-40B4-BE49-F238E27FC236}">
                <a16:creationId xmlns:a16="http://schemas.microsoft.com/office/drawing/2014/main" id="{554B2CBA-278C-F150-B344-8081663C9308}"/>
              </a:ext>
            </a:extLst>
          </p:cNvPr>
          <p:cNvSpPr txBox="1"/>
          <p:nvPr/>
        </p:nvSpPr>
        <p:spPr>
          <a:xfrm>
            <a:off x="3310128" y="5350700"/>
            <a:ext cx="2395728" cy="822960"/>
          </a:xfrm>
          <a:prstGeom prst="rect">
            <a:avLst/>
          </a:prstGeom>
          <a:noFill/>
          <a:ln/>
        </p:spPr>
        <p:txBody>
          <a:bodyPr wrap="square" lIns="0" tIns="0" rIns="0" bIns="0" rtlCol="0" anchor="ctr"/>
          <a:lstStyle/>
          <a:p>
            <a:pPr marL="0" indent="0" algn="l">
              <a:buNone/>
            </a:pPr>
            <a:r>
              <a:rPr lang="en-US" altLang="en-US" sz="1400" b="1" dirty="0">
                <a:solidFill>
                  <a:srgbClr val="FFFFFF"/>
                </a:solidFill>
                <a:latin typeface="Arial" pitchFamily="34" charset="0"/>
                <a:ea typeface="Arial" pitchFamily="34" charset="-122"/>
                <a:cs typeface="Arial" pitchFamily="34" charset="-120"/>
              </a:rPr>
              <a:t>Always follows the rules</a:t>
            </a:r>
            <a:endParaRPr lang="en-US" sz="1400" dirty="0"/>
          </a:p>
        </p:txBody>
      </p:sp>
      <p:sp>
        <p:nvSpPr>
          <p:cNvPr id="67" name="Shape 365">
            <a:extLst>
              <a:ext uri="{FF2B5EF4-FFF2-40B4-BE49-F238E27FC236}">
                <a16:creationId xmlns:a16="http://schemas.microsoft.com/office/drawing/2014/main" id="{438F5C1A-82FC-E943-997C-873C6D2F772D}"/>
              </a:ext>
            </a:extLst>
          </p:cNvPr>
          <p:cNvSpPr/>
          <p:nvPr/>
        </p:nvSpPr>
        <p:spPr>
          <a:xfrm>
            <a:off x="5760720" y="5588444"/>
            <a:ext cx="347472" cy="347472"/>
          </a:xfrm>
          <a:prstGeom prst="ellipse">
            <a:avLst/>
          </a:prstGeom>
          <a:solidFill>
            <a:srgbClr val="0284C7"/>
          </a:solidFill>
          <a:ln w="12700">
            <a:solidFill>
              <a:srgbClr val="0284C7"/>
            </a:solidFill>
            <a:prstDash val="solid"/>
          </a:ln>
        </p:spPr>
        <p:txBody>
          <a:bodyPr/>
          <a:lstStyle/>
          <a:p>
            <a:endParaRPr lang="en-US"/>
          </a:p>
        </p:txBody>
      </p:sp>
      <p:sp>
        <p:nvSpPr>
          <p:cNvPr id="68" name="Text 366">
            <a:extLst>
              <a:ext uri="{FF2B5EF4-FFF2-40B4-BE49-F238E27FC236}">
                <a16:creationId xmlns:a16="http://schemas.microsoft.com/office/drawing/2014/main" id="{A75071A6-2ECA-D24E-2DFB-93FCBBA22184}"/>
              </a:ext>
            </a:extLst>
          </p:cNvPr>
          <p:cNvSpPr txBox="1"/>
          <p:nvPr/>
        </p:nvSpPr>
        <p:spPr>
          <a:xfrm>
            <a:off x="5760720" y="5588444"/>
            <a:ext cx="347472" cy="347472"/>
          </a:xfrm>
          <a:prstGeom prst="rect">
            <a:avLst/>
          </a:prstGeom>
          <a:noFill/>
          <a:ln/>
        </p:spPr>
        <p:txBody>
          <a:bodyPr wrap="square" lIns="0" tIns="0" rIns="0" bIns="0" rtlCol="0" anchor="ctr"/>
          <a:lstStyle/>
          <a:p>
            <a:pPr marL="0" indent="0" algn="ctr">
              <a:buNone/>
            </a:pPr>
            <a:r>
              <a:rPr lang="en-US" alt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69" name="Text 367">
            <a:extLst>
              <a:ext uri="{FF2B5EF4-FFF2-40B4-BE49-F238E27FC236}">
                <a16:creationId xmlns:a16="http://schemas.microsoft.com/office/drawing/2014/main" id="{FD65E9CD-616C-C75E-555C-E4E3F7AA1ADF}"/>
              </a:ext>
            </a:extLst>
          </p:cNvPr>
          <p:cNvSpPr txBox="1"/>
          <p:nvPr/>
        </p:nvSpPr>
        <p:spPr>
          <a:xfrm>
            <a:off x="6236208" y="5350700"/>
            <a:ext cx="2395728" cy="822960"/>
          </a:xfrm>
          <a:prstGeom prst="rect">
            <a:avLst/>
          </a:prstGeom>
          <a:noFill/>
          <a:ln/>
        </p:spPr>
        <p:txBody>
          <a:bodyPr wrap="square" lIns="0" tIns="0" rIns="0" bIns="0" rtlCol="0" anchor="ctr"/>
          <a:lstStyle/>
          <a:p>
            <a:pPr marL="0" indent="0" algn="l">
              <a:buNone/>
            </a:pPr>
            <a:r>
              <a:rPr lang="en-US" altLang="en-US" sz="1400" b="1" dirty="0">
                <a:solidFill>
                  <a:srgbClr val="FFFFFF"/>
                </a:solidFill>
                <a:latin typeface="Arial" pitchFamily="34" charset="0"/>
                <a:ea typeface="Arial" pitchFamily="34" charset="-122"/>
                <a:cs typeface="Arial" pitchFamily="34" charset="-120"/>
              </a:rPr>
              <a:t>Reasoning is transparent</a:t>
            </a:r>
            <a:endParaRPr lang="en-US" sz="1400" dirty="0"/>
          </a:p>
        </p:txBody>
      </p:sp>
      <p:sp>
        <p:nvSpPr>
          <p:cNvPr id="70" name="Shape 368">
            <a:extLst>
              <a:ext uri="{FF2B5EF4-FFF2-40B4-BE49-F238E27FC236}">
                <a16:creationId xmlns:a16="http://schemas.microsoft.com/office/drawing/2014/main" id="{3C46FDCD-1EDD-D372-C9B9-2465D2FA4E10}"/>
              </a:ext>
            </a:extLst>
          </p:cNvPr>
          <p:cNvSpPr/>
          <p:nvPr/>
        </p:nvSpPr>
        <p:spPr>
          <a:xfrm>
            <a:off x="8686800" y="5588444"/>
            <a:ext cx="347472" cy="347472"/>
          </a:xfrm>
          <a:prstGeom prst="ellipse">
            <a:avLst/>
          </a:prstGeom>
          <a:solidFill>
            <a:srgbClr val="0284C7"/>
          </a:solidFill>
          <a:ln w="12700">
            <a:solidFill>
              <a:srgbClr val="0284C7"/>
            </a:solidFill>
            <a:prstDash val="solid"/>
          </a:ln>
        </p:spPr>
        <p:txBody>
          <a:bodyPr/>
          <a:lstStyle/>
          <a:p>
            <a:endParaRPr lang="en-US"/>
          </a:p>
        </p:txBody>
      </p:sp>
      <p:sp>
        <p:nvSpPr>
          <p:cNvPr id="71" name="Text 369">
            <a:extLst>
              <a:ext uri="{FF2B5EF4-FFF2-40B4-BE49-F238E27FC236}">
                <a16:creationId xmlns:a16="http://schemas.microsoft.com/office/drawing/2014/main" id="{59F4E971-9C13-47C7-7745-F7EF2B662BC7}"/>
              </a:ext>
            </a:extLst>
          </p:cNvPr>
          <p:cNvSpPr txBox="1"/>
          <p:nvPr/>
        </p:nvSpPr>
        <p:spPr>
          <a:xfrm>
            <a:off x="8686800" y="5588444"/>
            <a:ext cx="347472" cy="347472"/>
          </a:xfrm>
          <a:prstGeom prst="rect">
            <a:avLst/>
          </a:prstGeom>
          <a:noFill/>
          <a:ln/>
        </p:spPr>
        <p:txBody>
          <a:bodyPr wrap="square" lIns="0" tIns="0" rIns="0" bIns="0" rtlCol="0" anchor="ctr"/>
          <a:lstStyle/>
          <a:p>
            <a:pPr marL="0" indent="0" algn="ctr">
              <a:buNone/>
            </a:pPr>
            <a:r>
              <a:rPr lang="en-US" alt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72" name="Text 370">
            <a:extLst>
              <a:ext uri="{FF2B5EF4-FFF2-40B4-BE49-F238E27FC236}">
                <a16:creationId xmlns:a16="http://schemas.microsoft.com/office/drawing/2014/main" id="{3F15C65C-B437-280C-3A80-5B32844BE90B}"/>
              </a:ext>
            </a:extLst>
          </p:cNvPr>
          <p:cNvSpPr txBox="1"/>
          <p:nvPr/>
        </p:nvSpPr>
        <p:spPr>
          <a:xfrm>
            <a:off x="9162288" y="5350700"/>
            <a:ext cx="2395728" cy="822960"/>
          </a:xfrm>
          <a:prstGeom prst="rect">
            <a:avLst/>
          </a:prstGeom>
          <a:noFill/>
          <a:ln/>
        </p:spPr>
        <p:txBody>
          <a:bodyPr wrap="square" lIns="0" tIns="0" rIns="0" bIns="0" rtlCol="0" anchor="ctr"/>
          <a:lstStyle/>
          <a:p>
            <a:pPr marL="0" indent="0" algn="l">
              <a:buNone/>
            </a:pPr>
            <a:r>
              <a:rPr lang="en-US" altLang="en-US" sz="1400" b="1" dirty="0">
                <a:solidFill>
                  <a:srgbClr val="FFFFFF"/>
                </a:solidFill>
                <a:latin typeface="Arial" pitchFamily="34" charset="0"/>
                <a:ea typeface="Arial" pitchFamily="34" charset="-122"/>
                <a:cs typeface="Arial" pitchFamily="34" charset="-120"/>
              </a:rPr>
              <a:t>Scores are reproducible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5096" cy="237744"/>
          </a:xfrm>
          <a:prstGeom prst="rect">
            <a:avLst/>
          </a:prstGeom>
          <a:noFill/>
        </p:spPr>
        <p:txBody>
          <a:bodyPr wrap="square">
            <a:spAutoFit/>
          </a:bodyPr>
          <a:lstStyle/>
          <a:p>
            <a:r>
              <a:rPr sz="1200" b="1">
                <a:solidFill>
                  <a:srgbClr val="0284C7"/>
                </a:solidFill>
                <a:latin typeface="Arial"/>
              </a:rPr>
              <a:t>2. System Design</a:t>
            </a:r>
          </a:p>
        </p:txBody>
      </p:sp>
      <p:sp>
        <p:nvSpPr>
          <p:cNvPr id="3" name="TextBox 2"/>
          <p:cNvSpPr txBox="1"/>
          <p:nvPr/>
        </p:nvSpPr>
        <p:spPr>
          <a:xfrm>
            <a:off x="566928" y="566928"/>
            <a:ext cx="11055096" cy="566928"/>
          </a:xfrm>
          <a:prstGeom prst="rect">
            <a:avLst/>
          </a:prstGeom>
          <a:noFill/>
        </p:spPr>
        <p:txBody>
          <a:bodyPr wrap="square">
            <a:spAutoFit/>
          </a:bodyPr>
          <a:lstStyle/>
          <a:p>
            <a:r>
              <a:rPr sz="2800" b="1">
                <a:solidFill>
                  <a:srgbClr val="0F172A"/>
                </a:solidFill>
                <a:latin typeface="Arial"/>
              </a:rPr>
              <a:t>Formulation ①: Variables and Constraints</a:t>
            </a:r>
          </a:p>
        </p:txBody>
      </p:sp>
      <p:sp>
        <p:nvSpPr>
          <p:cNvPr id="5" name="TextBox 4"/>
          <p:cNvSpPr txBox="1"/>
          <p:nvPr/>
        </p:nvSpPr>
        <p:spPr>
          <a:xfrm>
            <a:off x="566928" y="1371600"/>
            <a:ext cx="5029200" cy="320040"/>
          </a:xfrm>
          <a:prstGeom prst="rect">
            <a:avLst/>
          </a:prstGeom>
          <a:noFill/>
        </p:spPr>
        <p:txBody>
          <a:bodyPr wrap="square">
            <a:spAutoFit/>
          </a:bodyPr>
          <a:lstStyle/>
          <a:p>
            <a:r>
              <a:rPr sz="1500" b="1">
                <a:solidFill>
                  <a:srgbClr val="64748B"/>
                </a:solidFill>
                <a:latin typeface="Arial"/>
              </a:rPr>
              <a:t>Variable: is this talk here? (1 = yes, 0 = no)</a:t>
            </a:r>
          </a:p>
        </p:txBody>
      </p:sp>
      <p:sp>
        <p:nvSpPr>
          <p:cNvPr id="6" name="TextBox 5"/>
          <p:cNvSpPr txBox="1"/>
          <p:nvPr/>
        </p:nvSpPr>
        <p:spPr>
          <a:xfrm>
            <a:off x="1344168" y="1783080"/>
            <a:ext cx="777240" cy="548640"/>
          </a:xfrm>
          <a:prstGeom prst="rect">
            <a:avLst/>
          </a:prstGeom>
          <a:noFill/>
        </p:spPr>
        <p:txBody>
          <a:bodyPr wrap="square" anchor="ctr">
            <a:spAutoFit/>
          </a:bodyPr>
          <a:lstStyle/>
          <a:p>
            <a:pPr algn="ctr"/>
            <a:r>
              <a:rPr sz="1200" b="1">
                <a:solidFill>
                  <a:srgbClr val="64748B"/>
                </a:solidFill>
                <a:latin typeface="Arial"/>
              </a:rPr>
              <a:t>Time 1</a:t>
            </a:r>
          </a:p>
        </p:txBody>
      </p:sp>
      <p:sp>
        <p:nvSpPr>
          <p:cNvPr id="7" name="TextBox 6"/>
          <p:cNvSpPr txBox="1"/>
          <p:nvPr/>
        </p:nvSpPr>
        <p:spPr>
          <a:xfrm>
            <a:off x="2121408" y="1783080"/>
            <a:ext cx="777240" cy="548640"/>
          </a:xfrm>
          <a:prstGeom prst="rect">
            <a:avLst/>
          </a:prstGeom>
          <a:noFill/>
        </p:spPr>
        <p:txBody>
          <a:bodyPr wrap="square" anchor="ctr">
            <a:spAutoFit/>
          </a:bodyPr>
          <a:lstStyle/>
          <a:p>
            <a:pPr algn="ctr"/>
            <a:r>
              <a:rPr sz="1200" b="1">
                <a:solidFill>
                  <a:srgbClr val="64748B"/>
                </a:solidFill>
                <a:latin typeface="Arial"/>
              </a:rPr>
              <a:t>Time 2</a:t>
            </a:r>
          </a:p>
        </p:txBody>
      </p:sp>
      <p:sp>
        <p:nvSpPr>
          <p:cNvPr id="8" name="TextBox 7"/>
          <p:cNvSpPr txBox="1"/>
          <p:nvPr/>
        </p:nvSpPr>
        <p:spPr>
          <a:xfrm>
            <a:off x="2898648" y="1783080"/>
            <a:ext cx="777240" cy="548640"/>
          </a:xfrm>
          <a:prstGeom prst="rect">
            <a:avLst/>
          </a:prstGeom>
          <a:noFill/>
        </p:spPr>
        <p:txBody>
          <a:bodyPr wrap="square" anchor="ctr">
            <a:spAutoFit/>
          </a:bodyPr>
          <a:lstStyle/>
          <a:p>
            <a:pPr algn="ctr"/>
            <a:r>
              <a:rPr sz="1200" b="1">
                <a:solidFill>
                  <a:srgbClr val="64748B"/>
                </a:solidFill>
                <a:latin typeface="Arial"/>
              </a:rPr>
              <a:t>Time 3</a:t>
            </a:r>
          </a:p>
        </p:txBody>
      </p:sp>
      <p:sp>
        <p:nvSpPr>
          <p:cNvPr id="9" name="TextBox 8"/>
          <p:cNvSpPr txBox="1"/>
          <p:nvPr/>
        </p:nvSpPr>
        <p:spPr>
          <a:xfrm>
            <a:off x="3675888" y="1783080"/>
            <a:ext cx="777240" cy="548640"/>
          </a:xfrm>
          <a:prstGeom prst="rect">
            <a:avLst/>
          </a:prstGeom>
          <a:noFill/>
        </p:spPr>
        <p:txBody>
          <a:bodyPr wrap="square" anchor="ctr">
            <a:spAutoFit/>
          </a:bodyPr>
          <a:lstStyle/>
          <a:p>
            <a:pPr algn="ctr"/>
            <a:r>
              <a:rPr sz="1200" b="1">
                <a:solidFill>
                  <a:srgbClr val="64748B"/>
                </a:solidFill>
                <a:latin typeface="Arial"/>
              </a:rPr>
              <a:t>Time 4</a:t>
            </a:r>
          </a:p>
        </p:txBody>
      </p:sp>
      <p:sp>
        <p:nvSpPr>
          <p:cNvPr id="10" name="TextBox 9"/>
          <p:cNvSpPr txBox="1"/>
          <p:nvPr/>
        </p:nvSpPr>
        <p:spPr>
          <a:xfrm>
            <a:off x="4453128" y="1783080"/>
            <a:ext cx="777240" cy="548640"/>
          </a:xfrm>
          <a:prstGeom prst="rect">
            <a:avLst/>
          </a:prstGeom>
          <a:noFill/>
        </p:spPr>
        <p:txBody>
          <a:bodyPr wrap="square" anchor="ctr">
            <a:spAutoFit/>
          </a:bodyPr>
          <a:lstStyle/>
          <a:p>
            <a:pPr algn="ctr"/>
            <a:r>
              <a:rPr sz="1200" b="1">
                <a:solidFill>
                  <a:srgbClr val="64748B"/>
                </a:solidFill>
                <a:latin typeface="Arial"/>
              </a:rPr>
              <a:t>Time 5</a:t>
            </a:r>
          </a:p>
        </p:txBody>
      </p:sp>
      <p:sp>
        <p:nvSpPr>
          <p:cNvPr id="11" name="TextBox 10"/>
          <p:cNvSpPr txBox="1"/>
          <p:nvPr/>
        </p:nvSpPr>
        <p:spPr>
          <a:xfrm>
            <a:off x="566928" y="2331720"/>
            <a:ext cx="777240" cy="548640"/>
          </a:xfrm>
          <a:prstGeom prst="rect">
            <a:avLst/>
          </a:prstGeom>
          <a:noFill/>
        </p:spPr>
        <p:txBody>
          <a:bodyPr wrap="square" anchor="ctr">
            <a:spAutoFit/>
          </a:bodyPr>
          <a:lstStyle/>
          <a:p>
            <a:pPr algn="ctr"/>
            <a:r>
              <a:rPr sz="1200" b="1">
                <a:solidFill>
                  <a:srgbClr val="64748B"/>
                </a:solidFill>
                <a:latin typeface="Arial"/>
              </a:rPr>
              <a:t>Room A</a:t>
            </a:r>
          </a:p>
        </p:txBody>
      </p:sp>
      <p:sp>
        <p:nvSpPr>
          <p:cNvPr id="12" name="Rectangle 11"/>
          <p:cNvSpPr/>
          <p:nvPr/>
        </p:nvSpPr>
        <p:spPr>
          <a:xfrm>
            <a:off x="1367028" y="2354580"/>
            <a:ext cx="731520" cy="5029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344168" y="2331720"/>
            <a:ext cx="777240" cy="548640"/>
          </a:xfrm>
          <a:prstGeom prst="rect">
            <a:avLst/>
          </a:prstGeom>
          <a:noFill/>
        </p:spPr>
        <p:txBody>
          <a:bodyPr wrap="square" anchor="ctr">
            <a:spAutoFit/>
          </a:bodyPr>
          <a:lstStyle/>
          <a:p>
            <a:pPr algn="ctr"/>
            <a:r>
              <a:rPr sz="1600" b="1">
                <a:solidFill>
                  <a:srgbClr val="94A3B8"/>
                </a:solidFill>
                <a:latin typeface="Arial"/>
              </a:rPr>
              <a:t>0</a:t>
            </a:r>
          </a:p>
        </p:txBody>
      </p:sp>
      <p:sp>
        <p:nvSpPr>
          <p:cNvPr id="14" name="Rectangle 13"/>
          <p:cNvSpPr/>
          <p:nvPr/>
        </p:nvSpPr>
        <p:spPr>
          <a:xfrm>
            <a:off x="2144268" y="2354580"/>
            <a:ext cx="731520" cy="5029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121408" y="2331720"/>
            <a:ext cx="777240" cy="548640"/>
          </a:xfrm>
          <a:prstGeom prst="rect">
            <a:avLst/>
          </a:prstGeom>
          <a:noFill/>
        </p:spPr>
        <p:txBody>
          <a:bodyPr wrap="square" anchor="ctr">
            <a:spAutoFit/>
          </a:bodyPr>
          <a:lstStyle/>
          <a:p>
            <a:pPr algn="ctr"/>
            <a:r>
              <a:rPr sz="1600" b="1">
                <a:solidFill>
                  <a:srgbClr val="94A3B8"/>
                </a:solidFill>
                <a:latin typeface="Arial"/>
              </a:rPr>
              <a:t>0</a:t>
            </a:r>
          </a:p>
        </p:txBody>
      </p:sp>
      <p:sp>
        <p:nvSpPr>
          <p:cNvPr id="16" name="Rectangle 15"/>
          <p:cNvSpPr/>
          <p:nvPr/>
        </p:nvSpPr>
        <p:spPr>
          <a:xfrm>
            <a:off x="2921508" y="2354580"/>
            <a:ext cx="731520" cy="5029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898648" y="2331720"/>
            <a:ext cx="777240" cy="548640"/>
          </a:xfrm>
          <a:prstGeom prst="rect">
            <a:avLst/>
          </a:prstGeom>
          <a:noFill/>
        </p:spPr>
        <p:txBody>
          <a:bodyPr wrap="square" anchor="ctr">
            <a:spAutoFit/>
          </a:bodyPr>
          <a:lstStyle/>
          <a:p>
            <a:pPr algn="ctr"/>
            <a:r>
              <a:rPr sz="1600" b="1">
                <a:solidFill>
                  <a:srgbClr val="94A3B8"/>
                </a:solidFill>
                <a:latin typeface="Arial"/>
              </a:rPr>
              <a:t>0</a:t>
            </a:r>
          </a:p>
        </p:txBody>
      </p:sp>
      <p:sp>
        <p:nvSpPr>
          <p:cNvPr id="18" name="Rectangle 17"/>
          <p:cNvSpPr/>
          <p:nvPr/>
        </p:nvSpPr>
        <p:spPr>
          <a:xfrm>
            <a:off x="3698748" y="2354580"/>
            <a:ext cx="731520" cy="5029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675888" y="2331720"/>
            <a:ext cx="777240" cy="548640"/>
          </a:xfrm>
          <a:prstGeom prst="rect">
            <a:avLst/>
          </a:prstGeom>
          <a:noFill/>
        </p:spPr>
        <p:txBody>
          <a:bodyPr wrap="square" anchor="ctr">
            <a:spAutoFit/>
          </a:bodyPr>
          <a:lstStyle/>
          <a:p>
            <a:pPr algn="ctr"/>
            <a:r>
              <a:rPr sz="1600" b="1">
                <a:solidFill>
                  <a:srgbClr val="94A3B8"/>
                </a:solidFill>
                <a:latin typeface="Arial"/>
              </a:rPr>
              <a:t>0</a:t>
            </a:r>
          </a:p>
        </p:txBody>
      </p:sp>
      <p:sp>
        <p:nvSpPr>
          <p:cNvPr id="20" name="Rectangle 19"/>
          <p:cNvSpPr/>
          <p:nvPr/>
        </p:nvSpPr>
        <p:spPr>
          <a:xfrm>
            <a:off x="4475988" y="2354580"/>
            <a:ext cx="731520" cy="5029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453128" y="2331720"/>
            <a:ext cx="777240" cy="548640"/>
          </a:xfrm>
          <a:prstGeom prst="rect">
            <a:avLst/>
          </a:prstGeom>
          <a:noFill/>
        </p:spPr>
        <p:txBody>
          <a:bodyPr wrap="square" anchor="ctr">
            <a:spAutoFit/>
          </a:bodyPr>
          <a:lstStyle/>
          <a:p>
            <a:pPr algn="ctr"/>
            <a:r>
              <a:rPr sz="1600" b="1">
                <a:solidFill>
                  <a:srgbClr val="94A3B8"/>
                </a:solidFill>
                <a:latin typeface="Arial"/>
              </a:rPr>
              <a:t>0</a:t>
            </a:r>
          </a:p>
        </p:txBody>
      </p:sp>
      <p:sp>
        <p:nvSpPr>
          <p:cNvPr id="22" name="TextBox 21"/>
          <p:cNvSpPr txBox="1"/>
          <p:nvPr/>
        </p:nvSpPr>
        <p:spPr>
          <a:xfrm>
            <a:off x="566928" y="2880360"/>
            <a:ext cx="777240" cy="548640"/>
          </a:xfrm>
          <a:prstGeom prst="rect">
            <a:avLst/>
          </a:prstGeom>
          <a:noFill/>
        </p:spPr>
        <p:txBody>
          <a:bodyPr wrap="square" anchor="ctr">
            <a:spAutoFit/>
          </a:bodyPr>
          <a:lstStyle/>
          <a:p>
            <a:pPr algn="ctr"/>
            <a:r>
              <a:rPr sz="1200" b="1">
                <a:solidFill>
                  <a:srgbClr val="64748B"/>
                </a:solidFill>
                <a:latin typeface="Arial"/>
              </a:rPr>
              <a:t>Room B</a:t>
            </a:r>
          </a:p>
        </p:txBody>
      </p:sp>
      <p:sp>
        <p:nvSpPr>
          <p:cNvPr id="23" name="Rectangle 22"/>
          <p:cNvSpPr/>
          <p:nvPr/>
        </p:nvSpPr>
        <p:spPr>
          <a:xfrm>
            <a:off x="1367028" y="2903220"/>
            <a:ext cx="731520" cy="5029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344168" y="2880360"/>
            <a:ext cx="777240" cy="548640"/>
          </a:xfrm>
          <a:prstGeom prst="rect">
            <a:avLst/>
          </a:prstGeom>
          <a:noFill/>
        </p:spPr>
        <p:txBody>
          <a:bodyPr wrap="square" anchor="ctr">
            <a:spAutoFit/>
          </a:bodyPr>
          <a:lstStyle/>
          <a:p>
            <a:pPr algn="ctr"/>
            <a:r>
              <a:rPr sz="1600" b="1">
                <a:solidFill>
                  <a:srgbClr val="94A3B8"/>
                </a:solidFill>
                <a:latin typeface="Arial"/>
              </a:rPr>
              <a:t>0</a:t>
            </a:r>
          </a:p>
        </p:txBody>
      </p:sp>
      <p:sp>
        <p:nvSpPr>
          <p:cNvPr id="25" name="Rectangle 24"/>
          <p:cNvSpPr/>
          <p:nvPr/>
        </p:nvSpPr>
        <p:spPr>
          <a:xfrm>
            <a:off x="2144268" y="2903220"/>
            <a:ext cx="731520" cy="5029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121408" y="2880360"/>
            <a:ext cx="777240" cy="548640"/>
          </a:xfrm>
          <a:prstGeom prst="rect">
            <a:avLst/>
          </a:prstGeom>
          <a:noFill/>
        </p:spPr>
        <p:txBody>
          <a:bodyPr wrap="square" anchor="ctr">
            <a:spAutoFit/>
          </a:bodyPr>
          <a:lstStyle/>
          <a:p>
            <a:pPr algn="ctr"/>
            <a:r>
              <a:rPr sz="1600" b="1">
                <a:solidFill>
                  <a:srgbClr val="94A3B8"/>
                </a:solidFill>
                <a:latin typeface="Arial"/>
              </a:rPr>
              <a:t>0</a:t>
            </a:r>
          </a:p>
        </p:txBody>
      </p:sp>
      <p:sp>
        <p:nvSpPr>
          <p:cNvPr id="27" name="Rectangle 26"/>
          <p:cNvSpPr/>
          <p:nvPr/>
        </p:nvSpPr>
        <p:spPr>
          <a:xfrm>
            <a:off x="2921508" y="2903220"/>
            <a:ext cx="731520" cy="50292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898648" y="2880360"/>
            <a:ext cx="777240" cy="548640"/>
          </a:xfrm>
          <a:prstGeom prst="rect">
            <a:avLst/>
          </a:prstGeom>
          <a:noFill/>
        </p:spPr>
        <p:txBody>
          <a:bodyPr wrap="square" anchor="ctr">
            <a:spAutoFit/>
          </a:bodyPr>
          <a:lstStyle/>
          <a:p>
            <a:pPr algn="ctr"/>
            <a:r>
              <a:rPr sz="1600" b="1">
                <a:solidFill>
                  <a:srgbClr val="FFFFFF"/>
                </a:solidFill>
                <a:latin typeface="Arial"/>
              </a:rPr>
              <a:t>1</a:t>
            </a:r>
          </a:p>
        </p:txBody>
      </p:sp>
      <p:sp>
        <p:nvSpPr>
          <p:cNvPr id="29" name="Rectangle 28"/>
          <p:cNvSpPr/>
          <p:nvPr/>
        </p:nvSpPr>
        <p:spPr>
          <a:xfrm>
            <a:off x="3698748" y="2903220"/>
            <a:ext cx="731520" cy="5029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675888" y="2880360"/>
            <a:ext cx="777240" cy="548640"/>
          </a:xfrm>
          <a:prstGeom prst="rect">
            <a:avLst/>
          </a:prstGeom>
          <a:noFill/>
        </p:spPr>
        <p:txBody>
          <a:bodyPr wrap="square" anchor="ctr">
            <a:spAutoFit/>
          </a:bodyPr>
          <a:lstStyle/>
          <a:p>
            <a:pPr algn="ctr"/>
            <a:r>
              <a:rPr sz="1600" b="1">
                <a:solidFill>
                  <a:srgbClr val="94A3B8"/>
                </a:solidFill>
                <a:latin typeface="Arial"/>
              </a:rPr>
              <a:t>0</a:t>
            </a:r>
          </a:p>
        </p:txBody>
      </p:sp>
      <p:sp>
        <p:nvSpPr>
          <p:cNvPr id="31" name="Rectangle 30"/>
          <p:cNvSpPr/>
          <p:nvPr/>
        </p:nvSpPr>
        <p:spPr>
          <a:xfrm>
            <a:off x="4475988" y="2903220"/>
            <a:ext cx="731520" cy="5029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453128" y="2880360"/>
            <a:ext cx="777240" cy="548640"/>
          </a:xfrm>
          <a:prstGeom prst="rect">
            <a:avLst/>
          </a:prstGeom>
          <a:noFill/>
        </p:spPr>
        <p:txBody>
          <a:bodyPr wrap="square" anchor="ctr">
            <a:spAutoFit/>
          </a:bodyPr>
          <a:lstStyle/>
          <a:p>
            <a:pPr algn="ctr"/>
            <a:r>
              <a:rPr sz="1600" b="1">
                <a:solidFill>
                  <a:srgbClr val="94A3B8"/>
                </a:solidFill>
                <a:latin typeface="Arial"/>
              </a:rPr>
              <a:t>0</a:t>
            </a:r>
          </a:p>
        </p:txBody>
      </p:sp>
      <p:sp>
        <p:nvSpPr>
          <p:cNvPr id="33" name="TextBox 32"/>
          <p:cNvSpPr txBox="1"/>
          <p:nvPr/>
        </p:nvSpPr>
        <p:spPr>
          <a:xfrm>
            <a:off x="566928" y="3429000"/>
            <a:ext cx="777240" cy="548640"/>
          </a:xfrm>
          <a:prstGeom prst="rect">
            <a:avLst/>
          </a:prstGeom>
          <a:noFill/>
        </p:spPr>
        <p:txBody>
          <a:bodyPr wrap="square" anchor="ctr">
            <a:spAutoFit/>
          </a:bodyPr>
          <a:lstStyle/>
          <a:p>
            <a:pPr algn="ctr"/>
            <a:r>
              <a:rPr sz="1200" b="1">
                <a:solidFill>
                  <a:srgbClr val="64748B"/>
                </a:solidFill>
                <a:latin typeface="Arial"/>
              </a:rPr>
              <a:t>Room C</a:t>
            </a:r>
          </a:p>
        </p:txBody>
      </p:sp>
      <p:sp>
        <p:nvSpPr>
          <p:cNvPr id="34" name="Rectangle 33"/>
          <p:cNvSpPr/>
          <p:nvPr/>
        </p:nvSpPr>
        <p:spPr>
          <a:xfrm>
            <a:off x="1367028" y="3451860"/>
            <a:ext cx="731520" cy="5029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344168" y="3429000"/>
            <a:ext cx="777240" cy="548640"/>
          </a:xfrm>
          <a:prstGeom prst="rect">
            <a:avLst/>
          </a:prstGeom>
          <a:noFill/>
        </p:spPr>
        <p:txBody>
          <a:bodyPr wrap="square" anchor="ctr">
            <a:spAutoFit/>
          </a:bodyPr>
          <a:lstStyle/>
          <a:p>
            <a:pPr algn="ctr"/>
            <a:r>
              <a:rPr sz="1600" b="1">
                <a:solidFill>
                  <a:srgbClr val="94A3B8"/>
                </a:solidFill>
                <a:latin typeface="Arial"/>
              </a:rPr>
              <a:t>0</a:t>
            </a:r>
          </a:p>
        </p:txBody>
      </p:sp>
      <p:sp>
        <p:nvSpPr>
          <p:cNvPr id="36" name="Rectangle 35"/>
          <p:cNvSpPr/>
          <p:nvPr/>
        </p:nvSpPr>
        <p:spPr>
          <a:xfrm>
            <a:off x="2144268" y="3451860"/>
            <a:ext cx="731520" cy="5029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121408" y="3429000"/>
            <a:ext cx="777240" cy="548640"/>
          </a:xfrm>
          <a:prstGeom prst="rect">
            <a:avLst/>
          </a:prstGeom>
          <a:noFill/>
        </p:spPr>
        <p:txBody>
          <a:bodyPr wrap="square" anchor="ctr">
            <a:spAutoFit/>
          </a:bodyPr>
          <a:lstStyle/>
          <a:p>
            <a:pPr algn="ctr"/>
            <a:r>
              <a:rPr sz="1600" b="1">
                <a:solidFill>
                  <a:srgbClr val="94A3B8"/>
                </a:solidFill>
                <a:latin typeface="Arial"/>
              </a:rPr>
              <a:t>0</a:t>
            </a:r>
          </a:p>
        </p:txBody>
      </p:sp>
      <p:sp>
        <p:nvSpPr>
          <p:cNvPr id="38" name="Rectangle 37"/>
          <p:cNvSpPr/>
          <p:nvPr/>
        </p:nvSpPr>
        <p:spPr>
          <a:xfrm>
            <a:off x="2921508" y="3451860"/>
            <a:ext cx="731520" cy="5029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898648" y="3429000"/>
            <a:ext cx="777240" cy="548640"/>
          </a:xfrm>
          <a:prstGeom prst="rect">
            <a:avLst/>
          </a:prstGeom>
          <a:noFill/>
        </p:spPr>
        <p:txBody>
          <a:bodyPr wrap="square" anchor="ctr">
            <a:spAutoFit/>
          </a:bodyPr>
          <a:lstStyle/>
          <a:p>
            <a:pPr algn="ctr"/>
            <a:r>
              <a:rPr sz="1600" b="1">
                <a:solidFill>
                  <a:srgbClr val="94A3B8"/>
                </a:solidFill>
                <a:latin typeface="Arial"/>
              </a:rPr>
              <a:t>0</a:t>
            </a:r>
          </a:p>
        </p:txBody>
      </p:sp>
      <p:sp>
        <p:nvSpPr>
          <p:cNvPr id="40" name="Rectangle 39"/>
          <p:cNvSpPr/>
          <p:nvPr/>
        </p:nvSpPr>
        <p:spPr>
          <a:xfrm>
            <a:off x="3698748" y="3451860"/>
            <a:ext cx="731520" cy="5029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675888" y="3429000"/>
            <a:ext cx="777240" cy="548640"/>
          </a:xfrm>
          <a:prstGeom prst="rect">
            <a:avLst/>
          </a:prstGeom>
          <a:noFill/>
        </p:spPr>
        <p:txBody>
          <a:bodyPr wrap="square" anchor="ctr">
            <a:spAutoFit/>
          </a:bodyPr>
          <a:lstStyle/>
          <a:p>
            <a:pPr algn="ctr"/>
            <a:r>
              <a:rPr sz="1600" b="1">
                <a:solidFill>
                  <a:srgbClr val="94A3B8"/>
                </a:solidFill>
                <a:latin typeface="Arial"/>
              </a:rPr>
              <a:t>0</a:t>
            </a:r>
          </a:p>
        </p:txBody>
      </p:sp>
      <p:sp>
        <p:nvSpPr>
          <p:cNvPr id="42" name="Rectangle 41"/>
          <p:cNvSpPr/>
          <p:nvPr/>
        </p:nvSpPr>
        <p:spPr>
          <a:xfrm>
            <a:off x="4475988" y="3451860"/>
            <a:ext cx="731520" cy="5029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453128" y="3429000"/>
            <a:ext cx="777240" cy="548640"/>
          </a:xfrm>
          <a:prstGeom prst="rect">
            <a:avLst/>
          </a:prstGeom>
          <a:noFill/>
        </p:spPr>
        <p:txBody>
          <a:bodyPr wrap="square" anchor="ctr">
            <a:spAutoFit/>
          </a:bodyPr>
          <a:lstStyle/>
          <a:p>
            <a:pPr algn="ctr"/>
            <a:r>
              <a:rPr sz="1600" b="1">
                <a:solidFill>
                  <a:srgbClr val="94A3B8"/>
                </a:solidFill>
                <a:latin typeface="Arial"/>
              </a:rPr>
              <a:t>0</a:t>
            </a:r>
          </a:p>
        </p:txBody>
      </p:sp>
      <p:sp>
        <p:nvSpPr>
          <p:cNvPr id="44" name="TextBox 43"/>
          <p:cNvSpPr txBox="1"/>
          <p:nvPr/>
        </p:nvSpPr>
        <p:spPr>
          <a:xfrm>
            <a:off x="566928" y="3977640"/>
            <a:ext cx="777240" cy="548640"/>
          </a:xfrm>
          <a:prstGeom prst="rect">
            <a:avLst/>
          </a:prstGeom>
          <a:noFill/>
        </p:spPr>
        <p:txBody>
          <a:bodyPr wrap="square" anchor="ctr">
            <a:spAutoFit/>
          </a:bodyPr>
          <a:lstStyle/>
          <a:p>
            <a:pPr algn="ctr"/>
            <a:r>
              <a:rPr sz="1200" b="1">
                <a:solidFill>
                  <a:srgbClr val="64748B"/>
                </a:solidFill>
                <a:latin typeface="Arial"/>
              </a:rPr>
              <a:t>Room D</a:t>
            </a:r>
          </a:p>
        </p:txBody>
      </p:sp>
      <p:sp>
        <p:nvSpPr>
          <p:cNvPr id="45" name="Rectangle 44"/>
          <p:cNvSpPr/>
          <p:nvPr/>
        </p:nvSpPr>
        <p:spPr>
          <a:xfrm>
            <a:off x="1367028" y="4000500"/>
            <a:ext cx="731520" cy="5029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344168" y="3977640"/>
            <a:ext cx="777240" cy="548640"/>
          </a:xfrm>
          <a:prstGeom prst="rect">
            <a:avLst/>
          </a:prstGeom>
          <a:noFill/>
        </p:spPr>
        <p:txBody>
          <a:bodyPr wrap="square" anchor="ctr">
            <a:spAutoFit/>
          </a:bodyPr>
          <a:lstStyle/>
          <a:p>
            <a:pPr algn="ctr"/>
            <a:r>
              <a:rPr sz="1600" b="1">
                <a:solidFill>
                  <a:srgbClr val="94A3B8"/>
                </a:solidFill>
                <a:latin typeface="Arial"/>
              </a:rPr>
              <a:t>0</a:t>
            </a:r>
          </a:p>
        </p:txBody>
      </p:sp>
      <p:sp>
        <p:nvSpPr>
          <p:cNvPr id="47" name="Rectangle 46"/>
          <p:cNvSpPr/>
          <p:nvPr/>
        </p:nvSpPr>
        <p:spPr>
          <a:xfrm>
            <a:off x="2144268" y="4000500"/>
            <a:ext cx="731520" cy="5029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121408" y="3977640"/>
            <a:ext cx="777240" cy="548640"/>
          </a:xfrm>
          <a:prstGeom prst="rect">
            <a:avLst/>
          </a:prstGeom>
          <a:noFill/>
        </p:spPr>
        <p:txBody>
          <a:bodyPr wrap="square" anchor="ctr">
            <a:spAutoFit/>
          </a:bodyPr>
          <a:lstStyle/>
          <a:p>
            <a:pPr algn="ctr"/>
            <a:r>
              <a:rPr sz="1600" b="1">
                <a:solidFill>
                  <a:srgbClr val="94A3B8"/>
                </a:solidFill>
                <a:latin typeface="Arial"/>
              </a:rPr>
              <a:t>0</a:t>
            </a:r>
          </a:p>
        </p:txBody>
      </p:sp>
      <p:sp>
        <p:nvSpPr>
          <p:cNvPr id="49" name="Rectangle 48"/>
          <p:cNvSpPr/>
          <p:nvPr/>
        </p:nvSpPr>
        <p:spPr>
          <a:xfrm>
            <a:off x="2921508" y="4000500"/>
            <a:ext cx="731520" cy="5029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2898648" y="3977640"/>
            <a:ext cx="777240" cy="548640"/>
          </a:xfrm>
          <a:prstGeom prst="rect">
            <a:avLst/>
          </a:prstGeom>
          <a:noFill/>
        </p:spPr>
        <p:txBody>
          <a:bodyPr wrap="square" anchor="ctr">
            <a:spAutoFit/>
          </a:bodyPr>
          <a:lstStyle/>
          <a:p>
            <a:pPr algn="ctr"/>
            <a:r>
              <a:rPr sz="1600" b="1">
                <a:solidFill>
                  <a:srgbClr val="94A3B8"/>
                </a:solidFill>
                <a:latin typeface="Arial"/>
              </a:rPr>
              <a:t>0</a:t>
            </a:r>
          </a:p>
        </p:txBody>
      </p:sp>
      <p:sp>
        <p:nvSpPr>
          <p:cNvPr id="51" name="Rectangle 50"/>
          <p:cNvSpPr/>
          <p:nvPr/>
        </p:nvSpPr>
        <p:spPr>
          <a:xfrm>
            <a:off x="3698748" y="4000500"/>
            <a:ext cx="731520" cy="5029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675888" y="3977640"/>
            <a:ext cx="777240" cy="548640"/>
          </a:xfrm>
          <a:prstGeom prst="rect">
            <a:avLst/>
          </a:prstGeom>
          <a:noFill/>
        </p:spPr>
        <p:txBody>
          <a:bodyPr wrap="square" anchor="ctr">
            <a:spAutoFit/>
          </a:bodyPr>
          <a:lstStyle/>
          <a:p>
            <a:pPr algn="ctr"/>
            <a:r>
              <a:rPr sz="1600" b="1">
                <a:solidFill>
                  <a:srgbClr val="94A3B8"/>
                </a:solidFill>
                <a:latin typeface="Arial"/>
              </a:rPr>
              <a:t>0</a:t>
            </a:r>
          </a:p>
        </p:txBody>
      </p:sp>
      <p:sp>
        <p:nvSpPr>
          <p:cNvPr id="53" name="Rectangle 52"/>
          <p:cNvSpPr/>
          <p:nvPr/>
        </p:nvSpPr>
        <p:spPr>
          <a:xfrm>
            <a:off x="4475988" y="4000500"/>
            <a:ext cx="731520" cy="5029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4453128" y="3977640"/>
            <a:ext cx="777240" cy="548640"/>
          </a:xfrm>
          <a:prstGeom prst="rect">
            <a:avLst/>
          </a:prstGeom>
          <a:noFill/>
        </p:spPr>
        <p:txBody>
          <a:bodyPr wrap="square" anchor="ctr">
            <a:spAutoFit/>
          </a:bodyPr>
          <a:lstStyle/>
          <a:p>
            <a:pPr algn="ctr"/>
            <a:r>
              <a:rPr sz="1600" b="1">
                <a:solidFill>
                  <a:srgbClr val="94A3B8"/>
                </a:solidFill>
                <a:latin typeface="Arial"/>
              </a:rPr>
              <a:t>0</a:t>
            </a:r>
          </a:p>
        </p:txBody>
      </p:sp>
      <p:sp>
        <p:nvSpPr>
          <p:cNvPr id="55" name="TextBox 54"/>
          <p:cNvSpPr txBox="1"/>
          <p:nvPr/>
        </p:nvSpPr>
        <p:spPr>
          <a:xfrm>
            <a:off x="566928" y="4663440"/>
            <a:ext cx="5029200" cy="320040"/>
          </a:xfrm>
          <a:prstGeom prst="rect">
            <a:avLst/>
          </a:prstGeom>
          <a:noFill/>
        </p:spPr>
        <p:txBody>
          <a:bodyPr wrap="square">
            <a:spAutoFit/>
          </a:bodyPr>
          <a:lstStyle/>
          <a:p>
            <a:pPr algn="ctr"/>
            <a:r>
              <a:rPr sz="1400" b="1">
                <a:solidFill>
                  <a:srgbClr val="0284C7"/>
                </a:solidFill>
                <a:latin typeface="Arial"/>
              </a:rPr>
              <a:t>Talk P01 → Room B, Time 3</a:t>
            </a:r>
          </a:p>
        </p:txBody>
      </p:sp>
      <p:sp>
        <p:nvSpPr>
          <p:cNvPr id="69" name="TextBox 68"/>
          <p:cNvSpPr txBox="1"/>
          <p:nvPr/>
        </p:nvSpPr>
        <p:spPr>
          <a:xfrm>
            <a:off x="566928" y="5303520"/>
            <a:ext cx="11055096" cy="274320"/>
          </a:xfrm>
          <a:prstGeom prst="rect">
            <a:avLst/>
          </a:prstGeom>
          <a:noFill/>
        </p:spPr>
        <p:txBody>
          <a:bodyPr wrap="square">
            <a:spAutoFit/>
          </a:bodyPr>
          <a:lstStyle/>
          <a:p>
            <a:r>
              <a:rPr sz="1200" b="0" dirty="0">
                <a:solidFill>
                  <a:srgbClr val="64748B"/>
                </a:solidFill>
                <a:latin typeface="Arial"/>
              </a:rPr>
              <a:t>More → Appendix A6</a:t>
            </a:r>
          </a:p>
        </p:txBody>
      </p:sp>
      <p:sp>
        <p:nvSpPr>
          <p:cNvPr id="70" name="Rounded Rectangle 69"/>
          <p:cNvSpPr/>
          <p:nvPr/>
        </p:nvSpPr>
        <p:spPr>
          <a:xfrm>
            <a:off x="6035040" y="1371600"/>
            <a:ext cx="1188720" cy="320040"/>
          </a:xfrm>
          <a:prstGeom prst="roundRect">
            <a:avLst>
              <a:gd name="adj" fmla="val 50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6035040" y="1371600"/>
            <a:ext cx="1188720" cy="320040"/>
          </a:xfrm>
          <a:prstGeom prst="rect">
            <a:avLst/>
          </a:prstGeom>
          <a:noFill/>
        </p:spPr>
        <p:txBody>
          <a:bodyPr wrap="square" lIns="45720" tIns="22860" rIns="45720" bIns="22860" anchor="ctr">
            <a:spAutoFit/>
          </a:bodyPr>
          <a:lstStyle/>
          <a:p>
            <a:pPr algn="ctr"/>
            <a:r>
              <a:rPr sz="1200" b="1" i="0">
                <a:solidFill>
                  <a:srgbClr val="FFFFFF"/>
                </a:solidFill>
                <a:latin typeface="Arial"/>
              </a:rPr>
              <a:t>Always</a:t>
            </a:r>
          </a:p>
        </p:txBody>
      </p:sp>
      <p:sp>
        <p:nvSpPr>
          <p:cNvPr id="72" name="Rounded Rectangle 71"/>
          <p:cNvSpPr/>
          <p:nvPr/>
        </p:nvSpPr>
        <p:spPr>
          <a:xfrm>
            <a:off x="6035040" y="1828800"/>
            <a:ext cx="5586984" cy="59436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p:cNvSpPr/>
          <p:nvPr/>
        </p:nvSpPr>
        <p:spPr>
          <a:xfrm>
            <a:off x="6172200" y="1943100"/>
            <a:ext cx="365760" cy="365760"/>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6172200" y="1943100"/>
            <a:ext cx="365760" cy="365760"/>
          </a:xfrm>
          <a:prstGeom prst="rect">
            <a:avLst/>
          </a:prstGeom>
          <a:noFill/>
        </p:spPr>
        <p:txBody>
          <a:bodyPr wrap="square" lIns="45720" tIns="22860" rIns="45720" bIns="22860" anchor="ctr">
            <a:spAutoFit/>
          </a:bodyPr>
          <a:lstStyle/>
          <a:p>
            <a:pPr algn="ctr"/>
            <a:r>
              <a:rPr sz="1200" b="1" i="0">
                <a:solidFill>
                  <a:srgbClr val="FFFFFF"/>
                </a:solidFill>
                <a:latin typeface="Arial"/>
              </a:rPr>
              <a:t>1</a:t>
            </a:r>
          </a:p>
        </p:txBody>
      </p:sp>
      <p:sp>
        <p:nvSpPr>
          <p:cNvPr id="75" name="TextBox 74"/>
          <p:cNvSpPr txBox="1"/>
          <p:nvPr/>
        </p:nvSpPr>
        <p:spPr>
          <a:xfrm>
            <a:off x="6675120" y="1828800"/>
            <a:ext cx="4855464" cy="594360"/>
          </a:xfrm>
          <a:prstGeom prst="rect">
            <a:avLst/>
          </a:prstGeom>
          <a:noFill/>
        </p:spPr>
        <p:txBody>
          <a:bodyPr wrap="square" lIns="45720" tIns="22860" rIns="45720" bIns="22860" anchor="ctr">
            <a:spAutoFit/>
          </a:bodyPr>
          <a:lstStyle/>
          <a:p>
            <a:r>
              <a:rPr sz="1600" b="1" i="0">
                <a:solidFill>
                  <a:srgbClr val="0F172A"/>
                </a:solidFill>
                <a:latin typeface="Arial"/>
              </a:rPr>
              <a:t>Each talk: exactly one place</a:t>
            </a:r>
          </a:p>
        </p:txBody>
      </p:sp>
      <p:sp>
        <p:nvSpPr>
          <p:cNvPr id="76" name="Rounded Rectangle 75"/>
          <p:cNvSpPr/>
          <p:nvPr/>
        </p:nvSpPr>
        <p:spPr>
          <a:xfrm>
            <a:off x="6035040" y="2514600"/>
            <a:ext cx="5586984" cy="59436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6172200" y="2628900"/>
            <a:ext cx="365760" cy="365760"/>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6172200" y="2628900"/>
            <a:ext cx="365760" cy="365760"/>
          </a:xfrm>
          <a:prstGeom prst="rect">
            <a:avLst/>
          </a:prstGeom>
          <a:noFill/>
        </p:spPr>
        <p:txBody>
          <a:bodyPr wrap="square" lIns="45720" tIns="22860" rIns="45720" bIns="22860" anchor="ctr">
            <a:spAutoFit/>
          </a:bodyPr>
          <a:lstStyle/>
          <a:p>
            <a:pPr algn="ctr"/>
            <a:r>
              <a:rPr sz="1200" b="1" i="0">
                <a:solidFill>
                  <a:srgbClr val="FFFFFF"/>
                </a:solidFill>
                <a:latin typeface="Arial"/>
              </a:rPr>
              <a:t>2</a:t>
            </a:r>
          </a:p>
        </p:txBody>
      </p:sp>
      <p:sp>
        <p:nvSpPr>
          <p:cNvPr id="79" name="TextBox 78"/>
          <p:cNvSpPr txBox="1"/>
          <p:nvPr/>
        </p:nvSpPr>
        <p:spPr>
          <a:xfrm>
            <a:off x="6675120" y="2514600"/>
            <a:ext cx="4855464" cy="594360"/>
          </a:xfrm>
          <a:prstGeom prst="rect">
            <a:avLst/>
          </a:prstGeom>
          <a:noFill/>
        </p:spPr>
        <p:txBody>
          <a:bodyPr wrap="square" lIns="45720" tIns="22860" rIns="45720" bIns="22860" anchor="ctr">
            <a:spAutoFit/>
          </a:bodyPr>
          <a:lstStyle/>
          <a:p>
            <a:r>
              <a:rPr sz="1600" b="1" i="0">
                <a:solidFill>
                  <a:srgbClr val="0F172A"/>
                </a:solidFill>
                <a:latin typeface="Arial"/>
              </a:rPr>
              <a:t>Each room and slot: at most one talk</a:t>
            </a:r>
          </a:p>
        </p:txBody>
      </p:sp>
      <p:sp>
        <p:nvSpPr>
          <p:cNvPr id="80" name="Rounded Rectangle 79"/>
          <p:cNvSpPr/>
          <p:nvPr/>
        </p:nvSpPr>
        <p:spPr>
          <a:xfrm>
            <a:off x="6035040" y="3200400"/>
            <a:ext cx="5586984" cy="59436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val 80"/>
          <p:cNvSpPr/>
          <p:nvPr/>
        </p:nvSpPr>
        <p:spPr>
          <a:xfrm>
            <a:off x="6172200" y="3314700"/>
            <a:ext cx="365760" cy="365760"/>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6172200" y="3314700"/>
            <a:ext cx="365760" cy="365760"/>
          </a:xfrm>
          <a:prstGeom prst="rect">
            <a:avLst/>
          </a:prstGeom>
          <a:noFill/>
        </p:spPr>
        <p:txBody>
          <a:bodyPr wrap="square" lIns="45720" tIns="22860" rIns="45720" bIns="22860" anchor="ctr">
            <a:spAutoFit/>
          </a:bodyPr>
          <a:lstStyle/>
          <a:p>
            <a:pPr algn="ctr"/>
            <a:r>
              <a:rPr sz="1200" b="1" i="0">
                <a:solidFill>
                  <a:srgbClr val="FFFFFF"/>
                </a:solidFill>
                <a:latin typeface="Arial"/>
              </a:rPr>
              <a:t>3</a:t>
            </a:r>
          </a:p>
        </p:txBody>
      </p:sp>
      <p:sp>
        <p:nvSpPr>
          <p:cNvPr id="83" name="TextBox 82"/>
          <p:cNvSpPr txBox="1"/>
          <p:nvPr/>
        </p:nvSpPr>
        <p:spPr>
          <a:xfrm>
            <a:off x="6675120" y="3200400"/>
            <a:ext cx="4855464" cy="594360"/>
          </a:xfrm>
          <a:prstGeom prst="rect">
            <a:avLst/>
          </a:prstGeom>
          <a:noFill/>
        </p:spPr>
        <p:txBody>
          <a:bodyPr wrap="square" lIns="45720" tIns="22860" rIns="45720" bIns="22860" anchor="ctr">
            <a:spAutoFit/>
          </a:bodyPr>
          <a:lstStyle/>
          <a:p>
            <a:r>
              <a:rPr sz="1600" b="1" i="0">
                <a:solidFill>
                  <a:srgbClr val="0F172A"/>
                </a:solidFill>
                <a:latin typeface="Arial"/>
              </a:rPr>
              <a:t>Audience ≤ room capacity</a:t>
            </a:r>
          </a:p>
        </p:txBody>
      </p:sp>
      <p:sp>
        <p:nvSpPr>
          <p:cNvPr id="84" name="Rounded Rectangle 83"/>
          <p:cNvSpPr/>
          <p:nvPr/>
        </p:nvSpPr>
        <p:spPr>
          <a:xfrm>
            <a:off x="6035040" y="3977640"/>
            <a:ext cx="2651760" cy="320040"/>
          </a:xfrm>
          <a:prstGeom prst="roundRect">
            <a:avLst>
              <a:gd name="adj" fmla="val 50000"/>
            </a:avLst>
          </a:prstGeom>
          <a:solidFill>
            <a:srgbClr val="FFFFFF"/>
          </a:solidFill>
          <a:ln w="1587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6035040" y="3977640"/>
            <a:ext cx="2651760" cy="320040"/>
          </a:xfrm>
          <a:prstGeom prst="rect">
            <a:avLst/>
          </a:prstGeom>
          <a:noFill/>
        </p:spPr>
        <p:txBody>
          <a:bodyPr wrap="square" lIns="45720" tIns="22860" rIns="45720" bIns="22860" anchor="ctr">
            <a:spAutoFit/>
          </a:bodyPr>
          <a:lstStyle/>
          <a:p>
            <a:pPr algn="ctr"/>
            <a:r>
              <a:rPr sz="1100" b="1" i="0">
                <a:solidFill>
                  <a:srgbClr val="64748B"/>
                </a:solidFill>
                <a:latin typeface="Arial"/>
              </a:rPr>
              <a:t>Only if the column is filled</a:t>
            </a:r>
          </a:p>
        </p:txBody>
      </p:sp>
      <p:sp>
        <p:nvSpPr>
          <p:cNvPr id="86" name="Rounded Rectangle 85"/>
          <p:cNvSpPr/>
          <p:nvPr/>
        </p:nvSpPr>
        <p:spPr>
          <a:xfrm>
            <a:off x="6035040" y="4389120"/>
            <a:ext cx="1801368" cy="457200"/>
          </a:xfrm>
          <a:prstGeom prst="roundRect">
            <a:avLst>
              <a:gd name="adj" fmla="val 8000"/>
            </a:avLst>
          </a:prstGeom>
          <a:solidFill>
            <a:srgbClr val="FFFFFF"/>
          </a:solidFill>
          <a:ln w="1587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6035040" y="4389120"/>
            <a:ext cx="1801368" cy="457200"/>
          </a:xfrm>
          <a:prstGeom prst="rect">
            <a:avLst/>
          </a:prstGeom>
          <a:noFill/>
        </p:spPr>
        <p:txBody>
          <a:bodyPr wrap="square" lIns="45720" tIns="22860" rIns="45720" bIns="22860" anchor="ctr">
            <a:spAutoFit/>
          </a:bodyPr>
          <a:lstStyle/>
          <a:p>
            <a:pPr algn="ctr"/>
            <a:r>
              <a:rPr sz="1300" b="1" i="0">
                <a:solidFill>
                  <a:srgbClr val="0F172A"/>
                </a:solidFill>
                <a:latin typeface="Arial"/>
              </a:rPr>
              <a:t>Screen</a:t>
            </a:r>
          </a:p>
        </p:txBody>
      </p:sp>
      <p:sp>
        <p:nvSpPr>
          <p:cNvPr id="88" name="Rounded Rectangle 87"/>
          <p:cNvSpPr/>
          <p:nvPr/>
        </p:nvSpPr>
        <p:spPr>
          <a:xfrm>
            <a:off x="7927848" y="4389120"/>
            <a:ext cx="1801368" cy="457200"/>
          </a:xfrm>
          <a:prstGeom prst="roundRect">
            <a:avLst>
              <a:gd name="adj" fmla="val 8000"/>
            </a:avLst>
          </a:prstGeom>
          <a:solidFill>
            <a:srgbClr val="FFFFFF"/>
          </a:solidFill>
          <a:ln w="1587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7927848" y="4389120"/>
            <a:ext cx="1801368" cy="457200"/>
          </a:xfrm>
          <a:prstGeom prst="rect">
            <a:avLst/>
          </a:prstGeom>
          <a:noFill/>
        </p:spPr>
        <p:txBody>
          <a:bodyPr wrap="square" lIns="45720" tIns="22860" rIns="45720" bIns="22860" anchor="ctr">
            <a:spAutoFit/>
          </a:bodyPr>
          <a:lstStyle/>
          <a:p>
            <a:pPr algn="ctr"/>
            <a:r>
              <a:rPr sz="1300" b="1" i="0">
                <a:solidFill>
                  <a:srgbClr val="0F172A"/>
                </a:solidFill>
                <a:latin typeface="Arial"/>
              </a:rPr>
              <a:t>Same speaker</a:t>
            </a:r>
          </a:p>
        </p:txBody>
      </p:sp>
      <p:sp>
        <p:nvSpPr>
          <p:cNvPr id="90" name="Rounded Rectangle 89"/>
          <p:cNvSpPr/>
          <p:nvPr/>
        </p:nvSpPr>
        <p:spPr>
          <a:xfrm>
            <a:off x="9820656" y="4389120"/>
            <a:ext cx="1801368" cy="457200"/>
          </a:xfrm>
          <a:prstGeom prst="roundRect">
            <a:avLst>
              <a:gd name="adj" fmla="val 8000"/>
            </a:avLst>
          </a:prstGeom>
          <a:solidFill>
            <a:srgbClr val="FFFFFF"/>
          </a:solidFill>
          <a:ln w="1587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9820656" y="4389120"/>
            <a:ext cx="1801368" cy="457200"/>
          </a:xfrm>
          <a:prstGeom prst="rect">
            <a:avLst/>
          </a:prstGeom>
          <a:noFill/>
        </p:spPr>
        <p:txBody>
          <a:bodyPr wrap="square" lIns="45720" tIns="22860" rIns="45720" bIns="22860" anchor="ctr">
            <a:spAutoFit/>
          </a:bodyPr>
          <a:lstStyle/>
          <a:p>
            <a:pPr algn="ctr"/>
            <a:r>
              <a:rPr sz="1300" b="1" i="0">
                <a:solidFill>
                  <a:srgbClr val="0F172A"/>
                </a:solidFill>
                <a:latin typeface="Arial"/>
              </a:rPr>
              <a:t>Unavailable slot</a:t>
            </a:r>
          </a:p>
        </p:txBody>
      </p:sp>
      <p:sp>
        <p:nvSpPr>
          <p:cNvPr id="92" name="TextBox 91"/>
          <p:cNvSpPr txBox="1"/>
          <p:nvPr/>
        </p:nvSpPr>
        <p:spPr>
          <a:xfrm>
            <a:off x="11164824" y="6492240"/>
            <a:ext cx="457200" cy="219456"/>
          </a:xfrm>
          <a:prstGeom prst="rect">
            <a:avLst/>
          </a:prstGeom>
          <a:noFill/>
          <a:ln/>
        </p:spPr>
        <p:txBody>
          <a:bodyPr wrap="square" lIns="0" tIns="0" rIns="0" bIns="0" rtlCol="0" anchor="ctr"/>
          <a:lstStyle/>
          <a:p>
            <a:pPr marL="0" indent="0" algn="r">
              <a:buNone/>
            </a:pPr>
            <a:fld id="{8B2C3E4A-5D6F-4A1B-9C2D-3E4F5A6B7C8D}" type="slidenum">
              <a:rPr lang="en-US" altLang="ja-JP" sz="1000" dirty="0">
                <a:solidFill>
                  <a:srgbClr val="94A3B8"/>
                </a:solidFill>
                <a:latin typeface="Arial" pitchFamily="34" charset="0"/>
                <a:ea typeface="Arial" pitchFamily="34" charset="-122"/>
                <a:cs typeface="Arial" pitchFamily="34" charset="-120"/>
              </a:rPr>
              <a:t>15</a:t>
            </a:fld>
            <a:endParaRPr lang="en-US" altLang="ja-JP"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164824" y="6492240"/>
            <a:ext cx="457200" cy="219456"/>
          </a:xfrm>
          <a:prstGeom prst="rect">
            <a:avLst/>
          </a:prstGeom>
          <a:noFill/>
          <a:ln/>
        </p:spPr>
        <p:txBody>
          <a:bodyPr wrap="square" lIns="0" tIns="0" rIns="0" bIns="0" rtlCol="0" anchor="ctr"/>
          <a:lstStyle/>
          <a:p>
            <a:pPr marL="0" indent="0" algn="r">
              <a:buNone/>
            </a:pPr>
            <a:fld id="{8B2C3E4A-5D6F-4A1B-9C2D-3E4F5A6B7C8D}" type="slidenum">
              <a:rPr lang="en-US" altLang="ja-JP" sz="1000" dirty="0">
                <a:solidFill>
                  <a:srgbClr val="94A3B8"/>
                </a:solidFill>
                <a:latin typeface="Arial" pitchFamily="34" charset="0"/>
                <a:ea typeface="Arial" pitchFamily="34" charset="-122"/>
                <a:cs typeface="Arial" pitchFamily="34" charset="-120"/>
              </a:rPr>
              <a:t>16</a:t>
            </a:fld>
            <a:endParaRPr lang="en-US" altLang="ja-JP" sz="1000" dirty="0"/>
          </a:p>
        </p:txBody>
      </p:sp>
      <p:sp>
        <p:nvSpPr>
          <p:cNvPr id="3" name="Text 1"/>
          <p:cNvSpPr txBox="1"/>
          <p:nvPr/>
        </p:nvSpPr>
        <p:spPr>
          <a:xfrm>
            <a:off x="566928" y="310896"/>
            <a:ext cx="11055096" cy="237744"/>
          </a:xfrm>
          <a:prstGeom prst="rect">
            <a:avLst/>
          </a:prstGeom>
          <a:noFill/>
          <a:ln/>
        </p:spPr>
        <p:txBody>
          <a:bodyPr wrap="square" lIns="0" tIns="0" rIns="0" bIns="0" rtlCol="0" anchor="ctr"/>
          <a:lstStyle/>
          <a:p>
            <a:pPr marL="0" indent="0" algn="l">
              <a:buNone/>
            </a:pPr>
            <a:r>
              <a:rPr lang="en-US" altLang="en-US" sz="1200" b="1" kern="0" spc="100" dirty="0">
                <a:solidFill>
                  <a:srgbClr val="0284C7"/>
                </a:solidFill>
                <a:latin typeface="Arial" pitchFamily="34" charset="0"/>
                <a:ea typeface="Arial" pitchFamily="34" charset="-122"/>
                <a:cs typeface="Arial" pitchFamily="34" charset="-120"/>
              </a:rPr>
              <a:t>2. System Design</a:t>
            </a:r>
            <a:endParaRPr lang="en-US" sz="1200" dirty="0"/>
          </a:p>
        </p:txBody>
      </p:sp>
      <p:sp>
        <p:nvSpPr>
          <p:cNvPr id="4" name="Text 2"/>
          <p:cNvSpPr txBox="1"/>
          <p:nvPr/>
        </p:nvSpPr>
        <p:spPr>
          <a:xfrm>
            <a:off x="566928" y="566928"/>
            <a:ext cx="11055096" cy="566928"/>
          </a:xfrm>
          <a:prstGeom prst="rect">
            <a:avLst/>
          </a:prstGeom>
          <a:noFill/>
          <a:ln/>
        </p:spPr>
        <p:txBody>
          <a:bodyPr wrap="square" lIns="0" tIns="0" rIns="0" bIns="0" rtlCol="0" anchor="ctr"/>
          <a:lstStyle/>
          <a:p>
            <a:pPr marL="0" indent="0" algn="l">
              <a:buNone/>
            </a:pPr>
            <a:r>
              <a:rPr lang="en-US" altLang="en-US" sz="2800" b="1" dirty="0">
                <a:solidFill>
                  <a:srgbClr val="0F172A"/>
                </a:solidFill>
                <a:latin typeface="Arial" pitchFamily="34" charset="0"/>
                <a:ea typeface="Arial" pitchFamily="34" charset="-122"/>
                <a:cs typeface="Arial" pitchFamily="34" charset="-120"/>
              </a:rPr>
              <a:t>Formulation ②: Objective Function</a:t>
            </a:r>
            <a:endParaRPr lang="en-US" sz="2800" dirty="0"/>
          </a:p>
        </p:txBody>
      </p:sp>
      <p:sp>
        <p:nvSpPr>
          <p:cNvPr id="5" name="Shape 3"/>
          <p:cNvSpPr/>
          <p:nvPr/>
        </p:nvSpPr>
        <p:spPr>
          <a:xfrm>
            <a:off x="566928" y="1371600"/>
            <a:ext cx="11055096" cy="950976"/>
          </a:xfrm>
          <a:prstGeom prst="roundRect">
            <a:avLst>
              <a:gd name="adj" fmla="val 6731"/>
            </a:avLst>
          </a:prstGeom>
          <a:solidFill>
            <a:srgbClr val="0F172A"/>
          </a:solidFill>
          <a:ln w="12700">
            <a:solidFill>
              <a:srgbClr val="0F172A"/>
            </a:solidFill>
            <a:prstDash val="solid"/>
          </a:ln>
        </p:spPr>
        <p:txBody>
          <a:bodyPr/>
          <a:lstStyle/>
          <a:p>
            <a:endParaRPr lang="ja-JP" altLang="en-US"/>
          </a:p>
        </p:txBody>
      </p:sp>
      <p:sp>
        <p:nvSpPr>
          <p:cNvPr id="6" name="Text 4"/>
          <p:cNvSpPr txBox="1"/>
          <p:nvPr/>
        </p:nvSpPr>
        <p:spPr>
          <a:xfrm>
            <a:off x="841248" y="1554480"/>
            <a:ext cx="10506456" cy="585216"/>
          </a:xfrm>
          <a:prstGeom prst="rect">
            <a:avLst/>
          </a:prstGeom>
          <a:noFill/>
          <a:ln/>
        </p:spPr>
        <p:txBody>
          <a:bodyPr wrap="square" lIns="0" tIns="0" rIns="0" bIns="0" rtlCol="0" anchor="ctr"/>
          <a:lstStyle/>
          <a:p>
            <a:pPr marL="0" indent="0" algn="ctr">
              <a:buNone/>
            </a:pPr>
            <a:r>
              <a:rPr lang="en-US" altLang="en-US" sz="2000" b="1" dirty="0">
                <a:solidFill>
                  <a:srgbClr val="FFFFFF"/>
                </a:solidFill>
                <a:latin typeface="Arial" pitchFamily="34" charset="0"/>
                <a:ea typeface="Arial" pitchFamily="34" charset="-122"/>
                <a:cs typeface="Arial" pitchFamily="34" charset="-120"/>
              </a:rPr>
              <a:t>Score  =  100 × (  w</a:t>
            </a:r>
            <a:r>
              <a:rPr lang="en-US" altLang="en-US" sz="2000" b="1" baseline="-40000" dirty="0">
                <a:solidFill>
                  <a:srgbClr val="FFFFFF"/>
                </a:solidFill>
                <a:latin typeface="Arial" pitchFamily="34" charset="0"/>
                <a:ea typeface="Arial" pitchFamily="34" charset="-122"/>
                <a:cs typeface="Arial" pitchFamily="34" charset="-120"/>
              </a:rPr>
              <a:t>1</a:t>
            </a:r>
            <a:r>
              <a:rPr lang="en-US" altLang="en-US" sz="2000" b="1" dirty="0">
                <a:solidFill>
                  <a:srgbClr val="FFFFFF"/>
                </a:solidFill>
                <a:latin typeface="Arial" pitchFamily="34" charset="0"/>
                <a:ea typeface="Arial" pitchFamily="34" charset="-122"/>
                <a:cs typeface="Arial" pitchFamily="34" charset="-120"/>
              </a:rPr>
              <a:t> · A / N</a:t>
            </a:r>
            <a:r>
              <a:rPr lang="en-US" altLang="en-US" sz="2000" b="1" baseline="-40000" dirty="0">
                <a:solidFill>
                  <a:srgbClr val="FFFFFF"/>
                </a:solidFill>
                <a:latin typeface="Arial" pitchFamily="34" charset="0"/>
                <a:ea typeface="Arial" pitchFamily="34" charset="-122"/>
                <a:cs typeface="Arial" pitchFamily="34" charset="-120"/>
              </a:rPr>
              <a:t>A</a:t>
            </a:r>
            <a:r>
              <a:rPr lang="en-US" altLang="en-US" sz="2000" b="1" dirty="0">
                <a:solidFill>
                  <a:srgbClr val="FFFFFF"/>
                </a:solidFill>
                <a:latin typeface="Arial" pitchFamily="34" charset="0"/>
                <a:ea typeface="Arial" pitchFamily="34" charset="-122"/>
                <a:cs typeface="Arial" pitchFamily="34" charset="-120"/>
              </a:rPr>
              <a:t>  −  w</a:t>
            </a:r>
            <a:r>
              <a:rPr lang="en-US" altLang="en-US" sz="2000" b="1" baseline="-40000" dirty="0">
                <a:solidFill>
                  <a:srgbClr val="FFFFFF"/>
                </a:solidFill>
                <a:latin typeface="Arial" pitchFamily="34" charset="0"/>
                <a:ea typeface="Arial" pitchFamily="34" charset="-122"/>
                <a:cs typeface="Arial" pitchFamily="34" charset="-120"/>
              </a:rPr>
              <a:t>2</a:t>
            </a:r>
            <a:r>
              <a:rPr lang="en-US" altLang="en-US" sz="2000" b="1" dirty="0">
                <a:solidFill>
                  <a:srgbClr val="FFFFFF"/>
                </a:solidFill>
                <a:latin typeface="Arial" pitchFamily="34" charset="0"/>
                <a:ea typeface="Arial" pitchFamily="34" charset="-122"/>
                <a:cs typeface="Arial" pitchFamily="34" charset="-120"/>
              </a:rPr>
              <a:t> · B / N</a:t>
            </a:r>
            <a:r>
              <a:rPr lang="en-US" altLang="en-US" sz="2000" b="1" baseline="-40000" dirty="0">
                <a:solidFill>
                  <a:srgbClr val="FFFFFF"/>
                </a:solidFill>
                <a:latin typeface="Arial" pitchFamily="34" charset="0"/>
                <a:ea typeface="Arial" pitchFamily="34" charset="-122"/>
                <a:cs typeface="Arial" pitchFamily="34" charset="-120"/>
              </a:rPr>
              <a:t>B</a:t>
            </a:r>
            <a:r>
              <a:rPr lang="en-US" altLang="en-US" sz="2000" b="1" dirty="0">
                <a:solidFill>
                  <a:srgbClr val="FFFFFF"/>
                </a:solidFill>
                <a:latin typeface="Arial" pitchFamily="34" charset="0"/>
                <a:ea typeface="Arial" pitchFamily="34" charset="-122"/>
                <a:cs typeface="Arial" pitchFamily="34" charset="-120"/>
              </a:rPr>
              <a:t>  −  w</a:t>
            </a:r>
            <a:r>
              <a:rPr lang="en-US" altLang="en-US" sz="2000" b="1" baseline="-40000" dirty="0">
                <a:solidFill>
                  <a:srgbClr val="FFFFFF"/>
                </a:solidFill>
                <a:latin typeface="Arial" pitchFamily="34" charset="0"/>
                <a:ea typeface="Arial" pitchFamily="34" charset="-122"/>
                <a:cs typeface="Arial" pitchFamily="34" charset="-120"/>
              </a:rPr>
              <a:t>3</a:t>
            </a:r>
            <a:r>
              <a:rPr lang="en-US" altLang="en-US" sz="2000" b="1" dirty="0">
                <a:solidFill>
                  <a:srgbClr val="FFFFFF"/>
                </a:solidFill>
                <a:latin typeface="Arial" pitchFamily="34" charset="0"/>
                <a:ea typeface="Arial" pitchFamily="34" charset="-122"/>
                <a:cs typeface="Arial" pitchFamily="34" charset="-120"/>
              </a:rPr>
              <a:t> · C / N</a:t>
            </a:r>
            <a:r>
              <a:rPr lang="en-US" altLang="en-US" sz="2000" b="1" baseline="-40000" dirty="0">
                <a:solidFill>
                  <a:srgbClr val="FFFFFF"/>
                </a:solidFill>
                <a:latin typeface="Arial" pitchFamily="34" charset="0"/>
                <a:ea typeface="Arial" pitchFamily="34" charset="-122"/>
                <a:cs typeface="Arial" pitchFamily="34" charset="-120"/>
              </a:rPr>
              <a:t>C</a:t>
            </a:r>
            <a:r>
              <a:rPr lang="en-US" altLang="en-US" sz="2000" b="1" dirty="0">
                <a:solidFill>
                  <a:srgbClr val="FFFFFF"/>
                </a:solidFill>
                <a:latin typeface="Arial" pitchFamily="34" charset="0"/>
                <a:ea typeface="Arial" pitchFamily="34" charset="-122"/>
                <a:cs typeface="Arial" pitchFamily="34" charset="-120"/>
              </a:rPr>
              <a:t>  )</a:t>
            </a:r>
            <a:r>
              <a:rPr lang="en-US" altLang="en-US" sz="2000" b="1" dirty="0">
                <a:solidFill>
                  <a:srgbClr val="7DD3FC"/>
                </a:solidFill>
                <a:latin typeface="Arial" pitchFamily="34" charset="0"/>
                <a:ea typeface="Arial" pitchFamily="34" charset="-122"/>
                <a:cs typeface="Arial" pitchFamily="34" charset="-120"/>
              </a:rPr>
              <a:t>    →   maximize</a:t>
            </a:r>
            <a:endParaRPr lang="en-US" sz="2000" dirty="0"/>
          </a:p>
        </p:txBody>
      </p:sp>
      <p:sp>
        <p:nvSpPr>
          <p:cNvPr id="7" name="Shape 5"/>
          <p:cNvSpPr/>
          <p:nvPr/>
        </p:nvSpPr>
        <p:spPr>
          <a:xfrm>
            <a:off x="566928" y="2523744"/>
            <a:ext cx="3502152" cy="2615184"/>
          </a:xfrm>
          <a:prstGeom prst="roundRect">
            <a:avLst>
              <a:gd name="adj" fmla="val 2448"/>
            </a:avLst>
          </a:prstGeom>
          <a:solidFill>
            <a:srgbClr val="F8FAFC"/>
          </a:solidFill>
          <a:ln w="12700">
            <a:solidFill>
              <a:srgbClr val="E2E8F0"/>
            </a:solidFill>
            <a:prstDash val="solid"/>
          </a:ln>
        </p:spPr>
        <p:txBody>
          <a:bodyPr/>
          <a:lstStyle/>
          <a:p>
            <a:endParaRPr lang="ja-JP" altLang="en-US"/>
          </a:p>
        </p:txBody>
      </p:sp>
      <p:sp>
        <p:nvSpPr>
          <p:cNvPr id="8" name="Shape 6"/>
          <p:cNvSpPr/>
          <p:nvPr/>
        </p:nvSpPr>
        <p:spPr>
          <a:xfrm>
            <a:off x="841248" y="2761488"/>
            <a:ext cx="310896" cy="310896"/>
          </a:xfrm>
          <a:prstGeom prst="ellipse">
            <a:avLst/>
          </a:prstGeom>
          <a:solidFill>
            <a:srgbClr val="0284C7"/>
          </a:solidFill>
          <a:ln w="19050">
            <a:solidFill>
              <a:srgbClr val="0284C7"/>
            </a:solidFill>
            <a:prstDash val="solid"/>
          </a:ln>
        </p:spPr>
        <p:txBody>
          <a:bodyPr/>
          <a:lstStyle/>
          <a:p>
            <a:endParaRPr lang="ja-JP" altLang="en-US"/>
          </a:p>
        </p:txBody>
      </p:sp>
      <p:sp>
        <p:nvSpPr>
          <p:cNvPr id="9" name="Text 7"/>
          <p:cNvSpPr txBox="1"/>
          <p:nvPr/>
        </p:nvSpPr>
        <p:spPr>
          <a:xfrm>
            <a:off x="841248" y="2761488"/>
            <a:ext cx="310896" cy="310896"/>
          </a:xfrm>
          <a:prstGeom prst="rect">
            <a:avLst/>
          </a:prstGeom>
          <a:noFill/>
          <a:ln/>
        </p:spPr>
        <p:txBody>
          <a:bodyPr wrap="square" lIns="0" tIns="0" rIns="0" bIns="0" rtlCol="0" anchor="ctr"/>
          <a:lstStyle/>
          <a:p>
            <a:pPr marL="0" indent="0" algn="ctr">
              <a:buNone/>
            </a:pPr>
            <a:r>
              <a:rPr lang="ja-JP" altLang="en-US" sz="1250" b="1" dirty="0">
                <a:solidFill>
                  <a:srgbClr val="FFFFFF"/>
                </a:solidFill>
                <a:latin typeface="Arial" pitchFamily="34" charset="0"/>
                <a:ea typeface="Arial" pitchFamily="34" charset="-122"/>
                <a:cs typeface="Arial" pitchFamily="34" charset="-120"/>
              </a:rPr>
              <a:t>A</a:t>
            </a:r>
            <a:endParaRPr lang="ja-JP" sz="1250" dirty="0"/>
          </a:p>
        </p:txBody>
      </p:sp>
      <p:sp>
        <p:nvSpPr>
          <p:cNvPr id="10" name="Text 8"/>
          <p:cNvSpPr txBox="1"/>
          <p:nvPr/>
        </p:nvSpPr>
        <p:spPr>
          <a:xfrm>
            <a:off x="3017520" y="2788920"/>
            <a:ext cx="777240" cy="256032"/>
          </a:xfrm>
          <a:prstGeom prst="rect">
            <a:avLst/>
          </a:prstGeom>
          <a:noFill/>
          <a:ln/>
        </p:spPr>
        <p:txBody>
          <a:bodyPr wrap="square" lIns="0" tIns="0" rIns="0" bIns="0" rtlCol="0" anchor="ctr"/>
          <a:lstStyle/>
          <a:p>
            <a:pPr marL="0" indent="0" algn="r">
              <a:buNone/>
            </a:pPr>
            <a:r>
              <a:rPr lang="en-US" altLang="en-US" sz="1200" b="1" dirty="0">
                <a:solidFill>
                  <a:srgbClr val="0369A1"/>
                </a:solidFill>
                <a:latin typeface="Arial" pitchFamily="34" charset="0"/>
                <a:ea typeface="Arial" pitchFamily="34" charset="-122"/>
                <a:cs typeface="Arial" pitchFamily="34" charset="-120"/>
              </a:rPr>
              <a:t>Maximize</a:t>
            </a:r>
            <a:endParaRPr lang="en-US" sz="1200" dirty="0"/>
          </a:p>
        </p:txBody>
      </p:sp>
      <p:sp>
        <p:nvSpPr>
          <p:cNvPr id="11" name="Text 9"/>
          <p:cNvSpPr txBox="1"/>
          <p:nvPr/>
        </p:nvSpPr>
        <p:spPr>
          <a:xfrm>
            <a:off x="841248" y="3200400"/>
            <a:ext cx="2953512" cy="310896"/>
          </a:xfrm>
          <a:prstGeom prst="rect">
            <a:avLst/>
          </a:prstGeom>
          <a:noFill/>
          <a:ln/>
        </p:spPr>
        <p:txBody>
          <a:bodyPr wrap="square" lIns="0" tIns="0" rIns="0" bIns="0" rtlCol="0" anchor="ctr"/>
          <a:lstStyle/>
          <a:p>
            <a:pPr marL="0" indent="0" algn="l">
              <a:buNone/>
            </a:pPr>
            <a:r>
              <a:rPr lang="en-US" altLang="en-US" sz="1500" b="1" dirty="0">
                <a:solidFill>
                  <a:srgbClr val="0F172A"/>
                </a:solidFill>
                <a:latin typeface="Arial" pitchFamily="34" charset="0"/>
                <a:ea typeface="Arial" pitchFamily="34" charset="-122"/>
                <a:cs typeface="Arial" pitchFamily="34" charset="-120"/>
              </a:rPr>
              <a:t>Same topic continues in the same room</a:t>
            </a:r>
            <a:endParaRPr lang="en-US" sz="1500" dirty="0"/>
          </a:p>
        </p:txBody>
      </p:sp>
      <p:sp>
        <p:nvSpPr>
          <p:cNvPr id="12" name="Text 10"/>
          <p:cNvSpPr txBox="1"/>
          <p:nvPr/>
        </p:nvSpPr>
        <p:spPr>
          <a:xfrm>
            <a:off x="841248" y="4736592"/>
            <a:ext cx="2953512" cy="274320"/>
          </a:xfrm>
          <a:prstGeom prst="rect">
            <a:avLst/>
          </a:prstGeom>
          <a:noFill/>
          <a:ln/>
        </p:spPr>
        <p:txBody>
          <a:bodyPr wrap="square" lIns="0" tIns="0" rIns="0" bIns="0" rtlCol="0" anchor="ctr"/>
          <a:lstStyle/>
          <a:p>
            <a:pPr marL="0" indent="0" algn="ctr">
              <a:buNone/>
            </a:pPr>
            <a:r>
              <a:rPr lang="en-US" altLang="en-US" sz="1200" dirty="0">
                <a:solidFill>
                  <a:srgbClr val="64748B"/>
                </a:solidFill>
                <a:latin typeface="Arial" pitchFamily="34" charset="0"/>
                <a:ea typeface="Arial" pitchFamily="34" charset="-122"/>
                <a:cs typeface="Arial" pitchFamily="34" charset="-120"/>
              </a:rPr>
              <a:t>The audience need not change rooms</a:t>
            </a:r>
            <a:endParaRPr lang="en-US" sz="1200" dirty="0"/>
          </a:p>
        </p:txBody>
      </p:sp>
      <p:sp>
        <p:nvSpPr>
          <p:cNvPr id="13" name="Shape 11"/>
          <p:cNvSpPr/>
          <p:nvPr/>
        </p:nvSpPr>
        <p:spPr>
          <a:xfrm>
            <a:off x="4343400" y="2523744"/>
            <a:ext cx="3502152" cy="2615184"/>
          </a:xfrm>
          <a:prstGeom prst="roundRect">
            <a:avLst>
              <a:gd name="adj" fmla="val 2448"/>
            </a:avLst>
          </a:prstGeom>
          <a:solidFill>
            <a:srgbClr val="F8FAFC"/>
          </a:solidFill>
          <a:ln w="12700">
            <a:solidFill>
              <a:srgbClr val="E2E8F0"/>
            </a:solidFill>
            <a:prstDash val="solid"/>
          </a:ln>
        </p:spPr>
        <p:txBody>
          <a:bodyPr/>
          <a:lstStyle/>
          <a:p>
            <a:endParaRPr lang="ja-JP" altLang="en-US"/>
          </a:p>
        </p:txBody>
      </p:sp>
      <p:sp>
        <p:nvSpPr>
          <p:cNvPr id="14" name="Shape 12"/>
          <p:cNvSpPr/>
          <p:nvPr/>
        </p:nvSpPr>
        <p:spPr>
          <a:xfrm>
            <a:off x="4617720" y="2761488"/>
            <a:ext cx="310896" cy="310896"/>
          </a:xfrm>
          <a:prstGeom prst="ellipse">
            <a:avLst/>
          </a:prstGeom>
          <a:solidFill>
            <a:srgbClr val="D97706"/>
          </a:solidFill>
          <a:ln w="19050">
            <a:solidFill>
              <a:srgbClr val="D97706"/>
            </a:solidFill>
            <a:prstDash val="solid"/>
          </a:ln>
        </p:spPr>
        <p:txBody>
          <a:bodyPr/>
          <a:lstStyle/>
          <a:p>
            <a:endParaRPr lang="ja-JP" altLang="en-US"/>
          </a:p>
        </p:txBody>
      </p:sp>
      <p:sp>
        <p:nvSpPr>
          <p:cNvPr id="15" name="Text 13"/>
          <p:cNvSpPr txBox="1"/>
          <p:nvPr/>
        </p:nvSpPr>
        <p:spPr>
          <a:xfrm>
            <a:off x="4617720" y="2761488"/>
            <a:ext cx="310896" cy="310896"/>
          </a:xfrm>
          <a:prstGeom prst="rect">
            <a:avLst/>
          </a:prstGeom>
          <a:noFill/>
          <a:ln/>
        </p:spPr>
        <p:txBody>
          <a:bodyPr wrap="square" lIns="0" tIns="0" rIns="0" bIns="0" rtlCol="0" anchor="ctr"/>
          <a:lstStyle/>
          <a:p>
            <a:pPr marL="0" indent="0" algn="ctr">
              <a:buNone/>
            </a:pPr>
            <a:r>
              <a:rPr lang="ja-JP" altLang="en-US" sz="1250" b="1" dirty="0">
                <a:solidFill>
                  <a:srgbClr val="FFFFFF"/>
                </a:solidFill>
                <a:latin typeface="Arial" pitchFamily="34" charset="0"/>
                <a:ea typeface="Arial" pitchFamily="34" charset="-122"/>
                <a:cs typeface="Arial" pitchFamily="34" charset="-120"/>
              </a:rPr>
              <a:t>B</a:t>
            </a:r>
            <a:endParaRPr lang="ja-JP" sz="1250" dirty="0"/>
          </a:p>
        </p:txBody>
      </p:sp>
      <p:sp>
        <p:nvSpPr>
          <p:cNvPr id="16" name="Text 14"/>
          <p:cNvSpPr txBox="1"/>
          <p:nvPr/>
        </p:nvSpPr>
        <p:spPr>
          <a:xfrm>
            <a:off x="6793992" y="2788920"/>
            <a:ext cx="777240" cy="256032"/>
          </a:xfrm>
          <a:prstGeom prst="rect">
            <a:avLst/>
          </a:prstGeom>
          <a:noFill/>
          <a:ln/>
        </p:spPr>
        <p:txBody>
          <a:bodyPr wrap="square" lIns="0" tIns="0" rIns="0" bIns="0" rtlCol="0" anchor="ctr"/>
          <a:lstStyle/>
          <a:p>
            <a:pPr marL="0" indent="0" algn="r">
              <a:buNone/>
            </a:pPr>
            <a:r>
              <a:rPr lang="en-US" altLang="en-US" sz="1200" b="1" dirty="0">
                <a:solidFill>
                  <a:srgbClr val="B45309"/>
                </a:solidFill>
                <a:latin typeface="Arial" pitchFamily="34" charset="0"/>
                <a:ea typeface="Arial" pitchFamily="34" charset="-122"/>
                <a:cs typeface="Arial" pitchFamily="34" charset="-120"/>
              </a:rPr>
              <a:t>Minimize</a:t>
            </a:r>
            <a:endParaRPr lang="en-US" sz="1200" dirty="0"/>
          </a:p>
        </p:txBody>
      </p:sp>
      <p:sp>
        <p:nvSpPr>
          <p:cNvPr id="17" name="Text 15"/>
          <p:cNvSpPr txBox="1"/>
          <p:nvPr/>
        </p:nvSpPr>
        <p:spPr>
          <a:xfrm>
            <a:off x="4617720" y="3200400"/>
            <a:ext cx="2953512" cy="310896"/>
          </a:xfrm>
          <a:prstGeom prst="rect">
            <a:avLst/>
          </a:prstGeom>
          <a:noFill/>
          <a:ln/>
        </p:spPr>
        <p:txBody>
          <a:bodyPr wrap="square" lIns="0" tIns="0" rIns="0" bIns="0" rtlCol="0" anchor="ctr"/>
          <a:lstStyle/>
          <a:p>
            <a:pPr marL="0" indent="0" algn="l">
              <a:buNone/>
            </a:pPr>
            <a:r>
              <a:rPr lang="en-US" altLang="en-US" sz="1500" b="1" dirty="0">
                <a:solidFill>
                  <a:srgbClr val="0F172A"/>
                </a:solidFill>
                <a:latin typeface="Arial" pitchFamily="34" charset="0"/>
                <a:ea typeface="Arial" pitchFamily="34" charset="-122"/>
                <a:cs typeface="Arial" pitchFamily="34" charset="-120"/>
              </a:rPr>
              <a:t>Similar topics overlap at the same time</a:t>
            </a:r>
            <a:endParaRPr lang="en-US" sz="1500" dirty="0"/>
          </a:p>
        </p:txBody>
      </p:sp>
      <p:sp>
        <p:nvSpPr>
          <p:cNvPr id="18" name="Text 16"/>
          <p:cNvSpPr txBox="1"/>
          <p:nvPr/>
        </p:nvSpPr>
        <p:spPr>
          <a:xfrm>
            <a:off x="4617720" y="4736592"/>
            <a:ext cx="2953512" cy="274320"/>
          </a:xfrm>
          <a:prstGeom prst="rect">
            <a:avLst/>
          </a:prstGeom>
          <a:noFill/>
          <a:ln/>
        </p:spPr>
        <p:txBody>
          <a:bodyPr wrap="square" lIns="0" tIns="0" rIns="0" bIns="0" rtlCol="0" anchor="ctr"/>
          <a:lstStyle/>
          <a:p>
            <a:pPr marL="0" indent="0" algn="ctr">
              <a:buNone/>
            </a:pPr>
            <a:r>
              <a:rPr lang="en-US" altLang="en-US" sz="1200" dirty="0">
                <a:solidFill>
                  <a:srgbClr val="64748B"/>
                </a:solidFill>
                <a:latin typeface="Arial" pitchFamily="34" charset="0"/>
                <a:ea typeface="Arial" pitchFamily="34" charset="-122"/>
                <a:cs typeface="Arial" pitchFamily="34" charset="-120"/>
              </a:rPr>
              <a:t>B1: similar topics   B2: same topic</a:t>
            </a:r>
            <a:endParaRPr lang="en-US" sz="1200" dirty="0"/>
          </a:p>
        </p:txBody>
      </p:sp>
      <p:sp>
        <p:nvSpPr>
          <p:cNvPr id="19" name="Shape 17"/>
          <p:cNvSpPr/>
          <p:nvPr/>
        </p:nvSpPr>
        <p:spPr>
          <a:xfrm>
            <a:off x="8119872" y="2523744"/>
            <a:ext cx="3502152" cy="2615184"/>
          </a:xfrm>
          <a:prstGeom prst="roundRect">
            <a:avLst>
              <a:gd name="adj" fmla="val 2448"/>
            </a:avLst>
          </a:prstGeom>
          <a:solidFill>
            <a:srgbClr val="F8FAFC"/>
          </a:solidFill>
          <a:ln w="12700">
            <a:solidFill>
              <a:srgbClr val="E2E8F0"/>
            </a:solidFill>
            <a:prstDash val="solid"/>
          </a:ln>
        </p:spPr>
        <p:txBody>
          <a:bodyPr/>
          <a:lstStyle/>
          <a:p>
            <a:endParaRPr lang="ja-JP" altLang="en-US"/>
          </a:p>
        </p:txBody>
      </p:sp>
      <p:sp>
        <p:nvSpPr>
          <p:cNvPr id="20" name="Shape 18"/>
          <p:cNvSpPr/>
          <p:nvPr/>
        </p:nvSpPr>
        <p:spPr>
          <a:xfrm>
            <a:off x="8394192" y="2761488"/>
            <a:ext cx="310896" cy="310896"/>
          </a:xfrm>
          <a:prstGeom prst="ellipse">
            <a:avLst/>
          </a:prstGeom>
          <a:solidFill>
            <a:srgbClr val="059669"/>
          </a:solidFill>
          <a:ln w="19050">
            <a:solidFill>
              <a:srgbClr val="059669"/>
            </a:solidFill>
            <a:prstDash val="solid"/>
          </a:ln>
        </p:spPr>
        <p:txBody>
          <a:bodyPr/>
          <a:lstStyle/>
          <a:p>
            <a:endParaRPr lang="ja-JP" altLang="en-US"/>
          </a:p>
        </p:txBody>
      </p:sp>
      <p:sp>
        <p:nvSpPr>
          <p:cNvPr id="21" name="Text 19"/>
          <p:cNvSpPr txBox="1"/>
          <p:nvPr/>
        </p:nvSpPr>
        <p:spPr>
          <a:xfrm>
            <a:off x="8394192" y="2761488"/>
            <a:ext cx="310896" cy="310896"/>
          </a:xfrm>
          <a:prstGeom prst="rect">
            <a:avLst/>
          </a:prstGeom>
          <a:noFill/>
          <a:ln/>
        </p:spPr>
        <p:txBody>
          <a:bodyPr wrap="square" lIns="0" tIns="0" rIns="0" bIns="0" rtlCol="0" anchor="ctr"/>
          <a:lstStyle/>
          <a:p>
            <a:pPr marL="0" indent="0" algn="ctr">
              <a:buNone/>
            </a:pPr>
            <a:r>
              <a:rPr lang="ja-JP" altLang="en-US" sz="1250" b="1" dirty="0">
                <a:solidFill>
                  <a:srgbClr val="FFFFFF"/>
                </a:solidFill>
                <a:latin typeface="Arial" pitchFamily="34" charset="0"/>
                <a:ea typeface="Arial" pitchFamily="34" charset="-122"/>
                <a:cs typeface="Arial" pitchFamily="34" charset="-120"/>
              </a:rPr>
              <a:t>C</a:t>
            </a:r>
            <a:endParaRPr lang="ja-JP" sz="1250" dirty="0"/>
          </a:p>
        </p:txBody>
      </p:sp>
      <p:sp>
        <p:nvSpPr>
          <p:cNvPr id="22" name="Text 20"/>
          <p:cNvSpPr txBox="1"/>
          <p:nvPr/>
        </p:nvSpPr>
        <p:spPr>
          <a:xfrm>
            <a:off x="10570464" y="2788920"/>
            <a:ext cx="777240" cy="256032"/>
          </a:xfrm>
          <a:prstGeom prst="rect">
            <a:avLst/>
          </a:prstGeom>
          <a:noFill/>
          <a:ln/>
        </p:spPr>
        <p:txBody>
          <a:bodyPr wrap="square" lIns="0" tIns="0" rIns="0" bIns="0" rtlCol="0" anchor="ctr"/>
          <a:lstStyle/>
          <a:p>
            <a:pPr marL="0" indent="0" algn="r">
              <a:buNone/>
            </a:pPr>
            <a:r>
              <a:rPr lang="en-US" altLang="en-US" sz="1200" b="1" dirty="0">
                <a:solidFill>
                  <a:srgbClr val="047857"/>
                </a:solidFill>
                <a:latin typeface="Arial" pitchFamily="34" charset="0"/>
                <a:ea typeface="Arial" pitchFamily="34" charset="-122"/>
                <a:cs typeface="Arial" pitchFamily="34" charset="-120"/>
              </a:rPr>
              <a:t>Minimize</a:t>
            </a:r>
            <a:endParaRPr lang="en-US" sz="1200" dirty="0"/>
          </a:p>
        </p:txBody>
      </p:sp>
      <p:sp>
        <p:nvSpPr>
          <p:cNvPr id="23" name="Text 21"/>
          <p:cNvSpPr txBox="1"/>
          <p:nvPr/>
        </p:nvSpPr>
        <p:spPr>
          <a:xfrm>
            <a:off x="8394192" y="3200400"/>
            <a:ext cx="2953512" cy="310896"/>
          </a:xfrm>
          <a:prstGeom prst="rect">
            <a:avLst/>
          </a:prstGeom>
          <a:noFill/>
          <a:ln/>
        </p:spPr>
        <p:txBody>
          <a:bodyPr wrap="square" lIns="0" tIns="0" rIns="0" bIns="0" rtlCol="0" anchor="ctr"/>
          <a:lstStyle/>
          <a:p>
            <a:pPr marL="0" indent="0" algn="l">
              <a:buNone/>
            </a:pPr>
            <a:r>
              <a:rPr lang="en-US" altLang="en-US" sz="1500" b="1" dirty="0">
                <a:solidFill>
                  <a:srgbClr val="0F172A"/>
                </a:solidFill>
                <a:latin typeface="Arial" pitchFamily="34" charset="0"/>
                <a:ea typeface="Arial" pitchFamily="34" charset="-122"/>
                <a:cs typeface="Arial" pitchFamily="34" charset="-120"/>
              </a:rPr>
              <a:t>Empty seats (capacity − attendees)</a:t>
            </a:r>
            <a:endParaRPr lang="en-US" sz="1500" dirty="0"/>
          </a:p>
        </p:txBody>
      </p:sp>
      <p:sp>
        <p:nvSpPr>
          <p:cNvPr id="24" name="Text 22"/>
          <p:cNvSpPr txBox="1"/>
          <p:nvPr/>
        </p:nvSpPr>
        <p:spPr>
          <a:xfrm>
            <a:off x="8394192" y="4736592"/>
            <a:ext cx="2953512" cy="274320"/>
          </a:xfrm>
          <a:prstGeom prst="rect">
            <a:avLst/>
          </a:prstGeom>
          <a:noFill/>
          <a:ln/>
        </p:spPr>
        <p:txBody>
          <a:bodyPr wrap="square" lIns="0" tIns="0" rIns="0" bIns="0" rtlCol="0" anchor="ctr"/>
          <a:lstStyle/>
          <a:p>
            <a:pPr marL="0" indent="0" algn="ctr">
              <a:buNone/>
            </a:pPr>
            <a:r>
              <a:rPr lang="en-US" altLang="en-US" sz="1200" dirty="0">
                <a:solidFill>
                  <a:srgbClr val="64748B"/>
                </a:solidFill>
                <a:latin typeface="Arial" pitchFamily="34" charset="0"/>
                <a:ea typeface="Arial" pitchFamily="34" charset="-122"/>
                <a:cs typeface="Arial" pitchFamily="34" charset="-120"/>
              </a:rPr>
              <a:t>Match room size to audience size</a:t>
            </a:r>
            <a:endParaRPr lang="en-US" sz="1200" dirty="0"/>
          </a:p>
        </p:txBody>
      </p:sp>
      <p:sp>
        <p:nvSpPr>
          <p:cNvPr id="25" name="Text 23"/>
          <p:cNvSpPr txBox="1"/>
          <p:nvPr/>
        </p:nvSpPr>
        <p:spPr>
          <a:xfrm>
            <a:off x="1051560" y="3931920"/>
            <a:ext cx="457200" cy="365760"/>
          </a:xfrm>
          <a:prstGeom prst="rect">
            <a:avLst/>
          </a:prstGeom>
          <a:noFill/>
          <a:ln/>
        </p:spPr>
        <p:txBody>
          <a:bodyPr wrap="square" lIns="0" tIns="0" rIns="0" bIns="0" rtlCol="0" anchor="ctr"/>
          <a:lstStyle/>
          <a:p>
            <a:pPr marL="0" indent="0" algn="l">
              <a:buNone/>
            </a:pPr>
            <a:r>
              <a:rPr lang="en-US" altLang="en-US" sz="1000" dirty="0">
                <a:solidFill>
                  <a:srgbClr val="64748B"/>
                </a:solidFill>
                <a:latin typeface="Arial" pitchFamily="34" charset="0"/>
                <a:ea typeface="Arial" pitchFamily="34" charset="-122"/>
                <a:cs typeface="Arial" pitchFamily="34" charset="-120"/>
              </a:rPr>
              <a:t>Room</a:t>
            </a:r>
            <a:endParaRPr lang="en-US" sz="1000" dirty="0"/>
          </a:p>
        </p:txBody>
      </p:sp>
      <p:sp>
        <p:nvSpPr>
          <p:cNvPr id="26" name="Shape 24"/>
          <p:cNvSpPr/>
          <p:nvPr/>
        </p:nvSpPr>
        <p:spPr>
          <a:xfrm>
            <a:off x="1545336" y="3950208"/>
            <a:ext cx="512064" cy="329184"/>
          </a:xfrm>
          <a:prstGeom prst="rect">
            <a:avLst/>
          </a:prstGeom>
          <a:solidFill>
            <a:srgbClr val="0284C7"/>
          </a:solidFill>
          <a:ln w="9525">
            <a:solidFill>
              <a:srgbClr val="0284C7"/>
            </a:solidFill>
            <a:prstDash val="solid"/>
          </a:ln>
        </p:spPr>
        <p:txBody>
          <a:bodyPr/>
          <a:lstStyle/>
          <a:p>
            <a:endParaRPr lang="ja-JP" altLang="en-US"/>
          </a:p>
        </p:txBody>
      </p:sp>
      <p:sp>
        <p:nvSpPr>
          <p:cNvPr id="27" name="Shape 25"/>
          <p:cNvSpPr/>
          <p:nvPr/>
        </p:nvSpPr>
        <p:spPr>
          <a:xfrm>
            <a:off x="2130552" y="3950208"/>
            <a:ext cx="512064" cy="329184"/>
          </a:xfrm>
          <a:prstGeom prst="rect">
            <a:avLst/>
          </a:prstGeom>
          <a:solidFill>
            <a:srgbClr val="0284C7"/>
          </a:solidFill>
          <a:ln w="9525">
            <a:solidFill>
              <a:srgbClr val="0284C7"/>
            </a:solidFill>
            <a:prstDash val="solid"/>
          </a:ln>
        </p:spPr>
        <p:txBody>
          <a:bodyPr/>
          <a:lstStyle/>
          <a:p>
            <a:endParaRPr lang="ja-JP" altLang="en-US"/>
          </a:p>
        </p:txBody>
      </p:sp>
      <p:sp>
        <p:nvSpPr>
          <p:cNvPr id="28" name="Shape 26"/>
          <p:cNvSpPr/>
          <p:nvPr/>
        </p:nvSpPr>
        <p:spPr>
          <a:xfrm>
            <a:off x="2715768" y="3950208"/>
            <a:ext cx="512064" cy="329184"/>
          </a:xfrm>
          <a:prstGeom prst="rect">
            <a:avLst/>
          </a:prstGeom>
          <a:solidFill>
            <a:srgbClr val="0284C7"/>
          </a:solidFill>
          <a:ln w="9525">
            <a:solidFill>
              <a:srgbClr val="0284C7"/>
            </a:solidFill>
            <a:prstDash val="solid"/>
          </a:ln>
        </p:spPr>
        <p:txBody>
          <a:bodyPr/>
          <a:lstStyle/>
          <a:p>
            <a:endParaRPr lang="ja-JP" altLang="en-US"/>
          </a:p>
        </p:txBody>
      </p:sp>
      <p:sp>
        <p:nvSpPr>
          <p:cNvPr id="29" name="Shape 27"/>
          <p:cNvSpPr/>
          <p:nvPr/>
        </p:nvSpPr>
        <p:spPr>
          <a:xfrm>
            <a:off x="3300984" y="3950208"/>
            <a:ext cx="512064" cy="329184"/>
          </a:xfrm>
          <a:prstGeom prst="rect">
            <a:avLst/>
          </a:prstGeom>
          <a:solidFill>
            <a:srgbClr val="D97706"/>
          </a:solidFill>
          <a:ln w="9525">
            <a:solidFill>
              <a:srgbClr val="D97706"/>
            </a:solidFill>
            <a:prstDash val="solid"/>
          </a:ln>
        </p:spPr>
        <p:txBody>
          <a:bodyPr/>
          <a:lstStyle/>
          <a:p>
            <a:endParaRPr lang="ja-JP" altLang="en-US"/>
          </a:p>
        </p:txBody>
      </p:sp>
      <p:sp>
        <p:nvSpPr>
          <p:cNvPr id="30" name="Text 28"/>
          <p:cNvSpPr txBox="1"/>
          <p:nvPr/>
        </p:nvSpPr>
        <p:spPr>
          <a:xfrm>
            <a:off x="1965960" y="3621024"/>
            <a:ext cx="329184" cy="256032"/>
          </a:xfrm>
          <a:prstGeom prst="rect">
            <a:avLst/>
          </a:prstGeom>
          <a:noFill/>
          <a:ln/>
        </p:spPr>
        <p:txBody>
          <a:bodyPr wrap="square" lIns="0" tIns="0" rIns="0" bIns="0" rtlCol="0" anchor="ctr"/>
          <a:lstStyle/>
          <a:p>
            <a:pPr marL="0" indent="0" algn="ctr">
              <a:buNone/>
            </a:pPr>
            <a:r>
              <a:rPr lang="ja-JP" altLang="en-US" sz="1200" b="1" dirty="0">
                <a:solidFill>
                  <a:srgbClr val="0369A1"/>
                </a:solidFill>
                <a:latin typeface="Arial" pitchFamily="34" charset="0"/>
                <a:ea typeface="Arial" pitchFamily="34" charset="-122"/>
                <a:cs typeface="Arial" pitchFamily="34" charset="-120"/>
              </a:rPr>
              <a:t>+1</a:t>
            </a:r>
            <a:endParaRPr lang="ja-JP" sz="1200" dirty="0"/>
          </a:p>
        </p:txBody>
      </p:sp>
      <p:sp>
        <p:nvSpPr>
          <p:cNvPr id="31" name="Text 29"/>
          <p:cNvSpPr txBox="1"/>
          <p:nvPr/>
        </p:nvSpPr>
        <p:spPr>
          <a:xfrm>
            <a:off x="2551176" y="3621024"/>
            <a:ext cx="329184" cy="256032"/>
          </a:xfrm>
          <a:prstGeom prst="rect">
            <a:avLst/>
          </a:prstGeom>
          <a:noFill/>
          <a:ln/>
        </p:spPr>
        <p:txBody>
          <a:bodyPr wrap="square" lIns="0" tIns="0" rIns="0" bIns="0" rtlCol="0" anchor="ctr"/>
          <a:lstStyle/>
          <a:p>
            <a:pPr marL="0" indent="0" algn="ctr">
              <a:buNone/>
            </a:pPr>
            <a:r>
              <a:rPr lang="ja-JP" altLang="en-US" sz="1200" b="1" dirty="0">
                <a:solidFill>
                  <a:srgbClr val="0369A1"/>
                </a:solidFill>
                <a:latin typeface="Arial" pitchFamily="34" charset="0"/>
                <a:ea typeface="Arial" pitchFamily="34" charset="-122"/>
                <a:cs typeface="Arial" pitchFamily="34" charset="-120"/>
              </a:rPr>
              <a:t>+1</a:t>
            </a:r>
            <a:endParaRPr lang="ja-JP" sz="1200" dirty="0"/>
          </a:p>
        </p:txBody>
      </p:sp>
      <p:sp>
        <p:nvSpPr>
          <p:cNvPr id="32" name="Text 30"/>
          <p:cNvSpPr txBox="1"/>
          <p:nvPr/>
        </p:nvSpPr>
        <p:spPr>
          <a:xfrm>
            <a:off x="1545336" y="4334256"/>
            <a:ext cx="2286000" cy="219456"/>
          </a:xfrm>
          <a:prstGeom prst="rect">
            <a:avLst/>
          </a:prstGeom>
          <a:noFill/>
          <a:ln/>
        </p:spPr>
        <p:txBody>
          <a:bodyPr wrap="square" lIns="0" tIns="0" rIns="0" bIns="0" rtlCol="0" anchor="ctr"/>
          <a:lstStyle/>
          <a:p>
            <a:pPr marL="0" indent="0" algn="l">
              <a:buNone/>
            </a:pPr>
            <a:r>
              <a:rPr lang="en-US" altLang="en-US" sz="950" dirty="0">
                <a:solidFill>
                  <a:srgbClr val="64748B"/>
                </a:solidFill>
                <a:latin typeface="Arial" pitchFamily="34" charset="0"/>
                <a:ea typeface="Arial" pitchFamily="34" charset="-122"/>
                <a:cs typeface="Arial" pitchFamily="34" charset="-120"/>
              </a:rPr>
              <a:t>Slot →</a:t>
            </a:r>
            <a:endParaRPr lang="en-US" sz="950" dirty="0"/>
          </a:p>
        </p:txBody>
      </p:sp>
      <p:sp>
        <p:nvSpPr>
          <p:cNvPr id="33" name="Text 31"/>
          <p:cNvSpPr txBox="1"/>
          <p:nvPr/>
        </p:nvSpPr>
        <p:spPr>
          <a:xfrm>
            <a:off x="4910328" y="3639312"/>
            <a:ext cx="1005840" cy="219456"/>
          </a:xfrm>
          <a:prstGeom prst="rect">
            <a:avLst/>
          </a:prstGeom>
          <a:noFill/>
          <a:ln/>
        </p:spPr>
        <p:txBody>
          <a:bodyPr wrap="square" lIns="0" tIns="0" rIns="0" bIns="0" rtlCol="0" anchor="ctr"/>
          <a:lstStyle/>
          <a:p>
            <a:pPr marL="0" indent="0" algn="ctr">
              <a:buNone/>
            </a:pPr>
            <a:r>
              <a:rPr lang="ja-JP" altLang="en-US" sz="1100" b="1" dirty="0">
                <a:solidFill>
                  <a:srgbClr val="B45309"/>
                </a:solidFill>
                <a:latin typeface="Arial" pitchFamily="34" charset="0"/>
                <a:ea typeface="Arial" pitchFamily="34" charset="-122"/>
                <a:cs typeface="Arial" pitchFamily="34" charset="-120"/>
              </a:rPr>
              <a:t>B1</a:t>
            </a:r>
            <a:endParaRPr lang="ja-JP" sz="1100" dirty="0"/>
          </a:p>
        </p:txBody>
      </p:sp>
      <p:sp>
        <p:nvSpPr>
          <p:cNvPr id="34" name="Shape 32"/>
          <p:cNvSpPr/>
          <p:nvPr/>
        </p:nvSpPr>
        <p:spPr>
          <a:xfrm>
            <a:off x="5138928" y="3895344"/>
            <a:ext cx="548640" cy="256032"/>
          </a:xfrm>
          <a:prstGeom prst="rect">
            <a:avLst/>
          </a:prstGeom>
          <a:solidFill>
            <a:srgbClr val="7C3AED"/>
          </a:solidFill>
          <a:ln w="9525">
            <a:solidFill>
              <a:srgbClr val="7C3AED"/>
            </a:solidFill>
            <a:prstDash val="solid"/>
          </a:ln>
        </p:spPr>
        <p:txBody>
          <a:bodyPr/>
          <a:lstStyle/>
          <a:p>
            <a:endParaRPr lang="ja-JP" altLang="en-US"/>
          </a:p>
        </p:txBody>
      </p:sp>
      <p:sp>
        <p:nvSpPr>
          <p:cNvPr id="35" name="Shape 33"/>
          <p:cNvSpPr/>
          <p:nvPr/>
        </p:nvSpPr>
        <p:spPr>
          <a:xfrm>
            <a:off x="5138928" y="4206240"/>
            <a:ext cx="548640" cy="256032"/>
          </a:xfrm>
          <a:prstGeom prst="rect">
            <a:avLst/>
          </a:prstGeom>
          <a:solidFill>
            <a:srgbClr val="0284C7"/>
          </a:solidFill>
          <a:ln w="9525">
            <a:solidFill>
              <a:srgbClr val="0284C7"/>
            </a:solidFill>
            <a:prstDash val="solid"/>
          </a:ln>
        </p:spPr>
        <p:txBody>
          <a:bodyPr/>
          <a:lstStyle/>
          <a:p>
            <a:endParaRPr lang="ja-JP" altLang="en-US"/>
          </a:p>
        </p:txBody>
      </p:sp>
      <p:sp>
        <p:nvSpPr>
          <p:cNvPr id="36" name="Text 34"/>
          <p:cNvSpPr txBox="1"/>
          <p:nvPr/>
        </p:nvSpPr>
        <p:spPr>
          <a:xfrm>
            <a:off x="4910328" y="4498848"/>
            <a:ext cx="1005840" cy="237744"/>
          </a:xfrm>
          <a:prstGeom prst="rect">
            <a:avLst/>
          </a:prstGeom>
          <a:noFill/>
          <a:ln/>
        </p:spPr>
        <p:txBody>
          <a:bodyPr wrap="square" lIns="0" tIns="0" rIns="0" bIns="0" rtlCol="0" anchor="ctr"/>
          <a:lstStyle/>
          <a:p>
            <a:pPr marL="0" indent="0" algn="ctr">
              <a:buNone/>
            </a:pPr>
            <a:r>
              <a:rPr lang="ja-JP" altLang="en-US" sz="1200" b="1">
                <a:solidFill>
                  <a:srgbClr val="B45309"/>
                </a:solidFill>
                <a:latin typeface="Arial" pitchFamily="34" charset="0"/>
                <a:ea typeface="Arial" pitchFamily="34" charset="-122"/>
                <a:cs typeface="Arial" pitchFamily="34" charset="-120"/>
              </a:rPr>
              <a:t>+ Level</a:t>
            </a:r>
            <a:endParaRPr lang="ja-JP" sz="1200" dirty="0"/>
          </a:p>
        </p:txBody>
      </p:sp>
      <p:sp>
        <p:nvSpPr>
          <p:cNvPr id="37" name="Text 35"/>
          <p:cNvSpPr txBox="1"/>
          <p:nvPr/>
        </p:nvSpPr>
        <p:spPr>
          <a:xfrm>
            <a:off x="6327648" y="3639312"/>
            <a:ext cx="1005840" cy="219456"/>
          </a:xfrm>
          <a:prstGeom prst="rect">
            <a:avLst/>
          </a:prstGeom>
          <a:noFill/>
          <a:ln/>
        </p:spPr>
        <p:txBody>
          <a:bodyPr wrap="square" lIns="0" tIns="0" rIns="0" bIns="0" rtlCol="0" anchor="ctr"/>
          <a:lstStyle/>
          <a:p>
            <a:pPr marL="0" indent="0" algn="ctr">
              <a:buNone/>
            </a:pPr>
            <a:r>
              <a:rPr lang="ja-JP" altLang="en-US" sz="1100" b="1" dirty="0">
                <a:solidFill>
                  <a:srgbClr val="B45309"/>
                </a:solidFill>
                <a:latin typeface="Arial" pitchFamily="34" charset="0"/>
                <a:ea typeface="Arial" pitchFamily="34" charset="-122"/>
                <a:cs typeface="Arial" pitchFamily="34" charset="-120"/>
              </a:rPr>
              <a:t>B2</a:t>
            </a:r>
            <a:endParaRPr lang="ja-JP" sz="1100" dirty="0"/>
          </a:p>
        </p:txBody>
      </p:sp>
      <p:sp>
        <p:nvSpPr>
          <p:cNvPr id="38" name="Shape 36"/>
          <p:cNvSpPr/>
          <p:nvPr/>
        </p:nvSpPr>
        <p:spPr>
          <a:xfrm>
            <a:off x="6556248" y="3895344"/>
            <a:ext cx="548640" cy="256032"/>
          </a:xfrm>
          <a:prstGeom prst="rect">
            <a:avLst/>
          </a:prstGeom>
          <a:solidFill>
            <a:srgbClr val="0284C7"/>
          </a:solidFill>
          <a:ln w="9525">
            <a:solidFill>
              <a:srgbClr val="0284C7"/>
            </a:solidFill>
            <a:prstDash val="solid"/>
          </a:ln>
        </p:spPr>
        <p:txBody>
          <a:bodyPr/>
          <a:lstStyle/>
          <a:p>
            <a:endParaRPr lang="ja-JP" altLang="en-US"/>
          </a:p>
        </p:txBody>
      </p:sp>
      <p:sp>
        <p:nvSpPr>
          <p:cNvPr id="39" name="Shape 37"/>
          <p:cNvSpPr/>
          <p:nvPr/>
        </p:nvSpPr>
        <p:spPr>
          <a:xfrm>
            <a:off x="6556248" y="4206240"/>
            <a:ext cx="548640" cy="256032"/>
          </a:xfrm>
          <a:prstGeom prst="rect">
            <a:avLst/>
          </a:prstGeom>
          <a:solidFill>
            <a:srgbClr val="0284C7"/>
          </a:solidFill>
          <a:ln w="9525">
            <a:solidFill>
              <a:srgbClr val="0284C7"/>
            </a:solidFill>
            <a:prstDash val="solid"/>
          </a:ln>
        </p:spPr>
        <p:txBody>
          <a:bodyPr/>
          <a:lstStyle/>
          <a:p>
            <a:endParaRPr lang="ja-JP" altLang="en-US"/>
          </a:p>
        </p:txBody>
      </p:sp>
      <p:sp>
        <p:nvSpPr>
          <p:cNvPr id="40" name="Text 38"/>
          <p:cNvSpPr txBox="1"/>
          <p:nvPr/>
        </p:nvSpPr>
        <p:spPr>
          <a:xfrm>
            <a:off x="6327648" y="4498848"/>
            <a:ext cx="1005840" cy="237744"/>
          </a:xfrm>
          <a:prstGeom prst="rect">
            <a:avLst/>
          </a:prstGeom>
          <a:noFill/>
          <a:ln/>
        </p:spPr>
        <p:txBody>
          <a:bodyPr wrap="square" lIns="0" tIns="0" rIns="0" bIns="0" rtlCol="0" anchor="ctr"/>
          <a:lstStyle/>
          <a:p>
            <a:pPr marL="0" indent="0" algn="ctr">
              <a:buNone/>
            </a:pPr>
            <a:r>
              <a:rPr lang="ja-JP" altLang="en-US" sz="1200" b="1">
                <a:solidFill>
                  <a:srgbClr val="B45309"/>
                </a:solidFill>
                <a:latin typeface="Arial" pitchFamily="34" charset="0"/>
                <a:ea typeface="Arial" pitchFamily="34" charset="-122"/>
                <a:cs typeface="Arial" pitchFamily="34" charset="-120"/>
              </a:rPr>
              <a:t>+ 3</a:t>
            </a:r>
            <a:endParaRPr lang="ja-JP" sz="1200" dirty="0"/>
          </a:p>
        </p:txBody>
      </p:sp>
      <p:sp>
        <p:nvSpPr>
          <p:cNvPr id="41" name="Text 39"/>
          <p:cNvSpPr txBox="1"/>
          <p:nvPr/>
        </p:nvSpPr>
        <p:spPr>
          <a:xfrm>
            <a:off x="5568696" y="4041648"/>
            <a:ext cx="1152144" cy="219456"/>
          </a:xfrm>
          <a:prstGeom prst="rect">
            <a:avLst/>
          </a:prstGeom>
          <a:noFill/>
          <a:ln/>
        </p:spPr>
        <p:txBody>
          <a:bodyPr wrap="square" lIns="0" tIns="0" rIns="0" bIns="0" rtlCol="0" anchor="ctr"/>
          <a:lstStyle/>
          <a:p>
            <a:pPr marL="0" indent="0" algn="ctr">
              <a:buNone/>
            </a:pPr>
            <a:r>
              <a:rPr lang="en-US" altLang="en-US" sz="950" dirty="0">
                <a:solidFill>
                  <a:srgbClr val="64748B"/>
                </a:solidFill>
                <a:latin typeface="Arial" pitchFamily="34" charset="0"/>
                <a:ea typeface="Arial" pitchFamily="34" charset="-122"/>
                <a:cs typeface="Arial" pitchFamily="34" charset="-120"/>
              </a:rPr>
              <a:t>Same slot</a:t>
            </a:r>
            <a:endParaRPr lang="en-US" sz="950" dirty="0"/>
          </a:p>
        </p:txBody>
      </p:sp>
      <p:sp>
        <p:nvSpPr>
          <p:cNvPr id="42" name="Shape 40"/>
          <p:cNvSpPr/>
          <p:nvPr/>
        </p:nvSpPr>
        <p:spPr>
          <a:xfrm>
            <a:off x="8485632" y="3840480"/>
            <a:ext cx="1645920" cy="420624"/>
          </a:xfrm>
          <a:prstGeom prst="rect">
            <a:avLst/>
          </a:prstGeom>
          <a:solidFill>
            <a:srgbClr val="059669"/>
          </a:solidFill>
          <a:ln w="9525">
            <a:solidFill>
              <a:srgbClr val="059669"/>
            </a:solidFill>
            <a:prstDash val="solid"/>
          </a:ln>
        </p:spPr>
        <p:txBody>
          <a:bodyPr/>
          <a:lstStyle/>
          <a:p>
            <a:endParaRPr lang="ja-JP" altLang="en-US"/>
          </a:p>
        </p:txBody>
      </p:sp>
      <p:sp>
        <p:nvSpPr>
          <p:cNvPr id="43" name="Shape 41"/>
          <p:cNvSpPr/>
          <p:nvPr/>
        </p:nvSpPr>
        <p:spPr>
          <a:xfrm>
            <a:off x="10131552" y="3840480"/>
            <a:ext cx="1097280" cy="420624"/>
          </a:xfrm>
          <a:prstGeom prst="rect">
            <a:avLst/>
          </a:prstGeom>
          <a:solidFill>
            <a:srgbClr val="FFFFFF"/>
          </a:solidFill>
          <a:ln w="9525">
            <a:solidFill>
              <a:srgbClr val="94A3B8"/>
            </a:solidFill>
            <a:prstDash val="dash"/>
          </a:ln>
        </p:spPr>
        <p:txBody>
          <a:bodyPr/>
          <a:lstStyle/>
          <a:p>
            <a:endParaRPr lang="ja-JP" altLang="en-US"/>
          </a:p>
        </p:txBody>
      </p:sp>
      <p:sp>
        <p:nvSpPr>
          <p:cNvPr id="44" name="Text 42"/>
          <p:cNvSpPr txBox="1"/>
          <p:nvPr/>
        </p:nvSpPr>
        <p:spPr>
          <a:xfrm>
            <a:off x="8485632" y="3840480"/>
            <a:ext cx="1645920" cy="420624"/>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Arial" pitchFamily="34" charset="0"/>
                <a:ea typeface="Arial" pitchFamily="34" charset="-122"/>
                <a:cs typeface="Arial" pitchFamily="34" charset="-120"/>
              </a:rPr>
              <a:t>Attendees 60</a:t>
            </a:r>
            <a:endParaRPr lang="en-US" sz="1200" dirty="0"/>
          </a:p>
        </p:txBody>
      </p:sp>
      <p:sp>
        <p:nvSpPr>
          <p:cNvPr id="45" name="Text 43"/>
          <p:cNvSpPr txBox="1"/>
          <p:nvPr/>
        </p:nvSpPr>
        <p:spPr>
          <a:xfrm>
            <a:off x="10131552" y="3840480"/>
            <a:ext cx="1097280" cy="420624"/>
          </a:xfrm>
          <a:prstGeom prst="rect">
            <a:avLst/>
          </a:prstGeom>
          <a:noFill/>
          <a:ln/>
        </p:spPr>
        <p:txBody>
          <a:bodyPr wrap="square" lIns="0" tIns="0" rIns="0" bIns="0" rtlCol="0" anchor="ctr"/>
          <a:lstStyle/>
          <a:p>
            <a:pPr marL="0" indent="0" algn="ctr">
              <a:buNone/>
            </a:pPr>
            <a:r>
              <a:rPr lang="en-US" altLang="en-US" sz="1200" b="1" dirty="0">
                <a:solidFill>
                  <a:srgbClr val="475569"/>
                </a:solidFill>
                <a:latin typeface="Arial" pitchFamily="34" charset="0"/>
                <a:ea typeface="Arial" pitchFamily="34" charset="-122"/>
                <a:cs typeface="Arial" pitchFamily="34" charset="-120"/>
              </a:rPr>
              <a:t>Empty 40</a:t>
            </a:r>
            <a:endParaRPr lang="en-US" sz="1200" dirty="0"/>
          </a:p>
        </p:txBody>
      </p:sp>
      <p:sp>
        <p:nvSpPr>
          <p:cNvPr id="46" name="Text 44"/>
          <p:cNvSpPr txBox="1"/>
          <p:nvPr/>
        </p:nvSpPr>
        <p:spPr>
          <a:xfrm>
            <a:off x="8485632" y="4315968"/>
            <a:ext cx="2743200" cy="237744"/>
          </a:xfrm>
          <a:prstGeom prst="rect">
            <a:avLst/>
          </a:prstGeom>
          <a:noFill/>
          <a:ln/>
        </p:spPr>
        <p:txBody>
          <a:bodyPr wrap="square" lIns="0" tIns="0" rIns="0" bIns="0" rtlCol="0" anchor="ctr"/>
          <a:lstStyle/>
          <a:p>
            <a:pPr marL="0" indent="0" algn="ctr">
              <a:buNone/>
            </a:pPr>
            <a:r>
              <a:rPr lang="en-US" altLang="en-US" sz="1000" dirty="0">
                <a:solidFill>
                  <a:srgbClr val="64748B"/>
                </a:solidFill>
                <a:latin typeface="Arial" pitchFamily="34" charset="0"/>
                <a:ea typeface="Arial" pitchFamily="34" charset="-122"/>
                <a:cs typeface="Arial" pitchFamily="34" charset="-120"/>
              </a:rPr>
              <a:t>Room with capacity 100</a:t>
            </a:r>
            <a:endParaRPr lang="en-US" sz="1000" dirty="0"/>
          </a:p>
        </p:txBody>
      </p:sp>
      <p:sp>
        <p:nvSpPr>
          <p:cNvPr id="47" name="Shape 45"/>
          <p:cNvSpPr/>
          <p:nvPr/>
        </p:nvSpPr>
        <p:spPr>
          <a:xfrm>
            <a:off x="566928" y="5257800"/>
            <a:ext cx="11055096" cy="411480"/>
          </a:xfrm>
          <a:prstGeom prst="roundRect">
            <a:avLst>
              <a:gd name="adj" fmla="val 8750"/>
            </a:avLst>
          </a:prstGeom>
          <a:solidFill>
            <a:srgbClr val="E0F2FE"/>
          </a:solidFill>
          <a:ln w="12700">
            <a:solidFill>
              <a:srgbClr val="BAE6FD"/>
            </a:solidFill>
            <a:prstDash val="solid"/>
          </a:ln>
        </p:spPr>
        <p:txBody>
          <a:bodyPr/>
          <a:lstStyle/>
          <a:p>
            <a:endParaRPr lang="ja-JP" altLang="en-US"/>
          </a:p>
        </p:txBody>
      </p:sp>
      <p:sp>
        <p:nvSpPr>
          <p:cNvPr id="48" name="Text 46"/>
          <p:cNvSpPr txBox="1"/>
          <p:nvPr/>
        </p:nvSpPr>
        <p:spPr>
          <a:xfrm>
            <a:off x="950976" y="5257800"/>
            <a:ext cx="10332720" cy="411480"/>
          </a:xfrm>
          <a:prstGeom prst="rect">
            <a:avLst/>
          </a:prstGeom>
          <a:noFill/>
          <a:ln/>
        </p:spPr>
        <p:txBody>
          <a:bodyPr wrap="square" lIns="0" tIns="0" rIns="0" bIns="0" rtlCol="0" anchor="ctr"/>
          <a:lstStyle/>
          <a:p>
            <a:pPr marL="0" indent="0" algn="l">
              <a:spcAft>
                <a:spcPts val="200"/>
              </a:spcAft>
              <a:buNone/>
            </a:pPr>
            <a:r>
              <a:rPr lang="en-US" altLang="en-US" sz="1300" b="1" dirty="0">
                <a:solidFill>
                  <a:srgbClr val="0C4A6E"/>
                </a:solidFill>
                <a:latin typeface="Arial" pitchFamily="34" charset="0"/>
                <a:ea typeface="Arial" pitchFamily="34" charset="-122"/>
                <a:cs typeface="Arial" pitchFamily="34" charset="-120"/>
              </a:rPr>
              <a:t>w: how important each point is (0–10, set in the app)      N: puts A, B, C on the same scale</a:t>
            </a:r>
            <a:endParaRPr lang="en-US" sz="1300" dirty="0"/>
          </a:p>
        </p:txBody>
      </p:sp>
      <p:sp>
        <p:nvSpPr>
          <p:cNvPr id="49" name="Rounded Rectangle 48"/>
          <p:cNvSpPr/>
          <p:nvPr/>
        </p:nvSpPr>
        <p:spPr>
          <a:xfrm>
            <a:off x="566928" y="5760720"/>
            <a:ext cx="11055096" cy="502920"/>
          </a:xfrm>
          <a:prstGeom prst="roundRect">
            <a:avLst>
              <a:gd name="adj" fmla="val 8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66928" y="5760720"/>
            <a:ext cx="11055096" cy="502920"/>
          </a:xfrm>
          <a:prstGeom prst="rect">
            <a:avLst/>
          </a:prstGeom>
          <a:noFill/>
        </p:spPr>
        <p:txBody>
          <a:bodyPr wrap="square" lIns="45720" tIns="22860" rIns="45720" bIns="22860" anchor="ctr">
            <a:spAutoFit/>
          </a:bodyPr>
          <a:lstStyle/>
          <a:p>
            <a:pPr algn="ctr"/>
            <a:r>
              <a:rPr sz="1600" b="1" i="0">
                <a:solidFill>
                  <a:srgbClr val="B45309"/>
                </a:solidFill>
                <a:latin typeface="Arial"/>
              </a:rPr>
              <a:t>Limitation: all talks must be about the same length (1 talk = 1 time slot)</a:t>
            </a:r>
          </a:p>
        </p:txBody>
      </p:sp>
      <p:sp>
        <p:nvSpPr>
          <p:cNvPr id="51" name="TextBox 50"/>
          <p:cNvSpPr txBox="1"/>
          <p:nvPr/>
        </p:nvSpPr>
        <p:spPr>
          <a:xfrm>
            <a:off x="566928" y="6309360"/>
            <a:ext cx="6400800" cy="274320"/>
          </a:xfrm>
          <a:prstGeom prst="rect">
            <a:avLst/>
          </a:prstGeom>
          <a:noFill/>
        </p:spPr>
        <p:txBody>
          <a:bodyPr wrap="square" lIns="45720" tIns="22860" rIns="45720" bIns="22860">
            <a:spAutoFit/>
          </a:bodyPr>
          <a:lstStyle/>
          <a:p>
            <a:r>
              <a:rPr sz="1200" b="0" i="0">
                <a:solidFill>
                  <a:srgbClr val="64748B"/>
                </a:solidFill>
                <a:latin typeface="Arial"/>
              </a:rPr>
              <a:t>More → Appendix A7</a:t>
            </a:r>
          </a:p>
        </p:txBody>
      </p:sp>
      <p:pic>
        <p:nvPicPr>
          <p:cNvPr id="53" name="図 52">
            <a:extLst>
              <a:ext uri="{FF2B5EF4-FFF2-40B4-BE49-F238E27FC236}">
                <a16:creationId xmlns:a16="http://schemas.microsoft.com/office/drawing/2014/main" id="{8C80CAED-48D1-845B-56C6-60337BE64DDC}"/>
              </a:ext>
            </a:extLst>
          </p:cNvPr>
          <p:cNvPicPr>
            <a:picLocks noChangeAspect="1"/>
          </p:cNvPicPr>
          <p:nvPr/>
        </p:nvPicPr>
        <p:blipFill>
          <a:blip r:embed="rId3"/>
          <a:stretch>
            <a:fillRect/>
          </a:stretch>
        </p:blipFill>
        <p:spPr>
          <a:xfrm>
            <a:off x="2219706" y="1500362"/>
            <a:ext cx="8215884" cy="449735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53"/>
                                        </p:tgtEl>
                                      </p:cBhvr>
                                    </p:animEffect>
                                    <p:set>
                                      <p:cBhvr>
                                        <p:cTn id="7" dur="1" fill="hold">
                                          <p:stCondLst>
                                            <p:cond delay="499"/>
                                          </p:stCondLst>
                                        </p:cTn>
                                        <p:tgtEl>
                                          <p:spTgt spid="5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a:effectLst/>
      </p:bgPr>
    </p:bg>
    <p:spTree>
      <p:nvGrpSpPr>
        <p:cNvPr id="1" name=""/>
        <p:cNvGrpSpPr/>
        <p:nvPr/>
      </p:nvGrpSpPr>
      <p:grpSpPr>
        <a:xfrm>
          <a:off x="0" y="0"/>
          <a:ext cx="0" cy="0"/>
          <a:chOff x="0" y="0"/>
          <a:chExt cx="0" cy="0"/>
        </a:xfrm>
      </p:grpSpPr>
      <p:sp>
        <p:nvSpPr>
          <p:cNvPr id="2" name="Text 0"/>
          <p:cNvSpPr txBox="1"/>
          <p:nvPr/>
        </p:nvSpPr>
        <p:spPr>
          <a:xfrm>
            <a:off x="11164824" y="6492240"/>
            <a:ext cx="457200" cy="219456"/>
          </a:xfrm>
          <a:prstGeom prst="rect">
            <a:avLst/>
          </a:prstGeom>
          <a:noFill/>
          <a:ln/>
        </p:spPr>
        <p:txBody>
          <a:bodyPr wrap="square" lIns="0" tIns="0" rIns="0" bIns="0" rtlCol="0" anchor="ctr"/>
          <a:lstStyle/>
          <a:p>
            <a:pPr marL="0" indent="0" algn="r">
              <a:buNone/>
            </a:pPr>
            <a:fld id="{8B2C3E4A-5D6F-4A1B-9C2D-3E4F5A6B7C8D}" type="slidenum">
              <a:rPr lang="en-US" altLang="ja-JP" sz="1000" dirty="0">
                <a:solidFill>
                  <a:srgbClr val="64748B"/>
                </a:solidFill>
                <a:latin typeface="Arial" pitchFamily="34" charset="0"/>
                <a:ea typeface="Arial" pitchFamily="34" charset="-122"/>
                <a:cs typeface="Arial" pitchFamily="34" charset="-120"/>
              </a:rPr>
              <a:t>17</a:t>
            </a:fld>
            <a:endParaRPr lang="en-US" altLang="ja-JP" sz="1000" dirty="0"/>
          </a:p>
        </p:txBody>
      </p:sp>
      <p:sp>
        <p:nvSpPr>
          <p:cNvPr id="3" name="Text 1"/>
          <p:cNvSpPr txBox="1"/>
          <p:nvPr/>
        </p:nvSpPr>
        <p:spPr>
          <a:xfrm>
            <a:off x="566928" y="1645920"/>
            <a:ext cx="3657600" cy="1188720"/>
          </a:xfrm>
          <a:prstGeom prst="rect">
            <a:avLst/>
          </a:prstGeom>
          <a:noFill/>
          <a:ln/>
        </p:spPr>
        <p:txBody>
          <a:bodyPr wrap="square" lIns="0" tIns="0" rIns="0" bIns="0" rtlCol="0" anchor="ctr"/>
          <a:lstStyle/>
          <a:p>
            <a:pPr marL="0" indent="0" algn="l">
              <a:buNone/>
            </a:pPr>
            <a:r>
              <a:rPr lang="ja-JP" altLang="en-US" sz="7200" b="1" dirty="0">
                <a:solidFill>
                  <a:srgbClr val="0284C7"/>
                </a:solidFill>
                <a:latin typeface="Arial" pitchFamily="34" charset="0"/>
                <a:ea typeface="Arial" pitchFamily="34" charset="-122"/>
                <a:cs typeface="Arial" pitchFamily="34" charset="-120"/>
              </a:rPr>
              <a:t>03</a:t>
            </a:r>
            <a:endParaRPr lang="ja-JP" sz="7200" dirty="0"/>
          </a:p>
        </p:txBody>
      </p:sp>
      <p:sp>
        <p:nvSpPr>
          <p:cNvPr id="4" name="Text 2"/>
          <p:cNvSpPr txBox="1"/>
          <p:nvPr/>
        </p:nvSpPr>
        <p:spPr>
          <a:xfrm>
            <a:off x="566928" y="2907792"/>
            <a:ext cx="10789920" cy="841248"/>
          </a:xfrm>
          <a:prstGeom prst="rect">
            <a:avLst/>
          </a:prstGeom>
          <a:noFill/>
          <a:ln/>
        </p:spPr>
        <p:txBody>
          <a:bodyPr wrap="square" lIns="0" tIns="0" rIns="0" bIns="0" rtlCol="0" anchor="ctr"/>
          <a:lstStyle/>
          <a:p>
            <a:pPr marL="0" indent="0" algn="l">
              <a:buNone/>
            </a:pPr>
            <a:r>
              <a:rPr lang="en-US" altLang="en-US" sz="4200" b="1" dirty="0">
                <a:solidFill>
                  <a:srgbClr val="FFFFFF"/>
                </a:solidFill>
                <a:latin typeface="Arial" pitchFamily="34" charset="0"/>
                <a:ea typeface="Arial" pitchFamily="34" charset="-122"/>
                <a:cs typeface="Arial" pitchFamily="34" charset="-120"/>
              </a:rPr>
              <a:t>Results and Discussion</a:t>
            </a:r>
            <a:endParaRPr lang="en-US" sz="4200" dirty="0"/>
          </a:p>
        </p:txBody>
      </p:sp>
      <p:sp>
        <p:nvSpPr>
          <p:cNvPr id="5" name="Text 3"/>
          <p:cNvSpPr txBox="1"/>
          <p:nvPr/>
        </p:nvSpPr>
        <p:spPr>
          <a:xfrm>
            <a:off x="566928" y="3895344"/>
            <a:ext cx="10789920" cy="457200"/>
          </a:xfrm>
          <a:prstGeom prst="rect">
            <a:avLst/>
          </a:prstGeom>
          <a:noFill/>
          <a:ln/>
        </p:spPr>
        <p:txBody>
          <a:bodyPr wrap="square" lIns="0" tIns="0" rIns="0" bIns="0" rtlCol="0" anchor="ctr"/>
          <a:lstStyle/>
          <a:p>
            <a:pPr marL="0" indent="0" algn="l">
              <a:buNone/>
            </a:pPr>
            <a:r>
              <a:rPr lang="en-US" altLang="en-US" sz="2000" dirty="0">
                <a:solidFill>
                  <a:srgbClr val="CBD5E1"/>
                </a:solidFill>
                <a:latin typeface="Arial" pitchFamily="34" charset="0"/>
                <a:ea typeface="Arial" pitchFamily="34" charset="-122"/>
                <a:cs typeface="Arial" pitchFamily="34" charset="-120"/>
              </a:rPr>
              <a:t>Testing the Weights / Data Modeled on a Real Conference</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164824" y="6492240"/>
            <a:ext cx="457200" cy="219456"/>
          </a:xfrm>
          <a:prstGeom prst="rect">
            <a:avLst/>
          </a:prstGeom>
          <a:noFill/>
          <a:ln/>
        </p:spPr>
        <p:txBody>
          <a:bodyPr wrap="square" lIns="0" tIns="0" rIns="0" bIns="0" rtlCol="0" anchor="ctr"/>
          <a:lstStyle/>
          <a:p>
            <a:pPr marL="0" indent="0" algn="r">
              <a:buNone/>
            </a:pPr>
            <a:fld id="{8B2C3E4A-5D6F-4A1B-9C2D-3E4F5A6B7C8D}" type="slidenum">
              <a:rPr lang="en-US" altLang="ja-JP" sz="1000" dirty="0">
                <a:solidFill>
                  <a:srgbClr val="94A3B8"/>
                </a:solidFill>
                <a:latin typeface="Arial" pitchFamily="34" charset="0"/>
                <a:ea typeface="Arial" pitchFamily="34" charset="-122"/>
                <a:cs typeface="Arial" pitchFamily="34" charset="-120"/>
              </a:rPr>
              <a:t>18</a:t>
            </a:fld>
            <a:endParaRPr lang="en-US" altLang="ja-JP" sz="1000" dirty="0"/>
          </a:p>
        </p:txBody>
      </p:sp>
      <p:sp>
        <p:nvSpPr>
          <p:cNvPr id="3" name="Text 1"/>
          <p:cNvSpPr txBox="1"/>
          <p:nvPr/>
        </p:nvSpPr>
        <p:spPr>
          <a:xfrm>
            <a:off x="566928" y="310896"/>
            <a:ext cx="11055096" cy="237744"/>
          </a:xfrm>
          <a:prstGeom prst="rect">
            <a:avLst/>
          </a:prstGeom>
          <a:noFill/>
          <a:ln/>
        </p:spPr>
        <p:txBody>
          <a:bodyPr wrap="square" lIns="0" tIns="0" rIns="0" bIns="0" rtlCol="0" anchor="ctr"/>
          <a:lstStyle/>
          <a:p>
            <a:pPr marL="0" indent="0" algn="l">
              <a:buNone/>
            </a:pPr>
            <a:r>
              <a:rPr lang="en-US" altLang="en-US" sz="1200" b="1" kern="0" spc="100" dirty="0">
                <a:solidFill>
                  <a:srgbClr val="0284C7"/>
                </a:solidFill>
                <a:latin typeface="Arial" pitchFamily="34" charset="0"/>
                <a:ea typeface="Arial" pitchFamily="34" charset="-122"/>
                <a:cs typeface="Arial" pitchFamily="34" charset="-120"/>
              </a:rPr>
              <a:t>3. Results and Discussion</a:t>
            </a:r>
            <a:endParaRPr lang="en-US" sz="1200" dirty="0"/>
          </a:p>
        </p:txBody>
      </p:sp>
      <p:sp>
        <p:nvSpPr>
          <p:cNvPr id="4" name="Text 2"/>
          <p:cNvSpPr txBox="1"/>
          <p:nvPr/>
        </p:nvSpPr>
        <p:spPr>
          <a:xfrm>
            <a:off x="566928" y="566928"/>
            <a:ext cx="11055096" cy="566928"/>
          </a:xfrm>
          <a:prstGeom prst="rect">
            <a:avLst/>
          </a:prstGeom>
          <a:noFill/>
          <a:ln/>
        </p:spPr>
        <p:txBody>
          <a:bodyPr wrap="square" lIns="0" tIns="0" rIns="0" bIns="0" rtlCol="0" anchor="ctr"/>
          <a:lstStyle/>
          <a:p>
            <a:pPr marL="0" indent="0" algn="l">
              <a:buNone/>
            </a:pPr>
            <a:r>
              <a:rPr lang="en-US" altLang="en-US" sz="2800" b="1" dirty="0">
                <a:solidFill>
                  <a:srgbClr val="0F172A"/>
                </a:solidFill>
                <a:latin typeface="Arial" pitchFamily="34" charset="0"/>
                <a:ea typeface="Arial" pitchFamily="34" charset="-122"/>
                <a:cs typeface="Arial" pitchFamily="34" charset="-120"/>
              </a:rPr>
              <a:t>Two Tests</a:t>
            </a:r>
            <a:endParaRPr lang="en-US" sz="2800" dirty="0"/>
          </a:p>
        </p:txBody>
      </p:sp>
      <p:sp>
        <p:nvSpPr>
          <p:cNvPr id="40" name="Rectangle 4">
            <a:extLst>
              <a:ext uri="{FF2B5EF4-FFF2-40B4-BE49-F238E27FC236}">
                <a16:creationId xmlns:a16="http://schemas.microsoft.com/office/drawing/2014/main" id="{AB5FE864-0283-EE76-1175-2EFC43B03C0A}"/>
              </a:ext>
            </a:extLst>
          </p:cNvPr>
          <p:cNvSpPr/>
          <p:nvPr/>
        </p:nvSpPr>
        <p:spPr>
          <a:xfrm>
            <a:off x="566928" y="1554480"/>
            <a:ext cx="5413248" cy="28346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5">
            <a:extLst>
              <a:ext uri="{FF2B5EF4-FFF2-40B4-BE49-F238E27FC236}">
                <a16:creationId xmlns:a16="http://schemas.microsoft.com/office/drawing/2014/main" id="{80A646A0-1F8F-1B35-448A-8AC7B50FA22A}"/>
              </a:ext>
            </a:extLst>
          </p:cNvPr>
          <p:cNvSpPr txBox="1"/>
          <p:nvPr/>
        </p:nvSpPr>
        <p:spPr>
          <a:xfrm>
            <a:off x="749808" y="1691640"/>
            <a:ext cx="5047488" cy="500000"/>
          </a:xfrm>
          <a:prstGeom prst="rect">
            <a:avLst/>
          </a:prstGeom>
          <a:noFill/>
        </p:spPr>
        <p:txBody>
          <a:bodyPr wrap="square">
            <a:spAutoFit/>
          </a:bodyPr>
          <a:lstStyle/>
          <a:p>
            <a:r>
              <a:rPr sz="2200" b="1">
                <a:solidFill>
                  <a:srgbClr val="0284C7"/>
                </a:solidFill>
                <a:latin typeface="Arial"/>
              </a:rPr>
              <a:t>Test 1: Does it work?</a:t>
            </a:r>
          </a:p>
        </p:txBody>
      </p:sp>
      <p:sp>
        <p:nvSpPr>
          <p:cNvPr id="43" name="Rectangle 7">
            <a:extLst>
              <a:ext uri="{FF2B5EF4-FFF2-40B4-BE49-F238E27FC236}">
                <a16:creationId xmlns:a16="http://schemas.microsoft.com/office/drawing/2014/main" id="{730A0217-53B7-BB44-AC7C-506FC0957AEF}"/>
              </a:ext>
            </a:extLst>
          </p:cNvPr>
          <p:cNvSpPr/>
          <p:nvPr/>
        </p:nvSpPr>
        <p:spPr>
          <a:xfrm>
            <a:off x="6208776" y="1554480"/>
            <a:ext cx="5413248" cy="28346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8">
            <a:extLst>
              <a:ext uri="{FF2B5EF4-FFF2-40B4-BE49-F238E27FC236}">
                <a16:creationId xmlns:a16="http://schemas.microsoft.com/office/drawing/2014/main" id="{1267BC62-5E00-D934-5FC5-66E074EFDD1F}"/>
              </a:ext>
            </a:extLst>
          </p:cNvPr>
          <p:cNvSpPr txBox="1"/>
          <p:nvPr/>
        </p:nvSpPr>
        <p:spPr>
          <a:xfrm>
            <a:off x="6391656" y="1691640"/>
            <a:ext cx="5047488" cy="500000"/>
          </a:xfrm>
          <a:prstGeom prst="rect">
            <a:avLst/>
          </a:prstGeom>
          <a:noFill/>
        </p:spPr>
        <p:txBody>
          <a:bodyPr wrap="square">
            <a:spAutoFit/>
          </a:bodyPr>
          <a:lstStyle/>
          <a:p>
            <a:r>
              <a:rPr sz="2200" b="1">
                <a:solidFill>
                  <a:srgbClr val="0284C7"/>
                </a:solidFill>
                <a:latin typeface="Arial"/>
              </a:rPr>
              <a:t>Test 2: Is it practical?</a:t>
            </a:r>
          </a:p>
        </p:txBody>
      </p:sp>
      <p:sp>
        <p:nvSpPr>
          <p:cNvPr id="46" name="Rectangle 10">
            <a:extLst>
              <a:ext uri="{FF2B5EF4-FFF2-40B4-BE49-F238E27FC236}">
                <a16:creationId xmlns:a16="http://schemas.microsoft.com/office/drawing/2014/main" id="{509D67A5-2BBA-3C94-4F14-2AEA77AE9220}"/>
              </a:ext>
            </a:extLst>
          </p:cNvPr>
          <p:cNvSpPr/>
          <p:nvPr/>
        </p:nvSpPr>
        <p:spPr>
          <a:xfrm>
            <a:off x="566928" y="4572000"/>
            <a:ext cx="11055096" cy="731520"/>
          </a:xfrm>
          <a:prstGeom prst="rect">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11">
            <a:extLst>
              <a:ext uri="{FF2B5EF4-FFF2-40B4-BE49-F238E27FC236}">
                <a16:creationId xmlns:a16="http://schemas.microsoft.com/office/drawing/2014/main" id="{47279A30-B9AD-F421-D98B-3A312B6F1C0F}"/>
              </a:ext>
            </a:extLst>
          </p:cNvPr>
          <p:cNvSpPr txBox="1"/>
          <p:nvPr/>
        </p:nvSpPr>
        <p:spPr>
          <a:xfrm>
            <a:off x="566928" y="4572000"/>
            <a:ext cx="11055096" cy="731520"/>
          </a:xfrm>
          <a:prstGeom prst="rect">
            <a:avLst/>
          </a:prstGeom>
          <a:noFill/>
        </p:spPr>
        <p:txBody>
          <a:bodyPr wrap="square" anchor="ctr">
            <a:spAutoFit/>
          </a:bodyPr>
          <a:lstStyle/>
          <a:p>
            <a:pPr algn="ctr"/>
            <a:r>
              <a:rPr sz="1800" b="1">
                <a:solidFill>
                  <a:srgbClr val="0C4A6E"/>
                </a:solidFill>
                <a:latin typeface="Arial"/>
              </a:rPr>
              <a:t>All runs: my laptop — MacBook Air (M4, 16 GB)</a:t>
            </a:r>
          </a:p>
        </p:txBody>
      </p:sp>
      <p:pic>
        <p:nvPicPr>
          <p:cNvPr id="49" name="図 48" descr="幸せな漫画の蜂">
            <a:extLst>
              <a:ext uri="{FF2B5EF4-FFF2-40B4-BE49-F238E27FC236}">
                <a16:creationId xmlns:a16="http://schemas.microsoft.com/office/drawing/2014/main" id="{50137E24-7837-6C89-99CE-BB66EFE4523B}"/>
              </a:ext>
            </a:extLst>
          </p:cNvPr>
          <p:cNvPicPr>
            <a:picLocks noChangeAspect="1"/>
          </p:cNvPicPr>
          <p:nvPr/>
        </p:nvPicPr>
        <p:blipFill>
          <a:blip r:embed="rId3"/>
          <a:stretch>
            <a:fillRect/>
          </a:stretch>
        </p:blipFill>
        <p:spPr>
          <a:xfrm>
            <a:off x="9941652" y="2774040"/>
            <a:ext cx="1451772" cy="1595080"/>
          </a:xfrm>
          <a:prstGeom prst="rect">
            <a:avLst/>
          </a:prstGeom>
        </p:spPr>
      </p:pic>
      <p:pic>
        <p:nvPicPr>
          <p:cNvPr id="51" name="図 50" descr="ハチのマンガを読んでいる">
            <a:extLst>
              <a:ext uri="{FF2B5EF4-FFF2-40B4-BE49-F238E27FC236}">
                <a16:creationId xmlns:a16="http://schemas.microsoft.com/office/drawing/2014/main" id="{0A2105E3-006D-5646-99DD-E6D65F5F0A96}"/>
              </a:ext>
            </a:extLst>
          </p:cNvPr>
          <p:cNvPicPr>
            <a:picLocks noChangeAspect="1"/>
          </p:cNvPicPr>
          <p:nvPr/>
        </p:nvPicPr>
        <p:blipFill>
          <a:blip r:embed="rId4"/>
          <a:stretch>
            <a:fillRect/>
          </a:stretch>
        </p:blipFill>
        <p:spPr>
          <a:xfrm>
            <a:off x="3654356" y="2794040"/>
            <a:ext cx="1166310" cy="1555080"/>
          </a:xfrm>
          <a:prstGeom prst="rect">
            <a:avLst/>
          </a:prstGeom>
        </p:spPr>
      </p:pic>
      <p:sp>
        <p:nvSpPr>
          <p:cNvPr id="52" name="TextBox 51"/>
          <p:cNvSpPr txBox="1"/>
          <p:nvPr/>
        </p:nvSpPr>
        <p:spPr>
          <a:xfrm>
            <a:off x="749808" y="2148840"/>
            <a:ext cx="2926080" cy="274320"/>
          </a:xfrm>
          <a:prstGeom prst="rect">
            <a:avLst/>
          </a:prstGeom>
          <a:noFill/>
        </p:spPr>
        <p:txBody>
          <a:bodyPr wrap="square" lIns="45720" tIns="22860" rIns="45720" bIns="22860">
            <a:spAutoFit/>
          </a:bodyPr>
          <a:lstStyle/>
          <a:p>
            <a:r>
              <a:rPr sz="1300" b="1" i="0">
                <a:solidFill>
                  <a:srgbClr val="64748B"/>
                </a:solidFill>
                <a:latin typeface="Arial"/>
              </a:rPr>
              <a:t>Same data as the Abstract</a:t>
            </a:r>
          </a:p>
        </p:txBody>
      </p:sp>
      <p:sp>
        <p:nvSpPr>
          <p:cNvPr id="53" name="Rounded Rectangle 52"/>
          <p:cNvSpPr/>
          <p:nvPr/>
        </p:nvSpPr>
        <p:spPr>
          <a:xfrm>
            <a:off x="749808" y="2468880"/>
            <a:ext cx="1371600" cy="777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49808" y="2514600"/>
            <a:ext cx="1371600" cy="457200"/>
          </a:xfrm>
          <a:prstGeom prst="rect">
            <a:avLst/>
          </a:prstGeom>
          <a:noFill/>
        </p:spPr>
        <p:txBody>
          <a:bodyPr wrap="square" lIns="45720" tIns="22860" rIns="45720" bIns="22860" anchor="ctr">
            <a:spAutoFit/>
          </a:bodyPr>
          <a:lstStyle/>
          <a:p>
            <a:pPr algn="ctr"/>
            <a:r>
              <a:rPr sz="2600" b="1" i="0">
                <a:solidFill>
                  <a:srgbClr val="0284C7"/>
                </a:solidFill>
                <a:latin typeface="Arial"/>
              </a:rPr>
              <a:t>40</a:t>
            </a:r>
          </a:p>
        </p:txBody>
      </p:sp>
      <p:sp>
        <p:nvSpPr>
          <p:cNvPr id="55" name="TextBox 54"/>
          <p:cNvSpPr txBox="1"/>
          <p:nvPr/>
        </p:nvSpPr>
        <p:spPr>
          <a:xfrm>
            <a:off x="749808" y="2926080"/>
            <a:ext cx="1371600" cy="274320"/>
          </a:xfrm>
          <a:prstGeom prst="rect">
            <a:avLst/>
          </a:prstGeom>
          <a:noFill/>
        </p:spPr>
        <p:txBody>
          <a:bodyPr wrap="square" lIns="45720" tIns="22860" rIns="45720" bIns="22860" anchor="ctr">
            <a:spAutoFit/>
          </a:bodyPr>
          <a:lstStyle/>
          <a:p>
            <a:pPr algn="ctr"/>
            <a:r>
              <a:rPr sz="1100" b="1" i="0">
                <a:solidFill>
                  <a:srgbClr val="64748B"/>
                </a:solidFill>
                <a:latin typeface="Arial"/>
              </a:rPr>
              <a:t>talks</a:t>
            </a:r>
          </a:p>
        </p:txBody>
      </p:sp>
      <p:sp>
        <p:nvSpPr>
          <p:cNvPr id="56" name="Rounded Rectangle 55"/>
          <p:cNvSpPr/>
          <p:nvPr/>
        </p:nvSpPr>
        <p:spPr>
          <a:xfrm>
            <a:off x="2212848" y="2468880"/>
            <a:ext cx="1371600" cy="777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212848" y="2514600"/>
            <a:ext cx="1371600" cy="457200"/>
          </a:xfrm>
          <a:prstGeom prst="rect">
            <a:avLst/>
          </a:prstGeom>
          <a:noFill/>
        </p:spPr>
        <p:txBody>
          <a:bodyPr wrap="square" lIns="45720" tIns="22860" rIns="45720" bIns="22860" anchor="ctr">
            <a:spAutoFit/>
          </a:bodyPr>
          <a:lstStyle/>
          <a:p>
            <a:pPr algn="ctr"/>
            <a:r>
              <a:rPr sz="2600" b="1" i="0">
                <a:solidFill>
                  <a:srgbClr val="0284C7"/>
                </a:solidFill>
                <a:latin typeface="Arial"/>
              </a:rPr>
              <a:t>10</a:t>
            </a:r>
          </a:p>
        </p:txBody>
      </p:sp>
      <p:sp>
        <p:nvSpPr>
          <p:cNvPr id="58" name="TextBox 57"/>
          <p:cNvSpPr txBox="1"/>
          <p:nvPr/>
        </p:nvSpPr>
        <p:spPr>
          <a:xfrm>
            <a:off x="2212848" y="2926080"/>
            <a:ext cx="1371600" cy="274320"/>
          </a:xfrm>
          <a:prstGeom prst="rect">
            <a:avLst/>
          </a:prstGeom>
          <a:noFill/>
        </p:spPr>
        <p:txBody>
          <a:bodyPr wrap="square" lIns="45720" tIns="22860" rIns="45720" bIns="22860" anchor="ctr">
            <a:spAutoFit/>
          </a:bodyPr>
          <a:lstStyle/>
          <a:p>
            <a:pPr algn="ctr"/>
            <a:r>
              <a:rPr sz="1100" b="1" i="0">
                <a:solidFill>
                  <a:srgbClr val="64748B"/>
                </a:solidFill>
                <a:latin typeface="Arial"/>
              </a:rPr>
              <a:t>rooms</a:t>
            </a:r>
          </a:p>
        </p:txBody>
      </p:sp>
      <p:sp>
        <p:nvSpPr>
          <p:cNvPr id="59" name="Rounded Rectangle 58"/>
          <p:cNvSpPr/>
          <p:nvPr/>
        </p:nvSpPr>
        <p:spPr>
          <a:xfrm>
            <a:off x="749808" y="3337560"/>
            <a:ext cx="1371600" cy="777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49808" y="3383280"/>
            <a:ext cx="1371600" cy="457200"/>
          </a:xfrm>
          <a:prstGeom prst="rect">
            <a:avLst/>
          </a:prstGeom>
          <a:noFill/>
        </p:spPr>
        <p:txBody>
          <a:bodyPr wrap="square" lIns="45720" tIns="22860" rIns="45720" bIns="22860" anchor="ctr">
            <a:spAutoFit/>
          </a:bodyPr>
          <a:lstStyle/>
          <a:p>
            <a:pPr algn="ctr"/>
            <a:r>
              <a:rPr sz="2600" b="1" i="0">
                <a:solidFill>
                  <a:srgbClr val="0284C7"/>
                </a:solidFill>
                <a:latin typeface="Arial"/>
              </a:rPr>
              <a:t>5</a:t>
            </a:r>
          </a:p>
        </p:txBody>
      </p:sp>
      <p:sp>
        <p:nvSpPr>
          <p:cNvPr id="61" name="TextBox 60"/>
          <p:cNvSpPr txBox="1"/>
          <p:nvPr/>
        </p:nvSpPr>
        <p:spPr>
          <a:xfrm>
            <a:off x="749808" y="3794760"/>
            <a:ext cx="1371600" cy="274320"/>
          </a:xfrm>
          <a:prstGeom prst="rect">
            <a:avLst/>
          </a:prstGeom>
          <a:noFill/>
        </p:spPr>
        <p:txBody>
          <a:bodyPr wrap="square" lIns="45720" tIns="22860" rIns="45720" bIns="22860" anchor="ctr">
            <a:spAutoFit/>
          </a:bodyPr>
          <a:lstStyle/>
          <a:p>
            <a:pPr algn="ctr"/>
            <a:r>
              <a:rPr sz="1100" b="1" i="0">
                <a:solidFill>
                  <a:srgbClr val="64748B"/>
                </a:solidFill>
                <a:latin typeface="Arial"/>
              </a:rPr>
              <a:t>slots</a:t>
            </a:r>
          </a:p>
        </p:txBody>
      </p:sp>
      <p:sp>
        <p:nvSpPr>
          <p:cNvPr id="62" name="Rounded Rectangle 61"/>
          <p:cNvSpPr/>
          <p:nvPr/>
        </p:nvSpPr>
        <p:spPr>
          <a:xfrm>
            <a:off x="2212848" y="3337560"/>
            <a:ext cx="1371600" cy="777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2212848" y="3383280"/>
            <a:ext cx="1371600" cy="457200"/>
          </a:xfrm>
          <a:prstGeom prst="rect">
            <a:avLst/>
          </a:prstGeom>
          <a:noFill/>
        </p:spPr>
        <p:txBody>
          <a:bodyPr wrap="square" lIns="45720" tIns="22860" rIns="45720" bIns="22860" anchor="ctr">
            <a:spAutoFit/>
          </a:bodyPr>
          <a:lstStyle/>
          <a:p>
            <a:pPr algn="ctr"/>
            <a:r>
              <a:rPr sz="2600" b="1" i="0">
                <a:solidFill>
                  <a:srgbClr val="0284C7"/>
                </a:solidFill>
                <a:latin typeface="Arial"/>
              </a:rPr>
              <a:t>7</a:t>
            </a:r>
          </a:p>
        </p:txBody>
      </p:sp>
      <p:sp>
        <p:nvSpPr>
          <p:cNvPr id="64" name="TextBox 63"/>
          <p:cNvSpPr txBox="1"/>
          <p:nvPr/>
        </p:nvSpPr>
        <p:spPr>
          <a:xfrm>
            <a:off x="2212848" y="3794760"/>
            <a:ext cx="1371600" cy="274320"/>
          </a:xfrm>
          <a:prstGeom prst="rect">
            <a:avLst/>
          </a:prstGeom>
          <a:noFill/>
        </p:spPr>
        <p:txBody>
          <a:bodyPr wrap="square" lIns="45720" tIns="22860" rIns="45720" bIns="22860" anchor="ctr">
            <a:spAutoFit/>
          </a:bodyPr>
          <a:lstStyle/>
          <a:p>
            <a:pPr algn="ctr"/>
            <a:r>
              <a:rPr sz="1100" b="1" i="0">
                <a:solidFill>
                  <a:srgbClr val="64748B"/>
                </a:solidFill>
                <a:latin typeface="Arial"/>
              </a:rPr>
              <a:t>topics</a:t>
            </a:r>
          </a:p>
        </p:txBody>
      </p:sp>
      <p:sp>
        <p:nvSpPr>
          <p:cNvPr id="65" name="TextBox 64"/>
          <p:cNvSpPr txBox="1"/>
          <p:nvPr/>
        </p:nvSpPr>
        <p:spPr>
          <a:xfrm>
            <a:off x="6391656" y="2148840"/>
            <a:ext cx="3474720" cy="274320"/>
          </a:xfrm>
          <a:prstGeom prst="rect">
            <a:avLst/>
          </a:prstGeom>
          <a:noFill/>
        </p:spPr>
        <p:txBody>
          <a:bodyPr wrap="square" lIns="45720" tIns="22860" rIns="45720" bIns="22860">
            <a:spAutoFit/>
          </a:bodyPr>
          <a:lstStyle/>
          <a:p>
            <a:r>
              <a:rPr sz="1300" b="1" i="0">
                <a:solidFill>
                  <a:srgbClr val="64748B"/>
                </a:solidFill>
                <a:latin typeface="Arial"/>
              </a:rPr>
              <a:t>Based on a real conference</a:t>
            </a:r>
          </a:p>
        </p:txBody>
      </p:sp>
      <p:sp>
        <p:nvSpPr>
          <p:cNvPr id="66" name="Rounded Rectangle 65"/>
          <p:cNvSpPr/>
          <p:nvPr/>
        </p:nvSpPr>
        <p:spPr>
          <a:xfrm>
            <a:off x="6391656" y="2468880"/>
            <a:ext cx="1371600" cy="777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391656" y="2514600"/>
            <a:ext cx="1371600" cy="457200"/>
          </a:xfrm>
          <a:prstGeom prst="rect">
            <a:avLst/>
          </a:prstGeom>
          <a:noFill/>
        </p:spPr>
        <p:txBody>
          <a:bodyPr wrap="square" lIns="45720" tIns="22860" rIns="45720" bIns="22860" anchor="ctr">
            <a:spAutoFit/>
          </a:bodyPr>
          <a:lstStyle/>
          <a:p>
            <a:pPr algn="ctr"/>
            <a:r>
              <a:rPr sz="2600" b="1" i="0">
                <a:solidFill>
                  <a:srgbClr val="0284C7"/>
                </a:solidFill>
                <a:latin typeface="Arial"/>
              </a:rPr>
              <a:t>89</a:t>
            </a:r>
          </a:p>
        </p:txBody>
      </p:sp>
      <p:sp>
        <p:nvSpPr>
          <p:cNvPr id="68" name="TextBox 67"/>
          <p:cNvSpPr txBox="1"/>
          <p:nvPr/>
        </p:nvSpPr>
        <p:spPr>
          <a:xfrm>
            <a:off x="6391656" y="2926080"/>
            <a:ext cx="1371600" cy="274320"/>
          </a:xfrm>
          <a:prstGeom prst="rect">
            <a:avLst/>
          </a:prstGeom>
          <a:noFill/>
        </p:spPr>
        <p:txBody>
          <a:bodyPr wrap="square" lIns="45720" tIns="22860" rIns="45720" bIns="22860" anchor="ctr">
            <a:spAutoFit/>
          </a:bodyPr>
          <a:lstStyle/>
          <a:p>
            <a:pPr algn="ctr"/>
            <a:r>
              <a:rPr sz="1100" b="1" i="0">
                <a:solidFill>
                  <a:srgbClr val="64748B"/>
                </a:solidFill>
                <a:latin typeface="Arial"/>
              </a:rPr>
              <a:t>talks</a:t>
            </a:r>
          </a:p>
        </p:txBody>
      </p:sp>
      <p:sp>
        <p:nvSpPr>
          <p:cNvPr id="69" name="Rounded Rectangle 68"/>
          <p:cNvSpPr/>
          <p:nvPr/>
        </p:nvSpPr>
        <p:spPr>
          <a:xfrm>
            <a:off x="7854696" y="2468880"/>
            <a:ext cx="1371600" cy="777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7854696" y="2514600"/>
            <a:ext cx="1371600" cy="457200"/>
          </a:xfrm>
          <a:prstGeom prst="rect">
            <a:avLst/>
          </a:prstGeom>
          <a:noFill/>
        </p:spPr>
        <p:txBody>
          <a:bodyPr wrap="square" lIns="45720" tIns="22860" rIns="45720" bIns="22860" anchor="ctr">
            <a:spAutoFit/>
          </a:bodyPr>
          <a:lstStyle/>
          <a:p>
            <a:pPr algn="ctr"/>
            <a:r>
              <a:rPr sz="2600" b="1" i="0">
                <a:solidFill>
                  <a:srgbClr val="0284C7"/>
                </a:solidFill>
                <a:latin typeface="Arial"/>
              </a:rPr>
              <a:t>4</a:t>
            </a:r>
          </a:p>
        </p:txBody>
      </p:sp>
      <p:sp>
        <p:nvSpPr>
          <p:cNvPr id="71" name="TextBox 70"/>
          <p:cNvSpPr txBox="1"/>
          <p:nvPr/>
        </p:nvSpPr>
        <p:spPr>
          <a:xfrm>
            <a:off x="7854696" y="2926080"/>
            <a:ext cx="1371600" cy="274320"/>
          </a:xfrm>
          <a:prstGeom prst="rect">
            <a:avLst/>
          </a:prstGeom>
          <a:noFill/>
        </p:spPr>
        <p:txBody>
          <a:bodyPr wrap="square" lIns="45720" tIns="22860" rIns="45720" bIns="22860" anchor="ctr">
            <a:spAutoFit/>
          </a:bodyPr>
          <a:lstStyle/>
          <a:p>
            <a:pPr algn="ctr"/>
            <a:r>
              <a:rPr sz="1100" b="1" i="0">
                <a:solidFill>
                  <a:srgbClr val="64748B"/>
                </a:solidFill>
                <a:latin typeface="Arial"/>
              </a:rPr>
              <a:t>rooms</a:t>
            </a:r>
          </a:p>
        </p:txBody>
      </p:sp>
      <p:sp>
        <p:nvSpPr>
          <p:cNvPr id="72" name="Rounded Rectangle 71"/>
          <p:cNvSpPr/>
          <p:nvPr/>
        </p:nvSpPr>
        <p:spPr>
          <a:xfrm>
            <a:off x="6391656" y="3337560"/>
            <a:ext cx="1371600" cy="777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6391656" y="3383280"/>
            <a:ext cx="1371600" cy="457200"/>
          </a:xfrm>
          <a:prstGeom prst="rect">
            <a:avLst/>
          </a:prstGeom>
          <a:noFill/>
        </p:spPr>
        <p:txBody>
          <a:bodyPr wrap="square" lIns="45720" tIns="22860" rIns="45720" bIns="22860" anchor="ctr">
            <a:spAutoFit/>
          </a:bodyPr>
          <a:lstStyle/>
          <a:p>
            <a:pPr algn="ctr"/>
            <a:r>
              <a:rPr sz="2600" b="1" i="0">
                <a:solidFill>
                  <a:srgbClr val="0284C7"/>
                </a:solidFill>
                <a:latin typeface="Arial"/>
              </a:rPr>
              <a:t>24</a:t>
            </a:r>
          </a:p>
        </p:txBody>
      </p:sp>
      <p:sp>
        <p:nvSpPr>
          <p:cNvPr id="74" name="TextBox 73"/>
          <p:cNvSpPr txBox="1"/>
          <p:nvPr/>
        </p:nvSpPr>
        <p:spPr>
          <a:xfrm>
            <a:off x="6391656" y="3794760"/>
            <a:ext cx="1371600" cy="274320"/>
          </a:xfrm>
          <a:prstGeom prst="rect">
            <a:avLst/>
          </a:prstGeom>
          <a:noFill/>
        </p:spPr>
        <p:txBody>
          <a:bodyPr wrap="square" lIns="45720" tIns="22860" rIns="45720" bIns="22860" anchor="ctr">
            <a:spAutoFit/>
          </a:bodyPr>
          <a:lstStyle/>
          <a:p>
            <a:pPr algn="ctr"/>
            <a:r>
              <a:rPr sz="1100" b="1" i="0">
                <a:solidFill>
                  <a:srgbClr val="64748B"/>
                </a:solidFill>
                <a:latin typeface="Arial"/>
              </a:rPr>
              <a:t>slots</a:t>
            </a:r>
          </a:p>
        </p:txBody>
      </p:sp>
      <p:sp>
        <p:nvSpPr>
          <p:cNvPr id="75" name="Rounded Rectangle 74"/>
          <p:cNvSpPr/>
          <p:nvPr/>
        </p:nvSpPr>
        <p:spPr>
          <a:xfrm>
            <a:off x="7854696" y="3337560"/>
            <a:ext cx="1371600" cy="777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7854696" y="3383280"/>
            <a:ext cx="1371600" cy="457200"/>
          </a:xfrm>
          <a:prstGeom prst="rect">
            <a:avLst/>
          </a:prstGeom>
          <a:noFill/>
        </p:spPr>
        <p:txBody>
          <a:bodyPr wrap="square" lIns="45720" tIns="22860" rIns="45720" bIns="22860" anchor="ctr">
            <a:spAutoFit/>
          </a:bodyPr>
          <a:lstStyle/>
          <a:p>
            <a:pPr algn="ctr"/>
            <a:r>
              <a:rPr sz="2600" b="1" i="0">
                <a:solidFill>
                  <a:srgbClr val="0284C7"/>
                </a:solidFill>
                <a:latin typeface="Arial"/>
              </a:rPr>
              <a:t>8</a:t>
            </a:r>
          </a:p>
        </p:txBody>
      </p:sp>
      <p:sp>
        <p:nvSpPr>
          <p:cNvPr id="77" name="TextBox 76"/>
          <p:cNvSpPr txBox="1"/>
          <p:nvPr/>
        </p:nvSpPr>
        <p:spPr>
          <a:xfrm>
            <a:off x="7854696" y="3794760"/>
            <a:ext cx="1371600" cy="274320"/>
          </a:xfrm>
          <a:prstGeom prst="rect">
            <a:avLst/>
          </a:prstGeom>
          <a:noFill/>
        </p:spPr>
        <p:txBody>
          <a:bodyPr wrap="square" lIns="45720" tIns="22860" rIns="45720" bIns="22860" anchor="ctr">
            <a:spAutoFit/>
          </a:bodyPr>
          <a:lstStyle/>
          <a:p>
            <a:pPr algn="ctr"/>
            <a:r>
              <a:rPr sz="1100" b="1" i="0">
                <a:solidFill>
                  <a:srgbClr val="64748B"/>
                </a:solidFill>
                <a:latin typeface="Arial"/>
              </a:rPr>
              <a:t>topics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5096" cy="237744"/>
          </a:xfrm>
          <a:prstGeom prst="rect">
            <a:avLst/>
          </a:prstGeom>
          <a:noFill/>
        </p:spPr>
        <p:txBody>
          <a:bodyPr wrap="square" lIns="45720" tIns="22860" rIns="45720" bIns="22860">
            <a:spAutoFit/>
          </a:bodyPr>
          <a:lstStyle/>
          <a:p>
            <a:r>
              <a:rPr sz="1200" b="1" i="0">
                <a:solidFill>
                  <a:srgbClr val="0284C7"/>
                </a:solidFill>
                <a:latin typeface="Arial"/>
              </a:rPr>
              <a:t>3. Results and Discussion</a:t>
            </a:r>
          </a:p>
        </p:txBody>
      </p:sp>
      <p:sp>
        <p:nvSpPr>
          <p:cNvPr id="3" name="TextBox 2"/>
          <p:cNvSpPr txBox="1"/>
          <p:nvPr/>
        </p:nvSpPr>
        <p:spPr>
          <a:xfrm>
            <a:off x="566928" y="566928"/>
            <a:ext cx="11055096" cy="566928"/>
          </a:xfrm>
          <a:prstGeom prst="rect">
            <a:avLst/>
          </a:prstGeom>
          <a:noFill/>
        </p:spPr>
        <p:txBody>
          <a:bodyPr wrap="square" lIns="45720" tIns="22860" rIns="45720" bIns="22860">
            <a:spAutoFit/>
          </a:bodyPr>
          <a:lstStyle/>
          <a:p>
            <a:r>
              <a:rPr sz="2800" b="1" i="0">
                <a:solidFill>
                  <a:srgbClr val="0F172A"/>
                </a:solidFill>
                <a:latin typeface="Arial"/>
              </a:rPr>
              <a:t>Test 1: The Weights Work as Intended</a:t>
            </a:r>
          </a:p>
        </p:txBody>
      </p:sp>
      <p:sp>
        <p:nvSpPr>
          <p:cNvPr id="4" name="Rounded Rectangle 3"/>
          <p:cNvSpPr/>
          <p:nvPr/>
        </p:nvSpPr>
        <p:spPr>
          <a:xfrm>
            <a:off x="566928" y="1325880"/>
            <a:ext cx="3532632" cy="347472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04088" y="1417320"/>
            <a:ext cx="365760" cy="365760"/>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04088" y="1417320"/>
            <a:ext cx="365760" cy="365760"/>
          </a:xfrm>
          <a:prstGeom prst="rect">
            <a:avLst/>
          </a:prstGeom>
          <a:noFill/>
        </p:spPr>
        <p:txBody>
          <a:bodyPr wrap="square" lIns="45720" tIns="22860" rIns="45720" bIns="22860" anchor="ctr">
            <a:spAutoFit/>
          </a:bodyPr>
          <a:lstStyle/>
          <a:p>
            <a:pPr algn="ctr"/>
            <a:r>
              <a:rPr sz="1400" b="1" i="0">
                <a:solidFill>
                  <a:srgbClr val="FFFFFF"/>
                </a:solidFill>
                <a:latin typeface="Arial"/>
              </a:rPr>
              <a:t>A</a:t>
            </a:r>
          </a:p>
        </p:txBody>
      </p:sp>
      <p:sp>
        <p:nvSpPr>
          <p:cNvPr id="7" name="TextBox 6"/>
          <p:cNvSpPr txBox="1"/>
          <p:nvPr/>
        </p:nvSpPr>
        <p:spPr>
          <a:xfrm>
            <a:off x="1161288" y="1371600"/>
            <a:ext cx="2892552" cy="320040"/>
          </a:xfrm>
          <a:prstGeom prst="rect">
            <a:avLst/>
          </a:prstGeom>
          <a:noFill/>
        </p:spPr>
        <p:txBody>
          <a:bodyPr wrap="square" lIns="45720" tIns="22860" rIns="45720" bIns="22860">
            <a:spAutoFit/>
          </a:bodyPr>
          <a:lstStyle/>
          <a:p>
            <a:r>
              <a:rPr sz="1500" b="1" i="0">
                <a:solidFill>
                  <a:srgbClr val="0F172A"/>
                </a:solidFill>
                <a:latin typeface="Arial"/>
              </a:rPr>
              <a:t>Topic continuity</a:t>
            </a:r>
          </a:p>
        </p:txBody>
      </p:sp>
      <p:sp>
        <p:nvSpPr>
          <p:cNvPr id="8" name="TextBox 7"/>
          <p:cNvSpPr txBox="1"/>
          <p:nvPr/>
        </p:nvSpPr>
        <p:spPr>
          <a:xfrm>
            <a:off x="1161288" y="1645920"/>
            <a:ext cx="2892552" cy="274320"/>
          </a:xfrm>
          <a:prstGeom prst="rect">
            <a:avLst/>
          </a:prstGeom>
          <a:noFill/>
        </p:spPr>
        <p:txBody>
          <a:bodyPr wrap="square" lIns="45720" tIns="22860" rIns="45720" bIns="22860">
            <a:spAutoFit/>
          </a:bodyPr>
          <a:lstStyle/>
          <a:p>
            <a:r>
              <a:rPr sz="1100" b="0" i="0">
                <a:solidFill>
                  <a:srgbClr val="64748B"/>
                </a:solidFill>
                <a:latin typeface="Arial"/>
              </a:rPr>
              <a:t>higher is better</a:t>
            </a:r>
          </a:p>
        </p:txBody>
      </p:sp>
      <p:graphicFrame>
        <p:nvGraphicFramePr>
          <p:cNvPr id="9" name="Chart 8"/>
          <p:cNvGraphicFramePr>
            <a:graphicFrameLocks noGrp="1"/>
          </p:cNvGraphicFramePr>
          <p:nvPr/>
        </p:nvGraphicFramePr>
        <p:xfrm>
          <a:off x="612648" y="1965960"/>
          <a:ext cx="3441192" cy="2788920"/>
        </p:xfrm>
        <a:graphic>
          <a:graphicData uri="http://schemas.openxmlformats.org/drawingml/2006/chart">
            <c:chart xmlns:c="http://schemas.openxmlformats.org/drawingml/2006/chart" xmlns:r="http://schemas.openxmlformats.org/officeDocument/2006/relationships" r:id="rId3"/>
          </a:graphicData>
        </a:graphic>
      </p:graphicFrame>
      <p:sp>
        <p:nvSpPr>
          <p:cNvPr id="10" name="Rounded Rectangle 9"/>
          <p:cNvSpPr/>
          <p:nvPr/>
        </p:nvSpPr>
        <p:spPr>
          <a:xfrm>
            <a:off x="4328160" y="1325880"/>
            <a:ext cx="3532632" cy="347472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465320" y="1417320"/>
            <a:ext cx="365760" cy="36576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65320" y="1417320"/>
            <a:ext cx="365760" cy="365760"/>
          </a:xfrm>
          <a:prstGeom prst="rect">
            <a:avLst/>
          </a:prstGeom>
          <a:noFill/>
        </p:spPr>
        <p:txBody>
          <a:bodyPr wrap="square" lIns="45720" tIns="22860" rIns="45720" bIns="22860" anchor="ctr">
            <a:spAutoFit/>
          </a:bodyPr>
          <a:lstStyle/>
          <a:p>
            <a:pPr algn="ctr"/>
            <a:r>
              <a:rPr sz="1400" b="1" i="0">
                <a:solidFill>
                  <a:srgbClr val="FFFFFF"/>
                </a:solidFill>
                <a:latin typeface="Arial"/>
              </a:rPr>
              <a:t>B</a:t>
            </a:r>
          </a:p>
        </p:txBody>
      </p:sp>
      <p:sp>
        <p:nvSpPr>
          <p:cNvPr id="13" name="TextBox 12"/>
          <p:cNvSpPr txBox="1"/>
          <p:nvPr/>
        </p:nvSpPr>
        <p:spPr>
          <a:xfrm>
            <a:off x="4922520" y="1371600"/>
            <a:ext cx="2892552" cy="320040"/>
          </a:xfrm>
          <a:prstGeom prst="rect">
            <a:avLst/>
          </a:prstGeom>
          <a:noFill/>
        </p:spPr>
        <p:txBody>
          <a:bodyPr wrap="square" lIns="45720" tIns="22860" rIns="45720" bIns="22860">
            <a:spAutoFit/>
          </a:bodyPr>
          <a:lstStyle/>
          <a:p>
            <a:r>
              <a:rPr sz="1500" b="1" i="0">
                <a:solidFill>
                  <a:srgbClr val="0F172A"/>
                </a:solidFill>
                <a:latin typeface="Arial"/>
              </a:rPr>
              <a:t>Topic conflicts (penalty)</a:t>
            </a:r>
          </a:p>
        </p:txBody>
      </p:sp>
      <p:sp>
        <p:nvSpPr>
          <p:cNvPr id="14" name="TextBox 13"/>
          <p:cNvSpPr txBox="1"/>
          <p:nvPr/>
        </p:nvSpPr>
        <p:spPr>
          <a:xfrm>
            <a:off x="4922520" y="1645920"/>
            <a:ext cx="2892552" cy="274320"/>
          </a:xfrm>
          <a:prstGeom prst="rect">
            <a:avLst/>
          </a:prstGeom>
          <a:noFill/>
        </p:spPr>
        <p:txBody>
          <a:bodyPr wrap="square" lIns="45720" tIns="22860" rIns="45720" bIns="22860">
            <a:spAutoFit/>
          </a:bodyPr>
          <a:lstStyle/>
          <a:p>
            <a:r>
              <a:rPr sz="1100" b="0" i="0">
                <a:solidFill>
                  <a:srgbClr val="64748B"/>
                </a:solidFill>
                <a:latin typeface="Arial"/>
              </a:rPr>
              <a:t>lower is better</a:t>
            </a:r>
          </a:p>
        </p:txBody>
      </p:sp>
      <p:graphicFrame>
        <p:nvGraphicFramePr>
          <p:cNvPr id="15" name="Chart 14"/>
          <p:cNvGraphicFramePr>
            <a:graphicFrameLocks noGrp="1"/>
          </p:cNvGraphicFramePr>
          <p:nvPr/>
        </p:nvGraphicFramePr>
        <p:xfrm>
          <a:off x="4373880" y="1965960"/>
          <a:ext cx="3441192" cy="2788920"/>
        </p:xfrm>
        <a:graphic>
          <a:graphicData uri="http://schemas.openxmlformats.org/drawingml/2006/chart">
            <c:chart xmlns:c="http://schemas.openxmlformats.org/drawingml/2006/chart" xmlns:r="http://schemas.openxmlformats.org/officeDocument/2006/relationships" r:id="rId4"/>
          </a:graphicData>
        </a:graphic>
      </p:graphicFrame>
      <p:sp>
        <p:nvSpPr>
          <p:cNvPr id="16" name="Rounded Rectangle 15"/>
          <p:cNvSpPr/>
          <p:nvPr/>
        </p:nvSpPr>
        <p:spPr>
          <a:xfrm>
            <a:off x="8089392" y="1325880"/>
            <a:ext cx="3532632" cy="347472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226552" y="1417320"/>
            <a:ext cx="365760" cy="36576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6552" y="1417320"/>
            <a:ext cx="365760" cy="365760"/>
          </a:xfrm>
          <a:prstGeom prst="rect">
            <a:avLst/>
          </a:prstGeom>
          <a:noFill/>
        </p:spPr>
        <p:txBody>
          <a:bodyPr wrap="square" lIns="45720" tIns="22860" rIns="45720" bIns="22860" anchor="ctr">
            <a:spAutoFit/>
          </a:bodyPr>
          <a:lstStyle/>
          <a:p>
            <a:pPr algn="ctr"/>
            <a:r>
              <a:rPr sz="1400" b="1" i="0">
                <a:solidFill>
                  <a:srgbClr val="FFFFFF"/>
                </a:solidFill>
                <a:latin typeface="Arial"/>
              </a:rPr>
              <a:t>C</a:t>
            </a:r>
          </a:p>
        </p:txBody>
      </p:sp>
      <p:sp>
        <p:nvSpPr>
          <p:cNvPr id="19" name="TextBox 18"/>
          <p:cNvSpPr txBox="1"/>
          <p:nvPr/>
        </p:nvSpPr>
        <p:spPr>
          <a:xfrm>
            <a:off x="8683752" y="1371600"/>
            <a:ext cx="2892552" cy="320040"/>
          </a:xfrm>
          <a:prstGeom prst="rect">
            <a:avLst/>
          </a:prstGeom>
          <a:noFill/>
        </p:spPr>
        <p:txBody>
          <a:bodyPr wrap="square" lIns="45720" tIns="22860" rIns="45720" bIns="22860">
            <a:spAutoFit/>
          </a:bodyPr>
          <a:lstStyle/>
          <a:p>
            <a:r>
              <a:rPr sz="1500" b="1" i="0">
                <a:solidFill>
                  <a:srgbClr val="0F172A"/>
                </a:solidFill>
                <a:latin typeface="Arial"/>
              </a:rPr>
              <a:t>Empty seats</a:t>
            </a:r>
          </a:p>
        </p:txBody>
      </p:sp>
      <p:sp>
        <p:nvSpPr>
          <p:cNvPr id="20" name="TextBox 19"/>
          <p:cNvSpPr txBox="1"/>
          <p:nvPr/>
        </p:nvSpPr>
        <p:spPr>
          <a:xfrm>
            <a:off x="8683752" y="1645920"/>
            <a:ext cx="2892552" cy="274320"/>
          </a:xfrm>
          <a:prstGeom prst="rect">
            <a:avLst/>
          </a:prstGeom>
          <a:noFill/>
        </p:spPr>
        <p:txBody>
          <a:bodyPr wrap="square" lIns="45720" tIns="22860" rIns="45720" bIns="22860">
            <a:spAutoFit/>
          </a:bodyPr>
          <a:lstStyle/>
          <a:p>
            <a:r>
              <a:rPr sz="1100" b="0" i="0">
                <a:solidFill>
                  <a:srgbClr val="64748B"/>
                </a:solidFill>
                <a:latin typeface="Arial"/>
              </a:rPr>
              <a:t>lower is better</a:t>
            </a:r>
          </a:p>
        </p:txBody>
      </p:sp>
      <p:graphicFrame>
        <p:nvGraphicFramePr>
          <p:cNvPr id="21" name="Chart 20"/>
          <p:cNvGraphicFramePr>
            <a:graphicFrameLocks noGrp="1"/>
          </p:cNvGraphicFramePr>
          <p:nvPr/>
        </p:nvGraphicFramePr>
        <p:xfrm>
          <a:off x="8135112" y="1965960"/>
          <a:ext cx="3441192" cy="2788920"/>
        </p:xfrm>
        <a:graphic>
          <a:graphicData uri="http://schemas.openxmlformats.org/drawingml/2006/chart">
            <c:chart xmlns:c="http://schemas.openxmlformats.org/drawingml/2006/chart" xmlns:r="http://schemas.openxmlformats.org/officeDocument/2006/relationships" r:id="rId5"/>
          </a:graphicData>
        </a:graphic>
      </p:graphicFrame>
      <p:sp>
        <p:nvSpPr>
          <p:cNvPr id="22" name="Rounded Rectangle 21"/>
          <p:cNvSpPr/>
          <p:nvPr/>
        </p:nvSpPr>
        <p:spPr>
          <a:xfrm>
            <a:off x="566928" y="4937760"/>
            <a:ext cx="228600" cy="228600"/>
          </a:xfrm>
          <a:prstGeom prst="roundRect">
            <a:avLst>
              <a:gd name="adj" fmla="val 8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41248" y="4892040"/>
            <a:ext cx="3200400" cy="320040"/>
          </a:xfrm>
          <a:prstGeom prst="rect">
            <a:avLst/>
          </a:prstGeom>
          <a:noFill/>
        </p:spPr>
        <p:txBody>
          <a:bodyPr wrap="square" lIns="45720" tIns="22860" rIns="45720" bIns="22860">
            <a:spAutoFit/>
          </a:bodyPr>
          <a:lstStyle/>
          <a:p>
            <a:r>
              <a:rPr sz="1200" b="0" i="0">
                <a:solidFill>
                  <a:srgbClr val="64748B"/>
                </a:solidFill>
                <a:latin typeface="Arial"/>
              </a:rPr>
              <a:t>best for that point</a:t>
            </a:r>
          </a:p>
        </p:txBody>
      </p:sp>
      <p:sp>
        <p:nvSpPr>
          <p:cNvPr id="24" name="Rounded Rectangle 23"/>
          <p:cNvSpPr/>
          <p:nvPr/>
        </p:nvSpPr>
        <p:spPr>
          <a:xfrm>
            <a:off x="3310128" y="4937760"/>
            <a:ext cx="228600" cy="228600"/>
          </a:xfrm>
          <a:prstGeom prst="roundRect">
            <a:avLst>
              <a:gd name="adj" fmla="val 8000"/>
            </a:avLst>
          </a:prstGeom>
          <a:solidFill>
            <a:srgbClr val="0C4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584448" y="4892040"/>
            <a:ext cx="3200400" cy="320040"/>
          </a:xfrm>
          <a:prstGeom prst="rect">
            <a:avLst/>
          </a:prstGeom>
          <a:noFill/>
        </p:spPr>
        <p:txBody>
          <a:bodyPr wrap="square" lIns="45720" tIns="22860" rIns="45720" bIns="22860">
            <a:spAutoFit/>
          </a:bodyPr>
          <a:lstStyle/>
          <a:p>
            <a:r>
              <a:rPr sz="1200" b="0" i="0">
                <a:solidFill>
                  <a:srgbClr val="64748B"/>
                </a:solidFill>
                <a:latin typeface="Arial"/>
              </a:rPr>
              <a:t>equal weights (1 : 1 : 1)</a:t>
            </a:r>
          </a:p>
        </p:txBody>
      </p:sp>
      <p:sp>
        <p:nvSpPr>
          <p:cNvPr id="26" name="Rounded Rectangle 25"/>
          <p:cNvSpPr/>
          <p:nvPr/>
        </p:nvSpPr>
        <p:spPr>
          <a:xfrm>
            <a:off x="566928" y="5303520"/>
            <a:ext cx="11055096" cy="685800"/>
          </a:xfrm>
          <a:prstGeom prst="roundRect">
            <a:avLst>
              <a:gd name="adj" fmla="val 8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66928" y="5303520"/>
            <a:ext cx="11055096" cy="685800"/>
          </a:xfrm>
          <a:prstGeom prst="rect">
            <a:avLst/>
          </a:prstGeom>
          <a:noFill/>
        </p:spPr>
        <p:txBody>
          <a:bodyPr wrap="square" lIns="45720" tIns="22860" rIns="45720" bIns="22860" anchor="ctr">
            <a:spAutoFit/>
          </a:bodyPr>
          <a:lstStyle/>
          <a:p>
            <a:pPr algn="ctr"/>
            <a:r>
              <a:rPr sz="1700" b="1" i="0">
                <a:solidFill>
                  <a:srgbClr val="0C4A6E"/>
                </a:solidFill>
                <a:latin typeface="Arial"/>
              </a:rPr>
              <a:t>Each weight improves its own point — equal weights are near the best on all three</a:t>
            </a:r>
          </a:p>
        </p:txBody>
      </p:sp>
      <p:sp>
        <p:nvSpPr>
          <p:cNvPr id="28" name="TextBox 27"/>
          <p:cNvSpPr txBox="1"/>
          <p:nvPr/>
        </p:nvSpPr>
        <p:spPr>
          <a:xfrm>
            <a:off x="566928" y="6080760"/>
            <a:ext cx="6400800" cy="274320"/>
          </a:xfrm>
          <a:prstGeom prst="rect">
            <a:avLst/>
          </a:prstGeom>
          <a:noFill/>
        </p:spPr>
        <p:txBody>
          <a:bodyPr wrap="square" lIns="45720" tIns="22860" rIns="45720" bIns="22860">
            <a:spAutoFit/>
          </a:bodyPr>
          <a:lstStyle/>
          <a:p>
            <a:r>
              <a:rPr sz="1200" b="0" i="0">
                <a:solidFill>
                  <a:srgbClr val="64748B"/>
                </a:solidFill>
                <a:latin typeface="Arial"/>
              </a:rPr>
              <a:t>Input data and timetables → Appendix A8, A9</a:t>
            </a:r>
          </a:p>
        </p:txBody>
      </p:sp>
      <p:sp>
        <p:nvSpPr>
          <p:cNvPr id="29" name="TextBox 28"/>
          <p:cNvSpPr txBox="1"/>
          <p:nvPr/>
        </p:nvSpPr>
        <p:spPr>
          <a:xfrm>
            <a:off x="11164824" y="6492240"/>
            <a:ext cx="457200" cy="219456"/>
          </a:xfrm>
          <a:prstGeom prst="rect">
            <a:avLst/>
          </a:prstGeom>
          <a:noFill/>
          <a:ln/>
        </p:spPr>
        <p:txBody>
          <a:bodyPr wrap="square" lIns="0" tIns="0" rIns="0" bIns="0" rtlCol="0" anchor="ctr"/>
          <a:lstStyle/>
          <a:p>
            <a:pPr marL="0" indent="0" algn="r">
              <a:buNone/>
            </a:pPr>
            <a:fld id="{8B2C3E4A-5D6F-4A1B-9C2D-3E4F5A6B7C8D}" type="slidenum">
              <a:rPr lang="en-US" altLang="ja-JP" sz="1000" dirty="0">
                <a:solidFill>
                  <a:srgbClr val="94A3B8"/>
                </a:solidFill>
                <a:latin typeface="Arial" pitchFamily="34" charset="0"/>
                <a:ea typeface="Arial" pitchFamily="34" charset="-122"/>
                <a:cs typeface="Arial" pitchFamily="34" charset="-120"/>
              </a:rPr>
              <a:t>19</a:t>
            </a:fld>
            <a:endParaRPr lang="en-US" altLang="ja-JP"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5096" cy="237744"/>
          </a:xfrm>
          <a:prstGeom prst="rect">
            <a:avLst/>
          </a:prstGeom>
          <a:noFill/>
        </p:spPr>
        <p:txBody>
          <a:bodyPr wrap="square">
            <a:spAutoFit/>
          </a:bodyPr>
          <a:lstStyle/>
          <a:p>
            <a:r>
              <a:rPr sz="1200" b="1">
                <a:solidFill>
                  <a:srgbClr val="0284C7"/>
                </a:solidFill>
                <a:latin typeface="Arial"/>
              </a:rPr>
              <a:t>3. Results and Discussion</a:t>
            </a:r>
          </a:p>
        </p:txBody>
      </p:sp>
      <p:sp>
        <p:nvSpPr>
          <p:cNvPr id="3" name="TextBox 2"/>
          <p:cNvSpPr txBox="1"/>
          <p:nvPr/>
        </p:nvSpPr>
        <p:spPr>
          <a:xfrm>
            <a:off x="566928" y="566928"/>
            <a:ext cx="11055096" cy="523220"/>
          </a:xfrm>
          <a:prstGeom prst="rect">
            <a:avLst/>
          </a:prstGeom>
          <a:noFill/>
        </p:spPr>
        <p:txBody>
          <a:bodyPr wrap="square">
            <a:spAutoFit/>
          </a:bodyPr>
          <a:lstStyle/>
          <a:p>
            <a:r>
              <a:rPr sz="2800" b="1" dirty="0">
                <a:solidFill>
                  <a:srgbClr val="0F172A"/>
                </a:solidFill>
                <a:latin typeface="Arial"/>
              </a:rPr>
              <a:t>Test 2: </a:t>
            </a:r>
            <a:r>
              <a:rPr lang="en-US" sz="2800" b="1" dirty="0">
                <a:solidFill>
                  <a:srgbClr val="0F172A"/>
                </a:solidFill>
                <a:latin typeface="Arial"/>
              </a:rPr>
              <a:t>Input data and conditions</a:t>
            </a:r>
            <a:endParaRPr sz="2800" b="1" dirty="0">
              <a:solidFill>
                <a:srgbClr val="0F172A"/>
              </a:solidFill>
              <a:latin typeface="Arial"/>
            </a:endParaRPr>
          </a:p>
        </p:txBody>
      </p:sp>
      <p:sp>
        <p:nvSpPr>
          <p:cNvPr id="4" name="TextBox 3"/>
          <p:cNvSpPr txBox="1"/>
          <p:nvPr/>
        </p:nvSpPr>
        <p:spPr>
          <a:xfrm>
            <a:off x="11164824" y="6492240"/>
            <a:ext cx="457200" cy="219456"/>
          </a:xfrm>
          <a:prstGeom prst="rect">
            <a:avLst/>
          </a:prstGeom>
          <a:noFill/>
          <a:ln/>
        </p:spPr>
        <p:txBody>
          <a:bodyPr wrap="square" lIns="0" tIns="0" rIns="0" bIns="0" rtlCol="0" anchor="ctr"/>
          <a:lstStyle/>
          <a:p>
            <a:pPr marL="0" indent="0" algn="r">
              <a:buNone/>
            </a:pPr>
            <a:fld id="{8B2C3E4A-5D6F-4A1B-9C2D-3E4F5A6B7C8D}" type="slidenum">
              <a:rPr lang="en-US" altLang="ja-JP" sz="1000" dirty="0">
                <a:solidFill>
                  <a:srgbClr val="94A3B8"/>
                </a:solidFill>
                <a:latin typeface="Arial" pitchFamily="34" charset="0"/>
                <a:ea typeface="Arial" pitchFamily="34" charset="-122"/>
                <a:cs typeface="Arial" pitchFamily="34" charset="-120"/>
              </a:rPr>
              <a:t>20</a:t>
            </a:fld>
            <a:endParaRPr lang="en-US" altLang="ja-JP" sz="1000" dirty="0"/>
          </a:p>
        </p:txBody>
      </p:sp>
      <p:sp>
        <p:nvSpPr>
          <p:cNvPr id="5" name="TextBox 4"/>
          <p:cNvSpPr txBox="1"/>
          <p:nvPr/>
        </p:nvSpPr>
        <p:spPr>
          <a:xfrm>
            <a:off x="566928" y="1667001"/>
            <a:ext cx="11055096" cy="369332"/>
          </a:xfrm>
          <a:prstGeom prst="rect">
            <a:avLst/>
          </a:prstGeom>
          <a:noFill/>
        </p:spPr>
        <p:txBody>
          <a:bodyPr wrap="square">
            <a:spAutoFit/>
          </a:bodyPr>
          <a:lstStyle/>
          <a:p>
            <a:r>
              <a:rPr b="0" dirty="0">
                <a:solidFill>
                  <a:srgbClr val="FF0000"/>
                </a:solidFill>
                <a:latin typeface="Arial"/>
              </a:rPr>
              <a:t>Input: </a:t>
            </a:r>
            <a:r>
              <a:rPr lang="en-US" dirty="0">
                <a:solidFill>
                  <a:srgbClr val="FF0000"/>
                </a:solidFill>
                <a:latin typeface="Arial"/>
              </a:rPr>
              <a:t>based on </a:t>
            </a:r>
            <a:r>
              <a:rPr b="0" dirty="0">
                <a:solidFill>
                  <a:srgbClr val="FF0000"/>
                </a:solidFill>
                <a:latin typeface="Arial"/>
              </a:rPr>
              <a:t>real physics conference</a:t>
            </a:r>
          </a:p>
        </p:txBody>
      </p:sp>
      <p:sp>
        <p:nvSpPr>
          <p:cNvPr id="6" name="Rectangle 5"/>
          <p:cNvSpPr/>
          <p:nvPr/>
        </p:nvSpPr>
        <p:spPr>
          <a:xfrm>
            <a:off x="566928" y="2076695"/>
            <a:ext cx="2560320" cy="14630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2168135"/>
            <a:ext cx="2560320" cy="822960"/>
          </a:xfrm>
          <a:prstGeom prst="rect">
            <a:avLst/>
          </a:prstGeom>
          <a:noFill/>
        </p:spPr>
        <p:txBody>
          <a:bodyPr wrap="square">
            <a:spAutoFit/>
          </a:bodyPr>
          <a:lstStyle/>
          <a:p>
            <a:pPr algn="ctr"/>
            <a:r>
              <a:rPr sz="4400" b="1">
                <a:solidFill>
                  <a:srgbClr val="0284C7"/>
                </a:solidFill>
                <a:latin typeface="Arial"/>
              </a:rPr>
              <a:t>89</a:t>
            </a:r>
          </a:p>
        </p:txBody>
      </p:sp>
      <p:sp>
        <p:nvSpPr>
          <p:cNvPr id="8" name="TextBox 7"/>
          <p:cNvSpPr txBox="1"/>
          <p:nvPr/>
        </p:nvSpPr>
        <p:spPr>
          <a:xfrm>
            <a:off x="566928" y="2945375"/>
            <a:ext cx="2560320" cy="457200"/>
          </a:xfrm>
          <a:prstGeom prst="rect">
            <a:avLst/>
          </a:prstGeom>
          <a:noFill/>
        </p:spPr>
        <p:txBody>
          <a:bodyPr wrap="square">
            <a:spAutoFit/>
          </a:bodyPr>
          <a:lstStyle/>
          <a:p>
            <a:pPr algn="ctr"/>
            <a:r>
              <a:rPr sz="1800" b="1">
                <a:solidFill>
                  <a:srgbClr val="0F172A"/>
                </a:solidFill>
                <a:latin typeface="Arial"/>
              </a:rPr>
              <a:t>Talks</a:t>
            </a:r>
          </a:p>
        </p:txBody>
      </p:sp>
      <p:sp>
        <p:nvSpPr>
          <p:cNvPr id="9" name="Rectangle 8"/>
          <p:cNvSpPr/>
          <p:nvPr/>
        </p:nvSpPr>
        <p:spPr>
          <a:xfrm>
            <a:off x="3398520" y="2076695"/>
            <a:ext cx="2560320" cy="14630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398520" y="2168135"/>
            <a:ext cx="2560320" cy="822960"/>
          </a:xfrm>
          <a:prstGeom prst="rect">
            <a:avLst/>
          </a:prstGeom>
          <a:noFill/>
        </p:spPr>
        <p:txBody>
          <a:bodyPr wrap="square">
            <a:spAutoFit/>
          </a:bodyPr>
          <a:lstStyle/>
          <a:p>
            <a:pPr algn="ctr"/>
            <a:r>
              <a:rPr sz="4400" b="1">
                <a:solidFill>
                  <a:srgbClr val="0284C7"/>
                </a:solidFill>
                <a:latin typeface="Arial"/>
              </a:rPr>
              <a:t>4</a:t>
            </a:r>
          </a:p>
        </p:txBody>
      </p:sp>
      <p:sp>
        <p:nvSpPr>
          <p:cNvPr id="11" name="TextBox 10"/>
          <p:cNvSpPr txBox="1"/>
          <p:nvPr/>
        </p:nvSpPr>
        <p:spPr>
          <a:xfrm>
            <a:off x="3398520" y="2945375"/>
            <a:ext cx="2560320" cy="457200"/>
          </a:xfrm>
          <a:prstGeom prst="rect">
            <a:avLst/>
          </a:prstGeom>
          <a:noFill/>
        </p:spPr>
        <p:txBody>
          <a:bodyPr wrap="square">
            <a:spAutoFit/>
          </a:bodyPr>
          <a:lstStyle/>
          <a:p>
            <a:pPr algn="ctr"/>
            <a:r>
              <a:rPr sz="1800" b="1">
                <a:solidFill>
                  <a:srgbClr val="0F172A"/>
                </a:solidFill>
                <a:latin typeface="Arial"/>
              </a:rPr>
              <a:t>Rooms</a:t>
            </a:r>
          </a:p>
        </p:txBody>
      </p:sp>
      <p:sp>
        <p:nvSpPr>
          <p:cNvPr id="12" name="Rectangle 11"/>
          <p:cNvSpPr/>
          <p:nvPr/>
        </p:nvSpPr>
        <p:spPr>
          <a:xfrm>
            <a:off x="6230112" y="2076695"/>
            <a:ext cx="2560320" cy="14630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30112" y="2168135"/>
            <a:ext cx="2560320" cy="822960"/>
          </a:xfrm>
          <a:prstGeom prst="rect">
            <a:avLst/>
          </a:prstGeom>
          <a:noFill/>
        </p:spPr>
        <p:txBody>
          <a:bodyPr wrap="square">
            <a:spAutoFit/>
          </a:bodyPr>
          <a:lstStyle/>
          <a:p>
            <a:pPr algn="ctr"/>
            <a:r>
              <a:rPr sz="4400" b="1">
                <a:solidFill>
                  <a:srgbClr val="0284C7"/>
                </a:solidFill>
                <a:latin typeface="Arial"/>
              </a:rPr>
              <a:t>24</a:t>
            </a:r>
          </a:p>
        </p:txBody>
      </p:sp>
      <p:sp>
        <p:nvSpPr>
          <p:cNvPr id="14" name="TextBox 13"/>
          <p:cNvSpPr txBox="1"/>
          <p:nvPr/>
        </p:nvSpPr>
        <p:spPr>
          <a:xfrm>
            <a:off x="6230112" y="2945375"/>
            <a:ext cx="2560320" cy="457200"/>
          </a:xfrm>
          <a:prstGeom prst="rect">
            <a:avLst/>
          </a:prstGeom>
          <a:noFill/>
        </p:spPr>
        <p:txBody>
          <a:bodyPr wrap="square">
            <a:spAutoFit/>
          </a:bodyPr>
          <a:lstStyle/>
          <a:p>
            <a:pPr algn="ctr"/>
            <a:r>
              <a:rPr sz="1800" b="1">
                <a:solidFill>
                  <a:srgbClr val="0F172A"/>
                </a:solidFill>
                <a:latin typeface="Arial"/>
              </a:rPr>
              <a:t>Time slots</a:t>
            </a:r>
          </a:p>
        </p:txBody>
      </p:sp>
      <p:sp>
        <p:nvSpPr>
          <p:cNvPr id="15" name="Rectangle 14"/>
          <p:cNvSpPr/>
          <p:nvPr/>
        </p:nvSpPr>
        <p:spPr>
          <a:xfrm>
            <a:off x="9061704" y="2076695"/>
            <a:ext cx="2560320" cy="14630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061704" y="2168135"/>
            <a:ext cx="2560320" cy="822960"/>
          </a:xfrm>
          <a:prstGeom prst="rect">
            <a:avLst/>
          </a:prstGeom>
          <a:noFill/>
        </p:spPr>
        <p:txBody>
          <a:bodyPr wrap="square">
            <a:spAutoFit/>
          </a:bodyPr>
          <a:lstStyle/>
          <a:p>
            <a:pPr algn="ctr"/>
            <a:r>
              <a:rPr sz="4400" b="1">
                <a:solidFill>
                  <a:srgbClr val="0284C7"/>
                </a:solidFill>
                <a:latin typeface="Arial"/>
              </a:rPr>
              <a:t>8</a:t>
            </a:r>
          </a:p>
        </p:txBody>
      </p:sp>
      <p:sp>
        <p:nvSpPr>
          <p:cNvPr id="17" name="TextBox 16"/>
          <p:cNvSpPr txBox="1"/>
          <p:nvPr/>
        </p:nvSpPr>
        <p:spPr>
          <a:xfrm>
            <a:off x="9061704" y="2945375"/>
            <a:ext cx="2560320" cy="457200"/>
          </a:xfrm>
          <a:prstGeom prst="rect">
            <a:avLst/>
          </a:prstGeom>
          <a:noFill/>
        </p:spPr>
        <p:txBody>
          <a:bodyPr wrap="square">
            <a:spAutoFit/>
          </a:bodyPr>
          <a:lstStyle/>
          <a:p>
            <a:pPr algn="ctr"/>
            <a:r>
              <a:rPr sz="1800" b="1">
                <a:solidFill>
                  <a:srgbClr val="0F172A"/>
                </a:solidFill>
                <a:latin typeface="Arial"/>
              </a:rPr>
              <a:t>Topics</a:t>
            </a:r>
          </a:p>
        </p:txBody>
      </p:sp>
      <p:sp>
        <p:nvSpPr>
          <p:cNvPr id="18" name="Rectangle 17"/>
          <p:cNvSpPr/>
          <p:nvPr/>
        </p:nvSpPr>
        <p:spPr>
          <a:xfrm>
            <a:off x="566928" y="3722615"/>
            <a:ext cx="11055096" cy="64008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66928" y="3722615"/>
            <a:ext cx="11055096" cy="640080"/>
          </a:xfrm>
          <a:prstGeom prst="rect">
            <a:avLst/>
          </a:prstGeom>
          <a:noFill/>
        </p:spPr>
        <p:txBody>
          <a:bodyPr wrap="square" anchor="ctr">
            <a:spAutoFit/>
          </a:bodyPr>
          <a:lstStyle/>
          <a:p>
            <a:pPr algn="ctr"/>
            <a:r>
              <a:rPr sz="1800" b="1">
                <a:solidFill>
                  <a:srgbClr val="0F172A"/>
                </a:solidFill>
                <a:latin typeface="Arial"/>
              </a:rPr>
              <a:t>Settings: equal weights (1 : 1 : 1), time limit 90 s</a:t>
            </a:r>
          </a:p>
        </p:txBody>
      </p:sp>
      <p:sp>
        <p:nvSpPr>
          <p:cNvPr id="22" name="TextBox 21"/>
          <p:cNvSpPr txBox="1"/>
          <p:nvPr/>
        </p:nvSpPr>
        <p:spPr>
          <a:xfrm>
            <a:off x="566928" y="4443858"/>
            <a:ext cx="11055096" cy="274320"/>
          </a:xfrm>
          <a:prstGeom prst="rect">
            <a:avLst/>
          </a:prstGeom>
          <a:noFill/>
        </p:spPr>
        <p:txBody>
          <a:bodyPr wrap="square">
            <a:spAutoFit/>
          </a:bodyPr>
          <a:lstStyle/>
          <a:p>
            <a:r>
              <a:rPr sz="1200" b="0">
                <a:solidFill>
                  <a:srgbClr val="64748B"/>
                </a:solidFill>
                <a:latin typeface="Arial"/>
              </a:rPr>
              <a:t>Data details → Appendix A10</a:t>
            </a:r>
          </a:p>
        </p:txBody>
      </p:sp>
      <p:pic>
        <p:nvPicPr>
          <p:cNvPr id="24" name="図 23" descr="ポインターを持つ漫画の蜂">
            <a:extLst>
              <a:ext uri="{FF2B5EF4-FFF2-40B4-BE49-F238E27FC236}">
                <a16:creationId xmlns:a16="http://schemas.microsoft.com/office/drawing/2014/main" id="{7355E8AE-6082-D9B5-8DAA-7CD6DA02101F}"/>
              </a:ext>
            </a:extLst>
          </p:cNvPr>
          <p:cNvPicPr>
            <a:picLocks noChangeAspect="1"/>
          </p:cNvPicPr>
          <p:nvPr/>
        </p:nvPicPr>
        <p:blipFill>
          <a:blip r:embed="rId3"/>
          <a:stretch>
            <a:fillRect/>
          </a:stretch>
        </p:blipFill>
        <p:spPr>
          <a:xfrm>
            <a:off x="3398520" y="5457337"/>
            <a:ext cx="1049236" cy="1183279"/>
          </a:xfrm>
          <a:prstGeom prst="rect">
            <a:avLst/>
          </a:prstGeom>
        </p:spPr>
      </p:pic>
      <p:sp>
        <p:nvSpPr>
          <p:cNvPr id="26" name="吹き出し: 円形 25">
            <a:extLst>
              <a:ext uri="{FF2B5EF4-FFF2-40B4-BE49-F238E27FC236}">
                <a16:creationId xmlns:a16="http://schemas.microsoft.com/office/drawing/2014/main" id="{28F29072-02B9-5DE0-6D37-18CD0206C6BC}"/>
              </a:ext>
            </a:extLst>
          </p:cNvPr>
          <p:cNvSpPr/>
          <p:nvPr/>
        </p:nvSpPr>
        <p:spPr>
          <a:xfrm>
            <a:off x="4862958" y="5432273"/>
            <a:ext cx="4198746" cy="1114831"/>
          </a:xfrm>
          <a:prstGeom prst="wedgeEllipseCallout">
            <a:avLst>
              <a:gd name="adj1" fmla="val -51881"/>
              <a:gd name="adj2" fmla="val 39173"/>
            </a:avLst>
          </a:prstGeom>
          <a:solidFill>
            <a:srgbClr val="E0F2FE"/>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Public data is for imitation; unknown data is for inference.</a:t>
            </a:r>
            <a:endParaRPr kumimoji="1" lang="ja-JP" altLang="en-US" dirty="0">
              <a:solidFill>
                <a:schemeClr val="tx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5096" cy="237744"/>
          </a:xfrm>
          <a:prstGeom prst="rect">
            <a:avLst/>
          </a:prstGeom>
          <a:noFill/>
        </p:spPr>
        <p:txBody>
          <a:bodyPr wrap="square" lIns="45720" tIns="22860" rIns="45720" bIns="22860">
            <a:spAutoFit/>
          </a:bodyPr>
          <a:lstStyle/>
          <a:p>
            <a:r>
              <a:rPr sz="1200" b="1" i="0">
                <a:solidFill>
                  <a:srgbClr val="0284C7"/>
                </a:solidFill>
                <a:latin typeface="Arial"/>
              </a:rPr>
              <a:t>3. Results and Discussion</a:t>
            </a:r>
          </a:p>
        </p:txBody>
      </p:sp>
      <p:sp>
        <p:nvSpPr>
          <p:cNvPr id="3" name="TextBox 2"/>
          <p:cNvSpPr txBox="1"/>
          <p:nvPr/>
        </p:nvSpPr>
        <p:spPr>
          <a:xfrm>
            <a:off x="566928" y="566928"/>
            <a:ext cx="11055096" cy="477054"/>
          </a:xfrm>
          <a:prstGeom prst="rect">
            <a:avLst/>
          </a:prstGeom>
          <a:noFill/>
        </p:spPr>
        <p:txBody>
          <a:bodyPr wrap="square" lIns="45720" tIns="22860" rIns="45720" bIns="22860">
            <a:spAutoFit/>
          </a:bodyPr>
          <a:lstStyle/>
          <a:p>
            <a:r>
              <a:rPr sz="2800" b="1" i="0" dirty="0">
                <a:solidFill>
                  <a:srgbClr val="0F172A"/>
                </a:solidFill>
                <a:latin typeface="Arial"/>
              </a:rPr>
              <a:t>Test 2: </a:t>
            </a:r>
            <a:r>
              <a:rPr lang="en-US" sz="2800" b="1" dirty="0">
                <a:solidFill>
                  <a:srgbClr val="0F172A"/>
                </a:solidFill>
                <a:latin typeface="Arial"/>
              </a:rPr>
              <a:t>Demonstrated its practicality</a:t>
            </a:r>
            <a:endParaRPr sz="2800" b="1" i="0" dirty="0">
              <a:solidFill>
                <a:srgbClr val="0F172A"/>
              </a:solidFill>
              <a:latin typeface="Arial"/>
            </a:endParaRPr>
          </a:p>
        </p:txBody>
      </p:sp>
      <p:sp>
        <p:nvSpPr>
          <p:cNvPr id="4" name="TextBox 3"/>
          <p:cNvSpPr txBox="1"/>
          <p:nvPr/>
        </p:nvSpPr>
        <p:spPr>
          <a:xfrm>
            <a:off x="566928" y="1143000"/>
            <a:ext cx="11055096" cy="246888"/>
          </a:xfrm>
          <a:prstGeom prst="rect">
            <a:avLst/>
          </a:prstGeom>
          <a:noFill/>
        </p:spPr>
        <p:txBody>
          <a:bodyPr wrap="square" lIns="45720" tIns="22860" rIns="45720" bIns="22860">
            <a:spAutoFit/>
          </a:bodyPr>
          <a:lstStyle/>
          <a:p>
            <a:r>
              <a:rPr sz="1200" b="1" i="0" dirty="0">
                <a:solidFill>
                  <a:srgbClr val="64748B"/>
                </a:solidFill>
                <a:latin typeface="Arial"/>
              </a:rPr>
              <a:t>Real program (made by hand)</a:t>
            </a:r>
          </a:p>
        </p:txBody>
      </p:sp>
      <p:pic>
        <p:nvPicPr>
          <p:cNvPr id="5" name="Picture 4" descr="fig_t2_real.png"/>
          <p:cNvPicPr>
            <a:picLocks noChangeAspect="1"/>
          </p:cNvPicPr>
          <p:nvPr/>
        </p:nvPicPr>
        <p:blipFill>
          <a:blip r:embed="rId3"/>
          <a:stretch>
            <a:fillRect/>
          </a:stretch>
        </p:blipFill>
        <p:spPr>
          <a:xfrm>
            <a:off x="566928" y="1371600"/>
            <a:ext cx="11055096" cy="1572768"/>
          </a:xfrm>
          <a:prstGeom prst="rect">
            <a:avLst/>
          </a:prstGeom>
        </p:spPr>
      </p:pic>
      <p:sp>
        <p:nvSpPr>
          <p:cNvPr id="6" name="TextBox 5"/>
          <p:cNvSpPr txBox="1"/>
          <p:nvPr/>
        </p:nvSpPr>
        <p:spPr>
          <a:xfrm>
            <a:off x="566928" y="2971800"/>
            <a:ext cx="11055096" cy="246888"/>
          </a:xfrm>
          <a:prstGeom prst="rect">
            <a:avLst/>
          </a:prstGeom>
          <a:noFill/>
        </p:spPr>
        <p:txBody>
          <a:bodyPr wrap="square" lIns="45720" tIns="22860" rIns="45720" bIns="22860">
            <a:spAutoFit/>
          </a:bodyPr>
          <a:lstStyle/>
          <a:p>
            <a:r>
              <a:rPr sz="1200" b="1" i="0">
                <a:solidFill>
                  <a:srgbClr val="0284C7"/>
                </a:solidFill>
                <a:latin typeface="Arial"/>
              </a:rPr>
              <a:t>This system (90 s)</a:t>
            </a:r>
          </a:p>
        </p:txBody>
      </p:sp>
      <p:pic>
        <p:nvPicPr>
          <p:cNvPr id="7" name="Picture 6" descr="fig_t2_ours.png"/>
          <p:cNvPicPr>
            <a:picLocks noChangeAspect="1"/>
          </p:cNvPicPr>
          <p:nvPr/>
        </p:nvPicPr>
        <p:blipFill>
          <a:blip r:embed="rId4"/>
          <a:stretch>
            <a:fillRect/>
          </a:stretch>
        </p:blipFill>
        <p:spPr>
          <a:xfrm>
            <a:off x="566928" y="3218688"/>
            <a:ext cx="11055096" cy="1572768"/>
          </a:xfrm>
          <a:prstGeom prst="rect">
            <a:avLst/>
          </a:prstGeom>
        </p:spPr>
      </p:pic>
      <p:sp>
        <p:nvSpPr>
          <p:cNvPr id="8" name="Rounded Rectangle 7"/>
          <p:cNvSpPr/>
          <p:nvPr/>
        </p:nvSpPr>
        <p:spPr>
          <a:xfrm>
            <a:off x="566928" y="4882896"/>
            <a:ext cx="2651760" cy="86868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58368" y="4974336"/>
            <a:ext cx="274320" cy="274320"/>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8" y="4974336"/>
            <a:ext cx="274320" cy="274320"/>
          </a:xfrm>
          <a:prstGeom prst="rect">
            <a:avLst/>
          </a:prstGeom>
          <a:noFill/>
        </p:spPr>
        <p:txBody>
          <a:bodyPr wrap="square" lIns="45720" tIns="22860" rIns="45720" bIns="22860" anchor="ctr">
            <a:spAutoFit/>
          </a:bodyPr>
          <a:lstStyle/>
          <a:p>
            <a:pPr algn="ctr"/>
            <a:r>
              <a:rPr sz="1100" b="1" i="0">
                <a:solidFill>
                  <a:srgbClr val="FFFFFF"/>
                </a:solidFill>
                <a:latin typeface="Arial"/>
              </a:rPr>
              <a:t>A</a:t>
            </a:r>
          </a:p>
        </p:txBody>
      </p:sp>
      <p:sp>
        <p:nvSpPr>
          <p:cNvPr id="11" name="TextBox 10"/>
          <p:cNvSpPr txBox="1"/>
          <p:nvPr/>
        </p:nvSpPr>
        <p:spPr>
          <a:xfrm>
            <a:off x="978408" y="4928616"/>
            <a:ext cx="2194560" cy="320040"/>
          </a:xfrm>
          <a:prstGeom prst="rect">
            <a:avLst/>
          </a:prstGeom>
          <a:noFill/>
        </p:spPr>
        <p:txBody>
          <a:bodyPr wrap="square" lIns="45720" tIns="22860" rIns="45720" bIns="22860">
            <a:spAutoFit/>
          </a:bodyPr>
          <a:lstStyle/>
          <a:p>
            <a:r>
              <a:rPr sz="1100" b="1" i="0">
                <a:solidFill>
                  <a:srgbClr val="64748B"/>
                </a:solidFill>
                <a:latin typeface="Arial"/>
              </a:rPr>
              <a:t>Topic continuity</a:t>
            </a:r>
          </a:p>
        </p:txBody>
      </p:sp>
      <p:sp>
        <p:nvSpPr>
          <p:cNvPr id="12" name="TextBox 11"/>
          <p:cNvSpPr txBox="1"/>
          <p:nvPr/>
        </p:nvSpPr>
        <p:spPr>
          <a:xfrm>
            <a:off x="658368" y="5248656"/>
            <a:ext cx="1737360" cy="457200"/>
          </a:xfrm>
          <a:prstGeom prst="rect">
            <a:avLst/>
          </a:prstGeom>
          <a:noFill/>
        </p:spPr>
        <p:txBody>
          <a:bodyPr wrap="square" lIns="45720" tIns="22860" rIns="45720" bIns="22860" anchor="ctr">
            <a:spAutoFit/>
          </a:bodyPr>
          <a:lstStyle/>
          <a:p>
            <a:pPr algn="l"/>
            <a:r>
              <a:rPr sz="1900" b="1" i="0">
                <a:solidFill>
                  <a:srgbClr val="0F172A"/>
                </a:solidFill>
                <a:latin typeface="Arial"/>
              </a:rPr>
              <a:t>73 → 72</a:t>
            </a:r>
          </a:p>
        </p:txBody>
      </p:sp>
      <p:sp>
        <p:nvSpPr>
          <p:cNvPr id="13" name="TextBox 12"/>
          <p:cNvSpPr txBox="1"/>
          <p:nvPr/>
        </p:nvSpPr>
        <p:spPr>
          <a:xfrm>
            <a:off x="2350008" y="5248656"/>
            <a:ext cx="822960" cy="457200"/>
          </a:xfrm>
          <a:prstGeom prst="rect">
            <a:avLst/>
          </a:prstGeom>
          <a:noFill/>
        </p:spPr>
        <p:txBody>
          <a:bodyPr wrap="square" lIns="45720" tIns="22860" rIns="45720" bIns="22860" anchor="ctr">
            <a:spAutoFit/>
          </a:bodyPr>
          <a:lstStyle/>
          <a:p>
            <a:pPr algn="ctr"/>
            <a:r>
              <a:rPr sz="1700" b="1" i="0">
                <a:solidFill>
                  <a:srgbClr val="64748B"/>
                </a:solidFill>
                <a:latin typeface="Arial"/>
              </a:rPr>
              <a:t>−1%</a:t>
            </a:r>
          </a:p>
        </p:txBody>
      </p:sp>
      <p:sp>
        <p:nvSpPr>
          <p:cNvPr id="14" name="Rounded Rectangle 13"/>
          <p:cNvSpPr/>
          <p:nvPr/>
        </p:nvSpPr>
        <p:spPr>
          <a:xfrm>
            <a:off x="3355848" y="4882896"/>
            <a:ext cx="2651760" cy="86868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3447288" y="4974336"/>
            <a:ext cx="274320" cy="27432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447288" y="4974336"/>
            <a:ext cx="274320" cy="274320"/>
          </a:xfrm>
          <a:prstGeom prst="rect">
            <a:avLst/>
          </a:prstGeom>
          <a:noFill/>
        </p:spPr>
        <p:txBody>
          <a:bodyPr wrap="square" lIns="45720" tIns="22860" rIns="45720" bIns="22860" anchor="ctr">
            <a:spAutoFit/>
          </a:bodyPr>
          <a:lstStyle/>
          <a:p>
            <a:pPr algn="ctr"/>
            <a:r>
              <a:rPr sz="1100" b="1" i="0">
                <a:solidFill>
                  <a:srgbClr val="FFFFFF"/>
                </a:solidFill>
                <a:latin typeface="Arial"/>
              </a:rPr>
              <a:t>B</a:t>
            </a:r>
          </a:p>
        </p:txBody>
      </p:sp>
      <p:sp>
        <p:nvSpPr>
          <p:cNvPr id="17" name="TextBox 16"/>
          <p:cNvSpPr txBox="1"/>
          <p:nvPr/>
        </p:nvSpPr>
        <p:spPr>
          <a:xfrm>
            <a:off x="3767328" y="4928616"/>
            <a:ext cx="2194560" cy="320040"/>
          </a:xfrm>
          <a:prstGeom prst="rect">
            <a:avLst/>
          </a:prstGeom>
          <a:noFill/>
        </p:spPr>
        <p:txBody>
          <a:bodyPr wrap="square" lIns="45720" tIns="22860" rIns="45720" bIns="22860">
            <a:spAutoFit/>
          </a:bodyPr>
          <a:lstStyle/>
          <a:p>
            <a:r>
              <a:rPr sz="1100" b="1" i="0">
                <a:solidFill>
                  <a:srgbClr val="64748B"/>
                </a:solidFill>
                <a:latin typeface="Arial"/>
              </a:rPr>
              <a:t>Topic conflicts</a:t>
            </a:r>
          </a:p>
        </p:txBody>
      </p:sp>
      <p:sp>
        <p:nvSpPr>
          <p:cNvPr id="18" name="TextBox 17"/>
          <p:cNvSpPr txBox="1"/>
          <p:nvPr/>
        </p:nvSpPr>
        <p:spPr>
          <a:xfrm>
            <a:off x="3447288" y="5248656"/>
            <a:ext cx="1737360" cy="457200"/>
          </a:xfrm>
          <a:prstGeom prst="rect">
            <a:avLst/>
          </a:prstGeom>
          <a:noFill/>
        </p:spPr>
        <p:txBody>
          <a:bodyPr wrap="square" lIns="45720" tIns="22860" rIns="45720" bIns="22860" anchor="ctr">
            <a:spAutoFit/>
          </a:bodyPr>
          <a:lstStyle/>
          <a:p>
            <a:pPr algn="l"/>
            <a:r>
              <a:rPr sz="1900" b="1" i="0">
                <a:solidFill>
                  <a:srgbClr val="0F172A"/>
                </a:solidFill>
                <a:latin typeface="Arial"/>
              </a:rPr>
              <a:t>51 → 39</a:t>
            </a:r>
          </a:p>
        </p:txBody>
      </p:sp>
      <p:sp>
        <p:nvSpPr>
          <p:cNvPr id="19" name="TextBox 18"/>
          <p:cNvSpPr txBox="1"/>
          <p:nvPr/>
        </p:nvSpPr>
        <p:spPr>
          <a:xfrm>
            <a:off x="5138928" y="5248656"/>
            <a:ext cx="822960" cy="457200"/>
          </a:xfrm>
          <a:prstGeom prst="rect">
            <a:avLst/>
          </a:prstGeom>
          <a:noFill/>
        </p:spPr>
        <p:txBody>
          <a:bodyPr wrap="square" lIns="45720" tIns="22860" rIns="45720" bIns="22860" anchor="ctr">
            <a:spAutoFit/>
          </a:bodyPr>
          <a:lstStyle/>
          <a:p>
            <a:pPr algn="ctr"/>
            <a:r>
              <a:rPr sz="1700" b="1" i="0">
                <a:solidFill>
                  <a:srgbClr val="0284C7"/>
                </a:solidFill>
                <a:latin typeface="Arial"/>
              </a:rPr>
              <a:t>−24%</a:t>
            </a:r>
          </a:p>
        </p:txBody>
      </p:sp>
      <p:sp>
        <p:nvSpPr>
          <p:cNvPr id="20" name="Rounded Rectangle 19"/>
          <p:cNvSpPr/>
          <p:nvPr/>
        </p:nvSpPr>
        <p:spPr>
          <a:xfrm>
            <a:off x="6144768" y="4882896"/>
            <a:ext cx="2651760" cy="86868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236208" y="4974336"/>
            <a:ext cx="274320" cy="27432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36208" y="4974336"/>
            <a:ext cx="274320" cy="274320"/>
          </a:xfrm>
          <a:prstGeom prst="rect">
            <a:avLst/>
          </a:prstGeom>
          <a:noFill/>
        </p:spPr>
        <p:txBody>
          <a:bodyPr wrap="square" lIns="45720" tIns="22860" rIns="45720" bIns="22860" anchor="ctr">
            <a:spAutoFit/>
          </a:bodyPr>
          <a:lstStyle/>
          <a:p>
            <a:pPr algn="ctr"/>
            <a:r>
              <a:rPr sz="1100" b="1" i="0">
                <a:solidFill>
                  <a:srgbClr val="FFFFFF"/>
                </a:solidFill>
                <a:latin typeface="Arial"/>
              </a:rPr>
              <a:t>C</a:t>
            </a:r>
          </a:p>
        </p:txBody>
      </p:sp>
      <p:sp>
        <p:nvSpPr>
          <p:cNvPr id="23" name="TextBox 22"/>
          <p:cNvSpPr txBox="1"/>
          <p:nvPr/>
        </p:nvSpPr>
        <p:spPr>
          <a:xfrm>
            <a:off x="6556248" y="4928616"/>
            <a:ext cx="2194560" cy="320040"/>
          </a:xfrm>
          <a:prstGeom prst="rect">
            <a:avLst/>
          </a:prstGeom>
          <a:noFill/>
        </p:spPr>
        <p:txBody>
          <a:bodyPr wrap="square" lIns="45720" tIns="22860" rIns="45720" bIns="22860">
            <a:spAutoFit/>
          </a:bodyPr>
          <a:lstStyle/>
          <a:p>
            <a:r>
              <a:rPr sz="1100" b="1" i="0">
                <a:solidFill>
                  <a:srgbClr val="64748B"/>
                </a:solidFill>
                <a:latin typeface="Arial"/>
              </a:rPr>
              <a:t>Empty seats</a:t>
            </a:r>
          </a:p>
        </p:txBody>
      </p:sp>
      <p:sp>
        <p:nvSpPr>
          <p:cNvPr id="24" name="TextBox 23"/>
          <p:cNvSpPr txBox="1"/>
          <p:nvPr/>
        </p:nvSpPr>
        <p:spPr>
          <a:xfrm>
            <a:off x="6236208" y="5248656"/>
            <a:ext cx="1737360" cy="457200"/>
          </a:xfrm>
          <a:prstGeom prst="rect">
            <a:avLst/>
          </a:prstGeom>
          <a:noFill/>
        </p:spPr>
        <p:txBody>
          <a:bodyPr wrap="square" lIns="45720" tIns="22860" rIns="45720" bIns="22860" anchor="ctr">
            <a:spAutoFit/>
          </a:bodyPr>
          <a:lstStyle/>
          <a:p>
            <a:pPr algn="l"/>
            <a:r>
              <a:rPr sz="1900" b="1" i="0">
                <a:solidFill>
                  <a:srgbClr val="0F172A"/>
                </a:solidFill>
                <a:latin typeface="Arial"/>
              </a:rPr>
              <a:t>1,640 → 1,640</a:t>
            </a:r>
          </a:p>
        </p:txBody>
      </p:sp>
      <p:sp>
        <p:nvSpPr>
          <p:cNvPr id="25" name="TextBox 24"/>
          <p:cNvSpPr txBox="1"/>
          <p:nvPr/>
        </p:nvSpPr>
        <p:spPr>
          <a:xfrm>
            <a:off x="7927848" y="5248656"/>
            <a:ext cx="822960" cy="457200"/>
          </a:xfrm>
          <a:prstGeom prst="rect">
            <a:avLst/>
          </a:prstGeom>
          <a:noFill/>
        </p:spPr>
        <p:txBody>
          <a:bodyPr wrap="square" lIns="45720" tIns="22860" rIns="45720" bIns="22860" anchor="ctr">
            <a:spAutoFit/>
          </a:bodyPr>
          <a:lstStyle/>
          <a:p>
            <a:pPr algn="ctr"/>
            <a:r>
              <a:rPr sz="1700" b="1" i="0">
                <a:solidFill>
                  <a:srgbClr val="64748B"/>
                </a:solidFill>
                <a:latin typeface="Arial"/>
              </a:rPr>
              <a:t>±0%</a:t>
            </a:r>
          </a:p>
        </p:txBody>
      </p:sp>
      <p:sp>
        <p:nvSpPr>
          <p:cNvPr id="26" name="Rounded Rectangle 25"/>
          <p:cNvSpPr/>
          <p:nvPr/>
        </p:nvSpPr>
        <p:spPr>
          <a:xfrm>
            <a:off x="8933688" y="4882896"/>
            <a:ext cx="2688336" cy="868680"/>
          </a:xfrm>
          <a:prstGeom prst="roundRect">
            <a:avLst>
              <a:gd name="adj" fmla="val 8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933688" y="4928616"/>
            <a:ext cx="2688336" cy="320040"/>
          </a:xfrm>
          <a:prstGeom prst="rect">
            <a:avLst/>
          </a:prstGeom>
          <a:noFill/>
        </p:spPr>
        <p:txBody>
          <a:bodyPr wrap="square" lIns="45720" tIns="22860" rIns="45720" bIns="22860">
            <a:spAutoFit/>
          </a:bodyPr>
          <a:lstStyle/>
          <a:p>
            <a:pPr algn="ctr"/>
            <a:r>
              <a:rPr sz="1100" b="1" i="0">
                <a:solidFill>
                  <a:srgbClr val="64748B"/>
                </a:solidFill>
                <a:latin typeface="Arial"/>
              </a:rPr>
              <a:t>Time</a:t>
            </a:r>
          </a:p>
        </p:txBody>
      </p:sp>
      <p:sp>
        <p:nvSpPr>
          <p:cNvPr id="28" name="TextBox 27"/>
          <p:cNvSpPr txBox="1"/>
          <p:nvPr/>
        </p:nvSpPr>
        <p:spPr>
          <a:xfrm>
            <a:off x="8933688" y="5202936"/>
            <a:ext cx="2688336" cy="502920"/>
          </a:xfrm>
          <a:prstGeom prst="rect">
            <a:avLst/>
          </a:prstGeom>
          <a:noFill/>
        </p:spPr>
        <p:txBody>
          <a:bodyPr wrap="square" lIns="45720" tIns="22860" rIns="45720" bIns="22860" anchor="ctr">
            <a:spAutoFit/>
          </a:bodyPr>
          <a:lstStyle/>
          <a:p>
            <a:pPr algn="ctr"/>
            <a:r>
              <a:rPr sz="2600" b="1" i="0">
                <a:solidFill>
                  <a:srgbClr val="0C4A6E"/>
                </a:solidFill>
                <a:latin typeface="Arial"/>
              </a:rPr>
              <a:t>90 s</a:t>
            </a:r>
          </a:p>
        </p:txBody>
      </p:sp>
      <p:sp>
        <p:nvSpPr>
          <p:cNvPr id="29" name="Rounded Rectangle 28"/>
          <p:cNvSpPr/>
          <p:nvPr/>
        </p:nvSpPr>
        <p:spPr>
          <a:xfrm>
            <a:off x="566928" y="5843016"/>
            <a:ext cx="11055096" cy="548640"/>
          </a:xfrm>
          <a:prstGeom prst="roundRect">
            <a:avLst>
              <a:gd name="adj" fmla="val 8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66928" y="5843016"/>
            <a:ext cx="11055096" cy="548640"/>
          </a:xfrm>
          <a:prstGeom prst="rect">
            <a:avLst/>
          </a:prstGeom>
          <a:noFill/>
        </p:spPr>
        <p:txBody>
          <a:bodyPr wrap="square" lIns="45720" tIns="22860" rIns="45720" bIns="22860" anchor="ctr">
            <a:spAutoFit/>
          </a:bodyPr>
          <a:lstStyle/>
          <a:p>
            <a:pPr algn="ctr"/>
            <a:r>
              <a:rPr sz="2200" b="1" i="0">
                <a:solidFill>
                  <a:srgbClr val="0C4A6E"/>
                </a:solidFill>
                <a:latin typeface="Arial"/>
              </a:rPr>
              <a:t>Similar to the real program → Practical</a:t>
            </a:r>
          </a:p>
        </p:txBody>
      </p:sp>
      <p:sp>
        <p:nvSpPr>
          <p:cNvPr id="31" name="TextBox 30"/>
          <p:cNvSpPr txBox="1"/>
          <p:nvPr/>
        </p:nvSpPr>
        <p:spPr>
          <a:xfrm>
            <a:off x="11164824" y="6492240"/>
            <a:ext cx="457200" cy="219456"/>
          </a:xfrm>
          <a:prstGeom prst="rect">
            <a:avLst/>
          </a:prstGeom>
          <a:noFill/>
          <a:ln/>
        </p:spPr>
        <p:txBody>
          <a:bodyPr wrap="square" lIns="0" tIns="0" rIns="0" bIns="0" rtlCol="0" anchor="ctr"/>
          <a:lstStyle/>
          <a:p>
            <a:pPr marL="0" indent="0" algn="r">
              <a:buNone/>
            </a:pPr>
            <a:fld id="{8B2C3E4A-5D6F-4A1B-9C2D-3E4F5A6B7C8D}" type="slidenum">
              <a:rPr lang="en-US" altLang="ja-JP" sz="1000" dirty="0">
                <a:solidFill>
                  <a:srgbClr val="94A3B8"/>
                </a:solidFill>
                <a:latin typeface="Arial" pitchFamily="34" charset="0"/>
                <a:ea typeface="Arial" pitchFamily="34" charset="-122"/>
                <a:cs typeface="Arial" pitchFamily="34" charset="-120"/>
              </a:rPr>
              <a:t>21</a:t>
            </a:fld>
            <a:endParaRPr lang="en-US" altLang="ja-JP"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bg>
      <p:bgPr>
        <a:solidFill>
          <a:srgbClr val="0F172A"/>
        </a:solidFill>
        <a:effectLst/>
      </p:bgPr>
    </p:bg>
    <p:spTree>
      <p:nvGrpSpPr>
        <p:cNvPr id="1" name=""/>
        <p:cNvGrpSpPr/>
        <p:nvPr/>
      </p:nvGrpSpPr>
      <p:grpSpPr>
        <a:xfrm>
          <a:off x="0" y="0"/>
          <a:ext cx="0" cy="0"/>
          <a:chOff x="0" y="0"/>
          <a:chExt cx="0" cy="0"/>
        </a:xfrm>
      </p:grpSpPr>
      <p:sp>
        <p:nvSpPr>
          <p:cNvPr id="2" name="Text 0"/>
          <p:cNvSpPr txBox="1"/>
          <p:nvPr/>
        </p:nvSpPr>
        <p:spPr>
          <a:xfrm>
            <a:off x="11164824" y="6492240"/>
            <a:ext cx="457200" cy="219456"/>
          </a:xfrm>
          <a:prstGeom prst="rect">
            <a:avLst/>
          </a:prstGeom>
          <a:noFill/>
          <a:ln/>
        </p:spPr>
        <p:txBody>
          <a:bodyPr wrap="square" lIns="0" tIns="0" rIns="0" bIns="0" rtlCol="0" anchor="ctr"/>
          <a:lstStyle/>
          <a:p>
            <a:pPr marL="0" indent="0" algn="r">
              <a:buNone/>
            </a:pPr>
            <a:fld id="{8B2C3E4A-5D6F-4A1B-9C2D-3E4F5A6B7C8D}" type="slidenum">
              <a:rPr lang="en-US" altLang="ja-JP" sz="1000" dirty="0">
                <a:solidFill>
                  <a:srgbClr val="64748B"/>
                </a:solidFill>
                <a:latin typeface="Arial" pitchFamily="34" charset="0"/>
                <a:ea typeface="Arial" pitchFamily="34" charset="-122"/>
                <a:cs typeface="Arial" pitchFamily="34" charset="-120"/>
              </a:rPr>
              <a:t>22</a:t>
            </a:fld>
            <a:endParaRPr lang="en-US" altLang="ja-JP" sz="1000" dirty="0"/>
          </a:p>
        </p:txBody>
      </p:sp>
      <p:sp>
        <p:nvSpPr>
          <p:cNvPr id="3" name="Text 1"/>
          <p:cNvSpPr txBox="1"/>
          <p:nvPr/>
        </p:nvSpPr>
        <p:spPr>
          <a:xfrm>
            <a:off x="566928" y="1645920"/>
            <a:ext cx="3657600" cy="1188720"/>
          </a:xfrm>
          <a:prstGeom prst="rect">
            <a:avLst/>
          </a:prstGeom>
          <a:noFill/>
          <a:ln/>
        </p:spPr>
        <p:txBody>
          <a:bodyPr wrap="square" lIns="0" tIns="0" rIns="0" bIns="0" rtlCol="0" anchor="ctr"/>
          <a:lstStyle/>
          <a:p>
            <a:pPr marL="0" indent="0" algn="l">
              <a:buNone/>
            </a:pPr>
            <a:r>
              <a:rPr lang="ja-JP" altLang="en-US" sz="7200" b="1" dirty="0">
                <a:solidFill>
                  <a:srgbClr val="0284C7"/>
                </a:solidFill>
                <a:latin typeface="Arial" pitchFamily="34" charset="0"/>
                <a:ea typeface="Arial" pitchFamily="34" charset="-122"/>
                <a:cs typeface="Arial" pitchFamily="34" charset="-120"/>
              </a:rPr>
              <a:t>04</a:t>
            </a:r>
            <a:endParaRPr lang="ja-JP" sz="7200" dirty="0"/>
          </a:p>
        </p:txBody>
      </p:sp>
      <p:sp>
        <p:nvSpPr>
          <p:cNvPr id="4" name="Text 2"/>
          <p:cNvSpPr txBox="1"/>
          <p:nvPr/>
        </p:nvSpPr>
        <p:spPr>
          <a:xfrm>
            <a:off x="566928" y="2907792"/>
            <a:ext cx="10789920" cy="841248"/>
          </a:xfrm>
          <a:prstGeom prst="rect">
            <a:avLst/>
          </a:prstGeom>
          <a:noFill/>
          <a:ln/>
        </p:spPr>
        <p:txBody>
          <a:bodyPr wrap="square" lIns="0" tIns="0" rIns="0" bIns="0" rtlCol="0" anchor="ctr"/>
          <a:lstStyle/>
          <a:p>
            <a:pPr marL="0" indent="0" algn="l">
              <a:buNone/>
            </a:pPr>
            <a:r>
              <a:rPr lang="en-US" altLang="en-US" sz="4200" b="1" dirty="0">
                <a:solidFill>
                  <a:srgbClr val="FFFFFF"/>
                </a:solidFill>
                <a:latin typeface="Arial" pitchFamily="34" charset="0"/>
                <a:ea typeface="Arial" pitchFamily="34" charset="-122"/>
                <a:cs typeface="Arial" pitchFamily="34" charset="-120"/>
              </a:rPr>
              <a:t>Conclusion</a:t>
            </a:r>
            <a:endParaRPr lang="en-US" sz="4200" dirty="0"/>
          </a:p>
        </p:txBody>
      </p:sp>
      <p:sp>
        <p:nvSpPr>
          <p:cNvPr id="5" name="Text 3"/>
          <p:cNvSpPr txBox="1"/>
          <p:nvPr/>
        </p:nvSpPr>
        <p:spPr>
          <a:xfrm>
            <a:off x="566928" y="3895344"/>
            <a:ext cx="10789920" cy="457200"/>
          </a:xfrm>
          <a:prstGeom prst="rect">
            <a:avLst/>
          </a:prstGeom>
          <a:noFill/>
          <a:ln/>
        </p:spPr>
        <p:txBody>
          <a:bodyPr wrap="square" lIns="0" tIns="0" rIns="0" bIns="0" rtlCol="0" anchor="ctr"/>
          <a:lstStyle/>
          <a:p>
            <a:pPr marL="0" indent="0" algn="l">
              <a:buNone/>
            </a:pPr>
            <a:r>
              <a:rPr lang="en-US" altLang="en-US" sz="2000" dirty="0">
                <a:solidFill>
                  <a:srgbClr val="CBD5E1"/>
                </a:solidFill>
                <a:latin typeface="Arial" pitchFamily="34" charset="0"/>
                <a:ea typeface="Arial" pitchFamily="34" charset="-122"/>
                <a:cs typeface="Arial" pitchFamily="34" charset="-120"/>
              </a:rPr>
              <a:t>Summary / Released on GitHub</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5096" cy="237744"/>
          </a:xfrm>
          <a:prstGeom prst="rect">
            <a:avLst/>
          </a:prstGeom>
          <a:noFill/>
        </p:spPr>
        <p:txBody>
          <a:bodyPr wrap="square">
            <a:spAutoFit/>
          </a:bodyPr>
          <a:lstStyle/>
          <a:p>
            <a:r>
              <a:rPr sz="1200" b="1">
                <a:solidFill>
                  <a:srgbClr val="0284C7"/>
                </a:solidFill>
                <a:latin typeface="Arial"/>
              </a:rPr>
              <a:t>4. Conclusion</a:t>
            </a:r>
          </a:p>
        </p:txBody>
      </p:sp>
      <p:sp>
        <p:nvSpPr>
          <p:cNvPr id="3" name="TextBox 2"/>
          <p:cNvSpPr txBox="1"/>
          <p:nvPr/>
        </p:nvSpPr>
        <p:spPr>
          <a:xfrm>
            <a:off x="566928" y="566928"/>
            <a:ext cx="11055096" cy="566928"/>
          </a:xfrm>
          <a:prstGeom prst="rect">
            <a:avLst/>
          </a:prstGeom>
          <a:noFill/>
        </p:spPr>
        <p:txBody>
          <a:bodyPr wrap="square">
            <a:spAutoFit/>
          </a:bodyPr>
          <a:lstStyle/>
          <a:p>
            <a:r>
              <a:rPr sz="2800" b="1">
                <a:solidFill>
                  <a:srgbClr val="0F172A"/>
                </a:solidFill>
                <a:latin typeface="Arial"/>
              </a:rPr>
              <a:t>Summary</a:t>
            </a:r>
          </a:p>
        </p:txBody>
      </p:sp>
      <p:sp>
        <p:nvSpPr>
          <p:cNvPr id="4" name="TextBox 3"/>
          <p:cNvSpPr txBox="1"/>
          <p:nvPr/>
        </p:nvSpPr>
        <p:spPr>
          <a:xfrm>
            <a:off x="11164824" y="6492240"/>
            <a:ext cx="457200" cy="219456"/>
          </a:xfrm>
          <a:prstGeom prst="rect">
            <a:avLst/>
          </a:prstGeom>
          <a:noFill/>
          <a:ln/>
        </p:spPr>
        <p:txBody>
          <a:bodyPr wrap="square" lIns="0" tIns="0" rIns="0" bIns="0" rtlCol="0" anchor="ctr"/>
          <a:lstStyle/>
          <a:p>
            <a:pPr marL="0" indent="0" algn="r">
              <a:buNone/>
            </a:pPr>
            <a:fld id="{8B2C3E4A-5D6F-4A1B-9C2D-3E4F5A6B7C8D}" type="slidenum">
              <a:rPr lang="en-US" altLang="ja-JP" sz="1000" dirty="0">
                <a:solidFill>
                  <a:srgbClr val="94A3B8"/>
                </a:solidFill>
                <a:latin typeface="Arial" pitchFamily="34" charset="0"/>
                <a:ea typeface="Arial" pitchFamily="34" charset="-122"/>
                <a:cs typeface="Arial" pitchFamily="34" charset="-120"/>
              </a:rPr>
              <a:t>23</a:t>
            </a:fld>
            <a:endParaRPr lang="en-US" altLang="ja-JP" sz="1000" dirty="0"/>
          </a:p>
        </p:txBody>
      </p:sp>
      <p:sp>
        <p:nvSpPr>
          <p:cNvPr id="5" name="Rectangle 4"/>
          <p:cNvSpPr/>
          <p:nvPr/>
        </p:nvSpPr>
        <p:spPr>
          <a:xfrm>
            <a:off x="566928" y="1463040"/>
            <a:ext cx="11055096" cy="7772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31520" y="1696212"/>
            <a:ext cx="310896" cy="310896"/>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696212"/>
            <a:ext cx="310896" cy="310896"/>
          </a:xfrm>
          <a:prstGeom prst="rect">
            <a:avLst/>
          </a:prstGeom>
          <a:noFill/>
        </p:spPr>
        <p:txBody>
          <a:bodyPr wrap="square" anchor="ctr">
            <a:spAutoFit/>
          </a:bodyPr>
          <a:lstStyle/>
          <a:p>
            <a:pPr algn="ctr"/>
            <a:r>
              <a:rPr sz="1200" b="1">
                <a:solidFill>
                  <a:srgbClr val="FFFFFF"/>
                </a:solidFill>
                <a:latin typeface="Arial"/>
              </a:rPr>
              <a:t>1</a:t>
            </a:r>
          </a:p>
        </p:txBody>
      </p:sp>
      <p:sp>
        <p:nvSpPr>
          <p:cNvPr id="8" name="TextBox 7"/>
          <p:cNvSpPr txBox="1"/>
          <p:nvPr/>
        </p:nvSpPr>
        <p:spPr>
          <a:xfrm>
            <a:off x="1188720" y="1463040"/>
            <a:ext cx="6858000" cy="777240"/>
          </a:xfrm>
          <a:prstGeom prst="rect">
            <a:avLst/>
          </a:prstGeom>
          <a:noFill/>
        </p:spPr>
        <p:txBody>
          <a:bodyPr wrap="square" anchor="ctr">
            <a:spAutoFit/>
          </a:bodyPr>
          <a:lstStyle/>
          <a:p>
            <a:r>
              <a:rPr sz="1700" b="1">
                <a:solidFill>
                  <a:srgbClr val="0F172A"/>
                </a:solidFill>
                <a:latin typeface="Arial"/>
              </a:rPr>
              <a:t>Built a system that makes a first draft of a conference program with mathematical optimization</a:t>
            </a:r>
          </a:p>
        </p:txBody>
      </p:sp>
      <p:sp>
        <p:nvSpPr>
          <p:cNvPr id="9" name="Rectangle 8"/>
          <p:cNvSpPr/>
          <p:nvPr/>
        </p:nvSpPr>
        <p:spPr>
          <a:xfrm>
            <a:off x="566928" y="2377440"/>
            <a:ext cx="11055096" cy="7772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731520" y="2610612"/>
            <a:ext cx="310896" cy="310896"/>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2610612"/>
            <a:ext cx="310896" cy="310896"/>
          </a:xfrm>
          <a:prstGeom prst="rect">
            <a:avLst/>
          </a:prstGeom>
          <a:noFill/>
        </p:spPr>
        <p:txBody>
          <a:bodyPr wrap="square" anchor="ctr">
            <a:spAutoFit/>
          </a:bodyPr>
          <a:lstStyle/>
          <a:p>
            <a:pPr algn="ctr"/>
            <a:r>
              <a:rPr sz="1200" b="1">
                <a:solidFill>
                  <a:srgbClr val="FFFFFF"/>
                </a:solidFill>
                <a:latin typeface="Arial"/>
              </a:rPr>
              <a:t>2</a:t>
            </a:r>
          </a:p>
        </p:txBody>
      </p:sp>
      <p:sp>
        <p:nvSpPr>
          <p:cNvPr id="12" name="TextBox 11"/>
          <p:cNvSpPr txBox="1"/>
          <p:nvPr/>
        </p:nvSpPr>
        <p:spPr>
          <a:xfrm>
            <a:off x="1188720" y="2377440"/>
            <a:ext cx="6858000" cy="777240"/>
          </a:xfrm>
          <a:prstGeom prst="rect">
            <a:avLst/>
          </a:prstGeom>
          <a:noFill/>
        </p:spPr>
        <p:txBody>
          <a:bodyPr wrap="square" anchor="ctr">
            <a:spAutoFit/>
          </a:bodyPr>
          <a:lstStyle/>
          <a:p>
            <a:r>
              <a:rPr sz="1700" b="1">
                <a:solidFill>
                  <a:srgbClr val="0F172A"/>
                </a:solidFill>
                <a:latin typeface="Arial"/>
              </a:rPr>
              <a:t>Confirmed that it works with test data</a:t>
            </a:r>
          </a:p>
        </p:txBody>
      </p:sp>
      <p:sp>
        <p:nvSpPr>
          <p:cNvPr id="13" name="Rectangle 12"/>
          <p:cNvSpPr/>
          <p:nvPr/>
        </p:nvSpPr>
        <p:spPr>
          <a:xfrm>
            <a:off x="566928" y="3291840"/>
            <a:ext cx="11055096" cy="7772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31520" y="3525012"/>
            <a:ext cx="310896" cy="310896"/>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3525012"/>
            <a:ext cx="310896" cy="310896"/>
          </a:xfrm>
          <a:prstGeom prst="rect">
            <a:avLst/>
          </a:prstGeom>
          <a:noFill/>
        </p:spPr>
        <p:txBody>
          <a:bodyPr wrap="square" anchor="ctr">
            <a:spAutoFit/>
          </a:bodyPr>
          <a:lstStyle/>
          <a:p>
            <a:pPr algn="ctr"/>
            <a:r>
              <a:rPr sz="1200" b="1">
                <a:solidFill>
                  <a:srgbClr val="FFFFFF"/>
                </a:solidFill>
                <a:latin typeface="Arial"/>
              </a:rPr>
              <a:t>3</a:t>
            </a:r>
          </a:p>
        </p:txBody>
      </p:sp>
      <p:sp>
        <p:nvSpPr>
          <p:cNvPr id="16" name="TextBox 15"/>
          <p:cNvSpPr txBox="1"/>
          <p:nvPr/>
        </p:nvSpPr>
        <p:spPr>
          <a:xfrm>
            <a:off x="1188720" y="3291840"/>
            <a:ext cx="6858000" cy="777240"/>
          </a:xfrm>
          <a:prstGeom prst="rect">
            <a:avLst/>
          </a:prstGeom>
          <a:noFill/>
        </p:spPr>
        <p:txBody>
          <a:bodyPr wrap="square" anchor="ctr">
            <a:spAutoFit/>
          </a:bodyPr>
          <a:lstStyle/>
          <a:p>
            <a:r>
              <a:rPr sz="1700" b="1">
                <a:solidFill>
                  <a:srgbClr val="0F172A"/>
                </a:solidFill>
                <a:latin typeface="Arial"/>
              </a:rPr>
              <a:t>Showed that it is practical, using a real conference as a model</a:t>
            </a:r>
          </a:p>
        </p:txBody>
      </p:sp>
      <p:sp>
        <p:nvSpPr>
          <p:cNvPr id="17" name="Rectangle 16"/>
          <p:cNvSpPr/>
          <p:nvPr/>
        </p:nvSpPr>
        <p:spPr>
          <a:xfrm>
            <a:off x="566928" y="4206240"/>
            <a:ext cx="11055096" cy="777240"/>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731520" y="4439412"/>
            <a:ext cx="310896" cy="310896"/>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4439412"/>
            <a:ext cx="310896" cy="310896"/>
          </a:xfrm>
          <a:prstGeom prst="rect">
            <a:avLst/>
          </a:prstGeom>
          <a:noFill/>
        </p:spPr>
        <p:txBody>
          <a:bodyPr wrap="square" anchor="ctr">
            <a:spAutoFit/>
          </a:bodyPr>
          <a:lstStyle/>
          <a:p>
            <a:pPr algn="ctr"/>
            <a:r>
              <a:rPr sz="1200" b="1">
                <a:solidFill>
                  <a:srgbClr val="FFFFFF"/>
                </a:solidFill>
                <a:latin typeface="Arial"/>
              </a:rPr>
              <a:t>4</a:t>
            </a:r>
          </a:p>
        </p:txBody>
      </p:sp>
      <p:sp>
        <p:nvSpPr>
          <p:cNvPr id="20" name="TextBox 19"/>
          <p:cNvSpPr txBox="1"/>
          <p:nvPr/>
        </p:nvSpPr>
        <p:spPr>
          <a:xfrm>
            <a:off x="1188720" y="4206240"/>
            <a:ext cx="6858000" cy="777240"/>
          </a:xfrm>
          <a:prstGeom prst="rect">
            <a:avLst/>
          </a:prstGeom>
          <a:noFill/>
        </p:spPr>
        <p:txBody>
          <a:bodyPr wrap="square" anchor="ctr">
            <a:spAutoFit/>
          </a:bodyPr>
          <a:lstStyle/>
          <a:p>
            <a:r>
              <a:rPr sz="1700" b="1">
                <a:solidFill>
                  <a:srgbClr val="B45309"/>
                </a:solidFill>
                <a:latin typeface="Arial"/>
              </a:rPr>
              <a:t>Weak point: only for conferences where talks are about the same length</a:t>
            </a:r>
          </a:p>
        </p:txBody>
      </p:sp>
      <p:sp>
        <p:nvSpPr>
          <p:cNvPr id="21" name="Rounded Rectangle 20"/>
          <p:cNvSpPr/>
          <p:nvPr/>
        </p:nvSpPr>
        <p:spPr>
          <a:xfrm>
            <a:off x="8138160" y="1645920"/>
            <a:ext cx="3337560" cy="411480"/>
          </a:xfrm>
          <a:prstGeom prst="roundRect">
            <a:avLst>
              <a:gd name="adj" fmla="val 50000"/>
            </a:avLst>
          </a:prstGeom>
          <a:solidFill>
            <a:srgbClr val="FFFFFF"/>
          </a:solidFill>
          <a:ln w="1587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138160" y="1645920"/>
            <a:ext cx="3337560" cy="411480"/>
          </a:xfrm>
          <a:prstGeom prst="rect">
            <a:avLst/>
          </a:prstGeom>
          <a:noFill/>
        </p:spPr>
        <p:txBody>
          <a:bodyPr wrap="square" lIns="45720" tIns="22860" rIns="45720" bIns="22860" anchor="ctr">
            <a:spAutoFit/>
          </a:bodyPr>
          <a:lstStyle/>
          <a:p>
            <a:pPr algn="ctr"/>
            <a:r>
              <a:rPr sz="1300" b="1" i="0">
                <a:solidFill>
                  <a:srgbClr val="0284C7"/>
                </a:solidFill>
                <a:latin typeface="Arial"/>
              </a:rPr>
              <a:t>3 sheets · 7 columns · 1 click</a:t>
            </a:r>
          </a:p>
        </p:txBody>
      </p:sp>
      <p:sp>
        <p:nvSpPr>
          <p:cNvPr id="23" name="Rounded Rectangle 22"/>
          <p:cNvSpPr/>
          <p:nvPr/>
        </p:nvSpPr>
        <p:spPr>
          <a:xfrm>
            <a:off x="8138160" y="2560320"/>
            <a:ext cx="3337560" cy="411480"/>
          </a:xfrm>
          <a:prstGeom prst="roundRect">
            <a:avLst>
              <a:gd name="adj" fmla="val 50000"/>
            </a:avLst>
          </a:prstGeom>
          <a:solidFill>
            <a:srgbClr val="FFFFFF"/>
          </a:solidFill>
          <a:ln w="1587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138160" y="2560320"/>
            <a:ext cx="3337560" cy="411480"/>
          </a:xfrm>
          <a:prstGeom prst="rect">
            <a:avLst/>
          </a:prstGeom>
          <a:noFill/>
        </p:spPr>
        <p:txBody>
          <a:bodyPr wrap="square" lIns="45720" tIns="22860" rIns="45720" bIns="22860" anchor="ctr">
            <a:spAutoFit/>
          </a:bodyPr>
          <a:lstStyle/>
          <a:p>
            <a:pPr algn="ctr"/>
            <a:r>
              <a:rPr sz="1300" b="1" i="0">
                <a:solidFill>
                  <a:srgbClr val="0284C7"/>
                </a:solidFill>
                <a:latin typeface="Arial"/>
              </a:rPr>
              <a:t>weights work: 4 / 4 settings</a:t>
            </a:r>
          </a:p>
        </p:txBody>
      </p:sp>
      <p:sp>
        <p:nvSpPr>
          <p:cNvPr id="25" name="Rounded Rectangle 24"/>
          <p:cNvSpPr/>
          <p:nvPr/>
        </p:nvSpPr>
        <p:spPr>
          <a:xfrm>
            <a:off x="8138160" y="3474720"/>
            <a:ext cx="3337560" cy="411480"/>
          </a:xfrm>
          <a:prstGeom prst="roundRect">
            <a:avLst>
              <a:gd name="adj" fmla="val 50000"/>
            </a:avLst>
          </a:prstGeom>
          <a:solidFill>
            <a:srgbClr val="FFFFFF"/>
          </a:solidFill>
          <a:ln w="1587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138160" y="3474720"/>
            <a:ext cx="3337560" cy="411480"/>
          </a:xfrm>
          <a:prstGeom prst="rect">
            <a:avLst/>
          </a:prstGeom>
          <a:noFill/>
        </p:spPr>
        <p:txBody>
          <a:bodyPr wrap="square" lIns="45720" tIns="22860" rIns="45720" bIns="22860" anchor="ctr">
            <a:spAutoFit/>
          </a:bodyPr>
          <a:lstStyle/>
          <a:p>
            <a:pPr algn="ctr"/>
            <a:r>
              <a:rPr sz="1300" b="1" i="0">
                <a:solidFill>
                  <a:srgbClr val="0284C7"/>
                </a:solidFill>
                <a:latin typeface="Arial"/>
              </a:rPr>
              <a:t>A −1% · B −24% · C ±0% · 90 s</a:t>
            </a:r>
          </a:p>
        </p:txBody>
      </p:sp>
      <p:sp>
        <p:nvSpPr>
          <p:cNvPr id="27" name="Rounded Rectangle 26"/>
          <p:cNvSpPr/>
          <p:nvPr/>
        </p:nvSpPr>
        <p:spPr>
          <a:xfrm>
            <a:off x="8138160" y="4389120"/>
            <a:ext cx="3337560" cy="411480"/>
          </a:xfrm>
          <a:prstGeom prst="roundRect">
            <a:avLst>
              <a:gd name="adj" fmla="val 50000"/>
            </a:avLst>
          </a:prstGeom>
          <a:solidFill>
            <a:srgbClr val="FFF7ED"/>
          </a:solidFill>
          <a:ln w="15875">
            <a:solidFill>
              <a:srgbClr val="FDB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138160" y="4389120"/>
            <a:ext cx="3337560" cy="411480"/>
          </a:xfrm>
          <a:prstGeom prst="rect">
            <a:avLst/>
          </a:prstGeom>
          <a:noFill/>
        </p:spPr>
        <p:txBody>
          <a:bodyPr wrap="square" lIns="45720" tIns="22860" rIns="45720" bIns="22860" anchor="ctr">
            <a:spAutoFit/>
          </a:bodyPr>
          <a:lstStyle/>
          <a:p>
            <a:pPr algn="ctr"/>
            <a:r>
              <a:rPr sz="1300" b="1" i="0">
                <a:solidFill>
                  <a:srgbClr val="B45309"/>
                </a:solidFill>
                <a:latin typeface="Arial"/>
              </a:rPr>
              <a:t>1 talk = 1 time slot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6" name="Shape 24"/>
          <p:cNvSpPr/>
          <p:nvPr/>
        </p:nvSpPr>
        <p:spPr>
          <a:xfrm>
            <a:off x="7882128" y="1371600"/>
            <a:ext cx="3739896" cy="4617720"/>
          </a:xfrm>
          <a:prstGeom prst="roundRect">
            <a:avLst>
              <a:gd name="adj" fmla="val 1711"/>
            </a:avLst>
          </a:prstGeom>
          <a:solidFill>
            <a:srgbClr val="F8FAFC"/>
          </a:solidFill>
          <a:ln w="12700">
            <a:solidFill>
              <a:srgbClr val="E2E8F0"/>
            </a:solidFill>
            <a:prstDash val="solid"/>
          </a:ln>
        </p:spPr>
        <p:txBody>
          <a:bodyPr/>
          <a:lstStyle/>
          <a:p>
            <a:endParaRPr lang="ja-JP" altLang="en-US"/>
          </a:p>
        </p:txBody>
      </p:sp>
      <p:pic>
        <p:nvPicPr>
          <p:cNvPr id="9" name="図 8">
            <a:extLst>
              <a:ext uri="{FF2B5EF4-FFF2-40B4-BE49-F238E27FC236}">
                <a16:creationId xmlns:a16="http://schemas.microsoft.com/office/drawing/2014/main" id="{499752AA-4171-0DD0-7355-1A00677F30FF}"/>
              </a:ext>
            </a:extLst>
          </p:cNvPr>
          <p:cNvPicPr>
            <a:picLocks noChangeAspect="1"/>
          </p:cNvPicPr>
          <p:nvPr/>
        </p:nvPicPr>
        <p:blipFill>
          <a:blip r:embed="rId3"/>
          <a:stretch>
            <a:fillRect/>
          </a:stretch>
        </p:blipFill>
        <p:spPr>
          <a:xfrm>
            <a:off x="8412059" y="2230715"/>
            <a:ext cx="2680033" cy="2680033"/>
          </a:xfrm>
          <a:prstGeom prst="rect">
            <a:avLst/>
          </a:prstGeom>
          <a:ln>
            <a:solidFill>
              <a:schemeClr val="tx1"/>
            </a:solidFill>
          </a:ln>
        </p:spPr>
      </p:pic>
      <p:sp>
        <p:nvSpPr>
          <p:cNvPr id="2" name="Text 0"/>
          <p:cNvSpPr txBox="1"/>
          <p:nvPr/>
        </p:nvSpPr>
        <p:spPr>
          <a:xfrm>
            <a:off x="11164824" y="6492240"/>
            <a:ext cx="457200" cy="219456"/>
          </a:xfrm>
          <a:prstGeom prst="rect">
            <a:avLst/>
          </a:prstGeom>
          <a:noFill/>
          <a:ln/>
        </p:spPr>
        <p:txBody>
          <a:bodyPr wrap="square" lIns="0" tIns="0" rIns="0" bIns="0" rtlCol="0" anchor="ctr"/>
          <a:lstStyle/>
          <a:p>
            <a:pPr marL="0" indent="0" algn="r">
              <a:buNone/>
            </a:pPr>
            <a:fld id="{8B2C3E4A-5D6F-4A1B-9C2D-3E4F5A6B7C8D}" type="slidenum">
              <a:rPr lang="en-US" altLang="ja-JP" sz="1000" dirty="0">
                <a:solidFill>
                  <a:srgbClr val="94A3B8"/>
                </a:solidFill>
                <a:latin typeface="Arial" pitchFamily="34" charset="0"/>
                <a:ea typeface="Arial" pitchFamily="34" charset="-122"/>
                <a:cs typeface="Arial" pitchFamily="34" charset="-120"/>
              </a:rPr>
              <a:t>24</a:t>
            </a:fld>
            <a:endParaRPr lang="en-US" altLang="ja-JP" sz="1000" dirty="0"/>
          </a:p>
        </p:txBody>
      </p:sp>
      <p:sp>
        <p:nvSpPr>
          <p:cNvPr id="3" name="Text 1"/>
          <p:cNvSpPr txBox="1"/>
          <p:nvPr/>
        </p:nvSpPr>
        <p:spPr>
          <a:xfrm>
            <a:off x="566928" y="310896"/>
            <a:ext cx="11055096" cy="237744"/>
          </a:xfrm>
          <a:prstGeom prst="rect">
            <a:avLst/>
          </a:prstGeom>
          <a:noFill/>
          <a:ln/>
        </p:spPr>
        <p:txBody>
          <a:bodyPr wrap="square" lIns="0" tIns="0" rIns="0" bIns="0" rtlCol="0" anchor="ctr"/>
          <a:lstStyle/>
          <a:p>
            <a:pPr marL="0" indent="0" algn="l">
              <a:buNone/>
            </a:pPr>
            <a:r>
              <a:rPr lang="en-US" altLang="en-US" sz="1200" b="1" kern="0" spc="100" dirty="0">
                <a:solidFill>
                  <a:srgbClr val="0284C7"/>
                </a:solidFill>
                <a:latin typeface="Arial" pitchFamily="34" charset="0"/>
                <a:ea typeface="Arial" pitchFamily="34" charset="-122"/>
                <a:cs typeface="Arial" pitchFamily="34" charset="-120"/>
              </a:rPr>
              <a:t>4. Conclusion</a:t>
            </a:r>
            <a:endParaRPr lang="en-US" sz="1200" dirty="0"/>
          </a:p>
        </p:txBody>
      </p:sp>
      <p:sp>
        <p:nvSpPr>
          <p:cNvPr id="4" name="Text 2"/>
          <p:cNvSpPr txBox="1"/>
          <p:nvPr/>
        </p:nvSpPr>
        <p:spPr>
          <a:xfrm>
            <a:off x="566928" y="566928"/>
            <a:ext cx="11055096" cy="566928"/>
          </a:xfrm>
          <a:prstGeom prst="rect">
            <a:avLst/>
          </a:prstGeom>
          <a:noFill/>
          <a:ln/>
        </p:spPr>
        <p:txBody>
          <a:bodyPr wrap="square" lIns="0" tIns="0" rIns="0" bIns="0" rtlCol="0" anchor="ctr"/>
          <a:lstStyle/>
          <a:p>
            <a:pPr marL="0" indent="0" algn="l">
              <a:buNone/>
            </a:pPr>
            <a:r>
              <a:rPr lang="en-US" altLang="en-US" sz="2800" b="1" dirty="0">
                <a:solidFill>
                  <a:srgbClr val="0F172A"/>
                </a:solidFill>
                <a:latin typeface="Arial" pitchFamily="34" charset="0"/>
                <a:ea typeface="Arial" pitchFamily="34" charset="-122"/>
                <a:cs typeface="Arial" pitchFamily="34" charset="-120"/>
              </a:rPr>
              <a:t>Thank You for Your Attention</a:t>
            </a:r>
            <a:endParaRPr lang="en-US" sz="2800" dirty="0"/>
          </a:p>
        </p:txBody>
      </p:sp>
      <p:sp>
        <p:nvSpPr>
          <p:cNvPr id="5" name="Shape 3"/>
          <p:cNvSpPr/>
          <p:nvPr/>
        </p:nvSpPr>
        <p:spPr>
          <a:xfrm>
            <a:off x="566928" y="1371600"/>
            <a:ext cx="7040880" cy="1188720"/>
          </a:xfrm>
          <a:prstGeom prst="roundRect">
            <a:avLst>
              <a:gd name="adj" fmla="val 5385"/>
            </a:avLst>
          </a:prstGeom>
          <a:solidFill>
            <a:srgbClr val="F8FAFC"/>
          </a:solidFill>
          <a:ln w="12700">
            <a:solidFill>
              <a:srgbClr val="E2E8F0"/>
            </a:solidFill>
            <a:prstDash val="solid"/>
          </a:ln>
        </p:spPr>
        <p:txBody>
          <a:bodyPr/>
          <a:lstStyle/>
          <a:p>
            <a:endParaRPr lang="ja-JP" altLang="en-US"/>
          </a:p>
        </p:txBody>
      </p:sp>
      <p:sp>
        <p:nvSpPr>
          <p:cNvPr id="6" name="Text 4"/>
          <p:cNvSpPr txBox="1"/>
          <p:nvPr/>
        </p:nvSpPr>
        <p:spPr>
          <a:xfrm>
            <a:off x="841248" y="1481328"/>
            <a:ext cx="2743200" cy="292608"/>
          </a:xfrm>
          <a:prstGeom prst="rect">
            <a:avLst/>
          </a:prstGeom>
          <a:noFill/>
          <a:ln/>
        </p:spPr>
        <p:txBody>
          <a:bodyPr wrap="square" lIns="0" tIns="0" rIns="0" bIns="0" rtlCol="0" anchor="ctr"/>
          <a:lstStyle/>
          <a:p>
            <a:pPr marL="0" indent="0" algn="l">
              <a:buNone/>
            </a:pPr>
            <a:r>
              <a:rPr lang="en-US" altLang="en-US" sz="1400" b="1" dirty="0">
                <a:solidFill>
                  <a:srgbClr val="0F172A"/>
                </a:solidFill>
                <a:latin typeface="Arial" pitchFamily="34" charset="0"/>
                <a:ea typeface="Arial" pitchFamily="34" charset="-122"/>
                <a:cs typeface="Arial" pitchFamily="34" charset="-120"/>
              </a:rPr>
              <a:t>References</a:t>
            </a:r>
            <a:endParaRPr lang="en-US" sz="1400" dirty="0"/>
          </a:p>
        </p:txBody>
      </p:sp>
      <p:sp>
        <p:nvSpPr>
          <p:cNvPr id="7" name="Text 5"/>
          <p:cNvSpPr txBox="1"/>
          <p:nvPr/>
        </p:nvSpPr>
        <p:spPr>
          <a:xfrm>
            <a:off x="841248" y="1847088"/>
            <a:ext cx="6583680" cy="694944"/>
          </a:xfrm>
          <a:prstGeom prst="rect">
            <a:avLst/>
          </a:prstGeom>
          <a:noFill/>
          <a:ln/>
        </p:spPr>
        <p:txBody>
          <a:bodyPr wrap="square" lIns="0" tIns="0" rIns="0" bIns="0" rtlCol="0" anchor="t"/>
          <a:lstStyle/>
          <a:p>
            <a:pPr marL="0" indent="0" algn="l">
              <a:spcAft>
                <a:spcPts val="600"/>
              </a:spcAft>
              <a:buNone/>
            </a:pPr>
            <a:r>
              <a:rPr lang="ja-JP" altLang="en-US" sz="1300" b="1" dirty="0">
                <a:solidFill>
                  <a:srgbClr val="0284C7"/>
                </a:solidFill>
                <a:latin typeface="Arial" pitchFamily="34" charset="0"/>
                <a:ea typeface="Arial" pitchFamily="34" charset="-122"/>
                <a:cs typeface="Arial" pitchFamily="34" charset="-120"/>
              </a:rPr>
              <a:t>[1] </a:t>
            </a:r>
            <a:r>
              <a:rPr lang="ja-JP" altLang="en-US" sz="1300" dirty="0">
                <a:solidFill>
                  <a:srgbClr val="334155"/>
                </a:solidFill>
                <a:latin typeface="Arial" pitchFamily="34" charset="0"/>
                <a:ea typeface="Arial" pitchFamily="34" charset="-122"/>
                <a:cs typeface="Arial" pitchFamily="34" charset="-120"/>
              </a:rPr>
              <a:t>B. Vangerven et al. Omega. 38 (81) 2018</a:t>
            </a:r>
            <a:endParaRPr lang="ja-JP" sz="1300" dirty="0"/>
          </a:p>
          <a:p>
            <a:pPr marL="0" indent="0" algn="l">
              <a:spcAft>
                <a:spcPts val="600"/>
              </a:spcAft>
              <a:buNone/>
            </a:pPr>
            <a:r>
              <a:rPr lang="ja-JP" altLang="en-US" sz="1300" b="1" dirty="0">
                <a:solidFill>
                  <a:srgbClr val="0284C7"/>
                </a:solidFill>
                <a:latin typeface="Arial" pitchFamily="34" charset="0"/>
                <a:ea typeface="Arial" pitchFamily="34" charset="-122"/>
                <a:cs typeface="Arial" pitchFamily="34" charset="-120"/>
              </a:rPr>
              <a:t>[2] </a:t>
            </a:r>
            <a:r>
              <a:rPr lang="ja-JP" altLang="en-US" sz="1300" dirty="0">
                <a:solidFill>
                  <a:srgbClr val="334155"/>
                </a:solidFill>
                <a:latin typeface="Arial" pitchFamily="34" charset="0"/>
                <a:ea typeface="Arial" pitchFamily="34" charset="-122"/>
                <a:cs typeface="Arial" pitchFamily="34" charset="-120"/>
              </a:rPr>
              <a:t>Y. Pylyavskyy et al. Eur. J. Oper. Res. 487 (317) 2024</a:t>
            </a:r>
            <a:endParaRPr lang="ja-JP" sz="1300" dirty="0"/>
          </a:p>
        </p:txBody>
      </p:sp>
      <p:sp>
        <p:nvSpPr>
          <p:cNvPr id="8" name="Shape 6"/>
          <p:cNvSpPr/>
          <p:nvPr/>
        </p:nvSpPr>
        <p:spPr>
          <a:xfrm>
            <a:off x="566928" y="2834640"/>
            <a:ext cx="7040880" cy="3154680"/>
          </a:xfrm>
          <a:prstGeom prst="roundRect">
            <a:avLst>
              <a:gd name="adj" fmla="val 2229"/>
            </a:avLst>
          </a:prstGeom>
          <a:solidFill>
            <a:srgbClr val="F8FAFC"/>
          </a:solidFill>
          <a:ln w="12700">
            <a:solidFill>
              <a:srgbClr val="E2E8F0"/>
            </a:solidFill>
            <a:prstDash val="solid"/>
          </a:ln>
        </p:spPr>
        <p:txBody>
          <a:bodyPr/>
          <a:lstStyle/>
          <a:p>
            <a:endParaRPr lang="ja-JP" altLang="en-US"/>
          </a:p>
        </p:txBody>
      </p:sp>
      <p:sp>
        <p:nvSpPr>
          <p:cNvPr id="27" name="Text 25"/>
          <p:cNvSpPr txBox="1"/>
          <p:nvPr/>
        </p:nvSpPr>
        <p:spPr>
          <a:xfrm>
            <a:off x="8156448" y="1769364"/>
            <a:ext cx="3200400" cy="365760"/>
          </a:xfrm>
          <a:prstGeom prst="rect">
            <a:avLst/>
          </a:prstGeom>
          <a:noFill/>
          <a:ln/>
        </p:spPr>
        <p:txBody>
          <a:bodyPr wrap="square" lIns="0" tIns="0" rIns="0" bIns="0" rtlCol="0" anchor="ctr"/>
          <a:lstStyle/>
          <a:p>
            <a:pPr marL="0" indent="0" algn="ctr">
              <a:buNone/>
            </a:pPr>
            <a:r>
              <a:rPr lang="ja-JP" altLang="en-US" sz="1800" b="1" dirty="0">
                <a:solidFill>
                  <a:srgbClr val="0F172A"/>
                </a:solidFill>
                <a:latin typeface="Arial" pitchFamily="34" charset="0"/>
                <a:ea typeface="Arial" pitchFamily="34" charset="-122"/>
                <a:cs typeface="Arial" pitchFamily="34" charset="-120"/>
              </a:rPr>
              <a:t>GitHub</a:t>
            </a:r>
            <a:endParaRPr lang="ja-JP" sz="1800" dirty="0"/>
          </a:p>
        </p:txBody>
      </p:sp>
      <p:sp>
        <p:nvSpPr>
          <p:cNvPr id="30" name="Text 28"/>
          <p:cNvSpPr txBox="1"/>
          <p:nvPr/>
        </p:nvSpPr>
        <p:spPr>
          <a:xfrm>
            <a:off x="7996427" y="4951476"/>
            <a:ext cx="3511296" cy="274320"/>
          </a:xfrm>
          <a:prstGeom prst="rect">
            <a:avLst/>
          </a:prstGeom>
          <a:noFill/>
          <a:ln/>
        </p:spPr>
        <p:txBody>
          <a:bodyPr wrap="square" lIns="0" tIns="0" rIns="0" bIns="0" rtlCol="0" anchor="ctr"/>
          <a:lstStyle/>
          <a:p>
            <a:pPr algn="ctr"/>
            <a:r>
              <a:rPr lang="en-US" altLang="en-US" sz="1150" dirty="0">
                <a:solidFill>
                  <a:srgbClr val="64748B"/>
                </a:solidFill>
                <a:latin typeface="Arial" pitchFamily="34" charset="0"/>
                <a:ea typeface="Arial" pitchFamily="34" charset="-122"/>
                <a:cs typeface="Arial" pitchFamily="34" charset="-120"/>
              </a:rPr>
              <a:t>https://</a:t>
            </a:r>
            <a:r>
              <a:rPr lang="en-US" altLang="en-US" sz="1150" dirty="0" err="1">
                <a:solidFill>
                  <a:srgbClr val="64748B"/>
                </a:solidFill>
                <a:latin typeface="Arial" pitchFamily="34" charset="0"/>
                <a:ea typeface="Arial" pitchFamily="34" charset="-122"/>
                <a:cs typeface="Arial" pitchFamily="34" charset="-120"/>
              </a:rPr>
              <a:t>github.com</a:t>
            </a:r>
            <a:r>
              <a:rPr lang="en-US" altLang="en-US" sz="1150" dirty="0">
                <a:solidFill>
                  <a:srgbClr val="64748B"/>
                </a:solidFill>
                <a:latin typeface="Arial" pitchFamily="34" charset="0"/>
                <a:ea typeface="Arial" pitchFamily="34" charset="-122"/>
                <a:cs typeface="Arial" pitchFamily="34" charset="-120"/>
              </a:rPr>
              <a:t>/Tachyon327/Conference-Scheduler</a:t>
            </a:r>
            <a:endParaRPr lang="en-US" sz="1150" dirty="0"/>
          </a:p>
        </p:txBody>
      </p:sp>
      <p:sp>
        <p:nvSpPr>
          <p:cNvPr id="31" name="TextBox 30"/>
          <p:cNvSpPr txBox="1"/>
          <p:nvPr/>
        </p:nvSpPr>
        <p:spPr>
          <a:xfrm>
            <a:off x="841248" y="2980944"/>
            <a:ext cx="4572000" cy="292608"/>
          </a:xfrm>
          <a:prstGeom prst="rect">
            <a:avLst/>
          </a:prstGeom>
          <a:noFill/>
        </p:spPr>
        <p:txBody>
          <a:bodyPr wrap="square" lIns="45720" tIns="22860" rIns="45720" bIns="22860">
            <a:spAutoFit/>
          </a:bodyPr>
          <a:lstStyle/>
          <a:p>
            <a:r>
              <a:rPr sz="1400" b="1" i="0">
                <a:solidFill>
                  <a:srgbClr val="0284C7"/>
                </a:solidFill>
                <a:latin typeface="Arial"/>
              </a:rPr>
              <a:t>Appendix (A1–A13)</a:t>
            </a:r>
          </a:p>
        </p:txBody>
      </p:sp>
      <p:sp>
        <p:nvSpPr>
          <p:cNvPr id="32" name="Rounded Rectangle 31"/>
          <p:cNvSpPr/>
          <p:nvPr/>
        </p:nvSpPr>
        <p:spPr>
          <a:xfrm>
            <a:off x="841248" y="3364992"/>
            <a:ext cx="594360" cy="265176"/>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41248" y="3364992"/>
            <a:ext cx="594360" cy="265176"/>
          </a:xfrm>
          <a:prstGeom prst="rect">
            <a:avLst/>
          </a:prstGeom>
          <a:noFill/>
        </p:spPr>
        <p:txBody>
          <a:bodyPr wrap="square" lIns="45720" tIns="22860" rIns="45720" bIns="22860" anchor="ctr">
            <a:spAutoFit/>
          </a:bodyPr>
          <a:lstStyle/>
          <a:p>
            <a:pPr algn="ctr"/>
            <a:r>
              <a:rPr sz="1000" b="1" i="0">
                <a:solidFill>
                  <a:srgbClr val="0C4A6E"/>
                </a:solidFill>
                <a:latin typeface="Arial"/>
              </a:rPr>
              <a:t>A1</a:t>
            </a:r>
          </a:p>
        </p:txBody>
      </p:sp>
      <p:sp>
        <p:nvSpPr>
          <p:cNvPr id="34" name="TextBox 33"/>
          <p:cNvSpPr txBox="1"/>
          <p:nvPr/>
        </p:nvSpPr>
        <p:spPr>
          <a:xfrm>
            <a:off x="1508760" y="3346704"/>
            <a:ext cx="2560320" cy="301752"/>
          </a:xfrm>
          <a:prstGeom prst="rect">
            <a:avLst/>
          </a:prstGeom>
          <a:noFill/>
        </p:spPr>
        <p:txBody>
          <a:bodyPr wrap="square" lIns="45720" tIns="22860" rIns="45720" bIns="22860">
            <a:spAutoFit/>
          </a:bodyPr>
          <a:lstStyle/>
          <a:p>
            <a:r>
              <a:rPr sz="1200" b="0" i="0">
                <a:solidFill>
                  <a:srgbClr val="0F172A"/>
                </a:solidFill>
                <a:latin typeface="Arial"/>
              </a:rPr>
              <a:t>Roadmap</a:t>
            </a:r>
          </a:p>
        </p:txBody>
      </p:sp>
      <p:sp>
        <p:nvSpPr>
          <p:cNvPr id="35" name="Rounded Rectangle 34"/>
          <p:cNvSpPr/>
          <p:nvPr/>
        </p:nvSpPr>
        <p:spPr>
          <a:xfrm>
            <a:off x="841248" y="3694176"/>
            <a:ext cx="594360" cy="265176"/>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41248" y="3694176"/>
            <a:ext cx="594360" cy="265176"/>
          </a:xfrm>
          <a:prstGeom prst="rect">
            <a:avLst/>
          </a:prstGeom>
          <a:noFill/>
        </p:spPr>
        <p:txBody>
          <a:bodyPr wrap="square" lIns="45720" tIns="22860" rIns="45720" bIns="22860" anchor="ctr">
            <a:spAutoFit/>
          </a:bodyPr>
          <a:lstStyle/>
          <a:p>
            <a:pPr algn="ctr"/>
            <a:r>
              <a:rPr sz="1000" b="1" i="0">
                <a:solidFill>
                  <a:srgbClr val="0C4A6E"/>
                </a:solidFill>
                <a:latin typeface="Arial"/>
              </a:rPr>
              <a:t>A2</a:t>
            </a:r>
          </a:p>
        </p:txBody>
      </p:sp>
      <p:sp>
        <p:nvSpPr>
          <p:cNvPr id="37" name="TextBox 36"/>
          <p:cNvSpPr txBox="1"/>
          <p:nvPr/>
        </p:nvSpPr>
        <p:spPr>
          <a:xfrm>
            <a:off x="1508760" y="3675888"/>
            <a:ext cx="2560320" cy="301752"/>
          </a:xfrm>
          <a:prstGeom prst="rect">
            <a:avLst/>
          </a:prstGeom>
          <a:noFill/>
        </p:spPr>
        <p:txBody>
          <a:bodyPr wrap="square" lIns="45720" tIns="22860" rIns="45720" bIns="22860">
            <a:spAutoFit/>
          </a:bodyPr>
          <a:lstStyle/>
          <a:p>
            <a:r>
              <a:rPr sz="1200" b="0" i="0">
                <a:solidFill>
                  <a:srgbClr val="0F172A"/>
                </a:solidFill>
                <a:latin typeface="Arial"/>
              </a:rPr>
              <a:t>Survey answers</a:t>
            </a:r>
          </a:p>
        </p:txBody>
      </p:sp>
      <p:sp>
        <p:nvSpPr>
          <p:cNvPr id="38" name="Rounded Rectangle 37"/>
          <p:cNvSpPr/>
          <p:nvPr/>
        </p:nvSpPr>
        <p:spPr>
          <a:xfrm>
            <a:off x="841248" y="4023360"/>
            <a:ext cx="594360" cy="265176"/>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41248" y="4023360"/>
            <a:ext cx="594360" cy="265176"/>
          </a:xfrm>
          <a:prstGeom prst="rect">
            <a:avLst/>
          </a:prstGeom>
          <a:noFill/>
        </p:spPr>
        <p:txBody>
          <a:bodyPr wrap="square" lIns="45720" tIns="22860" rIns="45720" bIns="22860" anchor="ctr">
            <a:spAutoFit/>
          </a:bodyPr>
          <a:lstStyle/>
          <a:p>
            <a:pPr algn="ctr"/>
            <a:r>
              <a:rPr sz="1000" b="1" i="0">
                <a:solidFill>
                  <a:srgbClr val="0C4A6E"/>
                </a:solidFill>
                <a:latin typeface="Arial"/>
              </a:rPr>
              <a:t>A3</a:t>
            </a:r>
          </a:p>
        </p:txBody>
      </p:sp>
      <p:sp>
        <p:nvSpPr>
          <p:cNvPr id="40" name="TextBox 39"/>
          <p:cNvSpPr txBox="1"/>
          <p:nvPr/>
        </p:nvSpPr>
        <p:spPr>
          <a:xfrm>
            <a:off x="1508760" y="4005072"/>
            <a:ext cx="2560320" cy="301752"/>
          </a:xfrm>
          <a:prstGeom prst="rect">
            <a:avLst/>
          </a:prstGeom>
          <a:noFill/>
        </p:spPr>
        <p:txBody>
          <a:bodyPr wrap="square" lIns="45720" tIns="22860" rIns="45720" bIns="22860">
            <a:spAutoFit/>
          </a:bodyPr>
          <a:lstStyle/>
          <a:p>
            <a:r>
              <a:rPr sz="1200" b="0" i="0">
                <a:solidFill>
                  <a:srgbClr val="0F172A"/>
                </a:solidFill>
                <a:latin typeface="Arial"/>
              </a:rPr>
              <a:t>Changes since the Abstract</a:t>
            </a:r>
          </a:p>
        </p:txBody>
      </p:sp>
      <p:sp>
        <p:nvSpPr>
          <p:cNvPr id="41" name="Rounded Rectangle 40"/>
          <p:cNvSpPr/>
          <p:nvPr/>
        </p:nvSpPr>
        <p:spPr>
          <a:xfrm>
            <a:off x="841248" y="4352544"/>
            <a:ext cx="594360" cy="265176"/>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41248" y="4352544"/>
            <a:ext cx="594360" cy="265176"/>
          </a:xfrm>
          <a:prstGeom prst="rect">
            <a:avLst/>
          </a:prstGeom>
          <a:noFill/>
        </p:spPr>
        <p:txBody>
          <a:bodyPr wrap="square" lIns="45720" tIns="22860" rIns="45720" bIns="22860" anchor="ctr">
            <a:spAutoFit/>
          </a:bodyPr>
          <a:lstStyle/>
          <a:p>
            <a:pPr algn="ctr"/>
            <a:r>
              <a:rPr sz="1000" b="1" i="0">
                <a:solidFill>
                  <a:srgbClr val="0C4A6E"/>
                </a:solidFill>
                <a:latin typeface="Arial"/>
              </a:rPr>
              <a:t>A4</a:t>
            </a:r>
          </a:p>
        </p:txBody>
      </p:sp>
      <p:sp>
        <p:nvSpPr>
          <p:cNvPr id="43" name="TextBox 42"/>
          <p:cNvSpPr txBox="1"/>
          <p:nvPr/>
        </p:nvSpPr>
        <p:spPr>
          <a:xfrm>
            <a:off x="1508760" y="4334256"/>
            <a:ext cx="2560320" cy="301752"/>
          </a:xfrm>
          <a:prstGeom prst="rect">
            <a:avLst/>
          </a:prstGeom>
          <a:noFill/>
        </p:spPr>
        <p:txBody>
          <a:bodyPr wrap="square" lIns="45720" tIns="22860" rIns="45720" bIns="22860">
            <a:spAutoFit/>
          </a:bodyPr>
          <a:lstStyle/>
          <a:p>
            <a:r>
              <a:rPr sz="1200" b="0" i="0">
                <a:solidFill>
                  <a:srgbClr val="0F172A"/>
                </a:solidFill>
                <a:latin typeface="Arial"/>
              </a:rPr>
              <a:t>App settings</a:t>
            </a:r>
          </a:p>
        </p:txBody>
      </p:sp>
      <p:sp>
        <p:nvSpPr>
          <p:cNvPr id="44" name="Rounded Rectangle 43"/>
          <p:cNvSpPr/>
          <p:nvPr/>
        </p:nvSpPr>
        <p:spPr>
          <a:xfrm>
            <a:off x="841248" y="4681728"/>
            <a:ext cx="594360" cy="265176"/>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41248" y="4681728"/>
            <a:ext cx="594360" cy="265176"/>
          </a:xfrm>
          <a:prstGeom prst="rect">
            <a:avLst/>
          </a:prstGeom>
          <a:noFill/>
        </p:spPr>
        <p:txBody>
          <a:bodyPr wrap="square" lIns="45720" tIns="22860" rIns="45720" bIns="22860" anchor="ctr">
            <a:spAutoFit/>
          </a:bodyPr>
          <a:lstStyle/>
          <a:p>
            <a:pPr algn="ctr"/>
            <a:r>
              <a:rPr sz="1000" b="1" i="0">
                <a:solidFill>
                  <a:srgbClr val="0C4A6E"/>
                </a:solidFill>
                <a:latin typeface="Arial"/>
              </a:rPr>
              <a:t>A5</a:t>
            </a:r>
          </a:p>
        </p:txBody>
      </p:sp>
      <p:sp>
        <p:nvSpPr>
          <p:cNvPr id="46" name="TextBox 45"/>
          <p:cNvSpPr txBox="1"/>
          <p:nvPr/>
        </p:nvSpPr>
        <p:spPr>
          <a:xfrm>
            <a:off x="1508760" y="4663440"/>
            <a:ext cx="2560320" cy="301752"/>
          </a:xfrm>
          <a:prstGeom prst="rect">
            <a:avLst/>
          </a:prstGeom>
          <a:noFill/>
        </p:spPr>
        <p:txBody>
          <a:bodyPr wrap="square" lIns="45720" tIns="22860" rIns="45720" bIns="22860">
            <a:spAutoFit/>
          </a:bodyPr>
          <a:lstStyle/>
          <a:p>
            <a:r>
              <a:rPr sz="1200" b="0" i="0">
                <a:solidFill>
                  <a:srgbClr val="0F172A"/>
                </a:solidFill>
                <a:latin typeface="Arial"/>
              </a:rPr>
              <a:t>Optimization (more)</a:t>
            </a:r>
          </a:p>
        </p:txBody>
      </p:sp>
      <p:sp>
        <p:nvSpPr>
          <p:cNvPr id="47" name="Rounded Rectangle 46"/>
          <p:cNvSpPr/>
          <p:nvPr/>
        </p:nvSpPr>
        <p:spPr>
          <a:xfrm>
            <a:off x="841248" y="5010912"/>
            <a:ext cx="594360" cy="265176"/>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41248" y="5010912"/>
            <a:ext cx="594360" cy="265176"/>
          </a:xfrm>
          <a:prstGeom prst="rect">
            <a:avLst/>
          </a:prstGeom>
          <a:noFill/>
        </p:spPr>
        <p:txBody>
          <a:bodyPr wrap="square" lIns="45720" tIns="22860" rIns="45720" bIns="22860" anchor="ctr">
            <a:spAutoFit/>
          </a:bodyPr>
          <a:lstStyle/>
          <a:p>
            <a:pPr algn="ctr"/>
            <a:r>
              <a:rPr sz="1000" b="1" i="0">
                <a:solidFill>
                  <a:srgbClr val="0C4A6E"/>
                </a:solidFill>
                <a:latin typeface="Arial"/>
              </a:rPr>
              <a:t>A6</a:t>
            </a:r>
          </a:p>
        </p:txBody>
      </p:sp>
      <p:sp>
        <p:nvSpPr>
          <p:cNvPr id="49" name="TextBox 48"/>
          <p:cNvSpPr txBox="1"/>
          <p:nvPr/>
        </p:nvSpPr>
        <p:spPr>
          <a:xfrm>
            <a:off x="1508760" y="4992624"/>
            <a:ext cx="2560320" cy="301752"/>
          </a:xfrm>
          <a:prstGeom prst="rect">
            <a:avLst/>
          </a:prstGeom>
          <a:noFill/>
        </p:spPr>
        <p:txBody>
          <a:bodyPr wrap="square" lIns="45720" tIns="22860" rIns="45720" bIns="22860">
            <a:spAutoFit/>
          </a:bodyPr>
          <a:lstStyle/>
          <a:p>
            <a:r>
              <a:rPr sz="1200" b="0" i="0">
                <a:solidFill>
                  <a:srgbClr val="0F172A"/>
                </a:solidFill>
                <a:latin typeface="Arial"/>
              </a:rPr>
              <a:t>Variables &amp; constraints</a:t>
            </a:r>
          </a:p>
        </p:txBody>
      </p:sp>
      <p:sp>
        <p:nvSpPr>
          <p:cNvPr id="69" name="Rounded Rectangle 69"/>
          <p:cNvSpPr/>
          <p:nvPr/>
        </p:nvSpPr>
        <p:spPr>
          <a:xfrm>
            <a:off x="841248" y="5340096"/>
            <a:ext cx="594360" cy="265176"/>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70"/>
          <p:cNvSpPr txBox="1"/>
          <p:nvPr/>
        </p:nvSpPr>
        <p:spPr>
          <a:xfrm>
            <a:off x="841248" y="5340096"/>
            <a:ext cx="594360" cy="265176"/>
          </a:xfrm>
          <a:prstGeom prst="rect">
            <a:avLst/>
          </a:prstGeom>
          <a:noFill/>
        </p:spPr>
        <p:txBody>
          <a:bodyPr wrap="square" lIns="45720" tIns="22860" rIns="45720" bIns="22860" anchor="ctr">
            <a:spAutoFit/>
          </a:bodyPr>
          <a:lstStyle/>
          <a:p>
            <a:pPr algn="ctr"/>
            <a:r>
              <a:rPr sz="1000" b="1" i="0">
                <a:solidFill>
                  <a:srgbClr val="0C4A6E"/>
                </a:solidFill>
                <a:latin typeface="Arial"/>
              </a:rPr>
              <a:t>A7</a:t>
            </a:r>
          </a:p>
        </p:txBody>
      </p:sp>
      <p:sp>
        <p:nvSpPr>
          <p:cNvPr id="71" name="TextBox 71"/>
          <p:cNvSpPr txBox="1"/>
          <p:nvPr/>
        </p:nvSpPr>
        <p:spPr>
          <a:xfrm>
            <a:off x="1508760" y="5321808"/>
            <a:ext cx="2560320" cy="301752"/>
          </a:xfrm>
          <a:prstGeom prst="rect">
            <a:avLst/>
          </a:prstGeom>
          <a:noFill/>
        </p:spPr>
        <p:txBody>
          <a:bodyPr wrap="square" lIns="45720" tIns="22860" rIns="45720" bIns="22860">
            <a:spAutoFit/>
          </a:bodyPr>
          <a:lstStyle/>
          <a:p>
            <a:r>
              <a:rPr sz="1200" b="0" i="0">
                <a:solidFill>
                  <a:srgbClr val="0F172A"/>
                </a:solidFill>
                <a:latin typeface="Arial"/>
              </a:rPr>
              <a:t>Objective function</a:t>
            </a:r>
          </a:p>
        </p:txBody>
      </p:sp>
      <p:sp>
        <p:nvSpPr>
          <p:cNvPr id="50" name="Rounded Rectangle 49"/>
          <p:cNvSpPr/>
          <p:nvPr/>
        </p:nvSpPr>
        <p:spPr>
          <a:xfrm>
            <a:off x="4178808" y="3364992"/>
            <a:ext cx="594360" cy="265176"/>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178808" y="3364992"/>
            <a:ext cx="594360" cy="265176"/>
          </a:xfrm>
          <a:prstGeom prst="rect">
            <a:avLst/>
          </a:prstGeom>
          <a:noFill/>
        </p:spPr>
        <p:txBody>
          <a:bodyPr wrap="square" lIns="45720" tIns="22860" rIns="45720" bIns="22860" anchor="ctr">
            <a:spAutoFit/>
          </a:bodyPr>
          <a:lstStyle/>
          <a:p>
            <a:pPr algn="ctr"/>
            <a:r>
              <a:rPr sz="1000" b="1" i="0">
                <a:solidFill>
                  <a:srgbClr val="0C4A6E"/>
                </a:solidFill>
                <a:latin typeface="Arial"/>
              </a:rPr>
              <a:t>A8</a:t>
            </a:r>
          </a:p>
        </p:txBody>
      </p:sp>
      <p:sp>
        <p:nvSpPr>
          <p:cNvPr id="52" name="TextBox 51"/>
          <p:cNvSpPr txBox="1"/>
          <p:nvPr/>
        </p:nvSpPr>
        <p:spPr>
          <a:xfrm>
            <a:off x="4846320" y="3346704"/>
            <a:ext cx="2560320" cy="301752"/>
          </a:xfrm>
          <a:prstGeom prst="rect">
            <a:avLst/>
          </a:prstGeom>
          <a:noFill/>
        </p:spPr>
        <p:txBody>
          <a:bodyPr wrap="square" lIns="45720" tIns="22860" rIns="45720" bIns="22860">
            <a:spAutoFit/>
          </a:bodyPr>
          <a:lstStyle/>
          <a:p>
            <a:r>
              <a:rPr sz="1200" b="0" i="0">
                <a:solidFill>
                  <a:srgbClr val="0F172A"/>
                </a:solidFill>
                <a:latin typeface="Arial"/>
              </a:rPr>
              <a:t>Test 1: input data</a:t>
            </a:r>
          </a:p>
        </p:txBody>
      </p:sp>
      <p:sp>
        <p:nvSpPr>
          <p:cNvPr id="53" name="Rounded Rectangle 52"/>
          <p:cNvSpPr/>
          <p:nvPr/>
        </p:nvSpPr>
        <p:spPr>
          <a:xfrm>
            <a:off x="4178808" y="3694176"/>
            <a:ext cx="594360" cy="265176"/>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4178808" y="3694176"/>
            <a:ext cx="594360" cy="265176"/>
          </a:xfrm>
          <a:prstGeom prst="rect">
            <a:avLst/>
          </a:prstGeom>
          <a:noFill/>
        </p:spPr>
        <p:txBody>
          <a:bodyPr wrap="square" lIns="45720" tIns="22860" rIns="45720" bIns="22860" anchor="ctr">
            <a:spAutoFit/>
          </a:bodyPr>
          <a:lstStyle/>
          <a:p>
            <a:pPr algn="ctr"/>
            <a:r>
              <a:rPr sz="1000" b="1" i="0">
                <a:solidFill>
                  <a:srgbClr val="0C4A6E"/>
                </a:solidFill>
                <a:latin typeface="Arial"/>
              </a:rPr>
              <a:t>A9</a:t>
            </a:r>
          </a:p>
        </p:txBody>
      </p:sp>
      <p:sp>
        <p:nvSpPr>
          <p:cNvPr id="55" name="TextBox 54"/>
          <p:cNvSpPr txBox="1"/>
          <p:nvPr/>
        </p:nvSpPr>
        <p:spPr>
          <a:xfrm>
            <a:off x="4846320" y="3675888"/>
            <a:ext cx="2560320" cy="301752"/>
          </a:xfrm>
          <a:prstGeom prst="rect">
            <a:avLst/>
          </a:prstGeom>
          <a:noFill/>
        </p:spPr>
        <p:txBody>
          <a:bodyPr wrap="square" lIns="45720" tIns="22860" rIns="45720" bIns="22860">
            <a:spAutoFit/>
          </a:bodyPr>
          <a:lstStyle/>
          <a:p>
            <a:r>
              <a:rPr sz="1200" b="0" i="0">
                <a:solidFill>
                  <a:srgbClr val="0F172A"/>
                </a:solidFill>
                <a:latin typeface="Arial"/>
              </a:rPr>
              <a:t>Test 1: results</a:t>
            </a:r>
          </a:p>
        </p:txBody>
      </p:sp>
      <p:sp>
        <p:nvSpPr>
          <p:cNvPr id="56" name="Rounded Rectangle 55"/>
          <p:cNvSpPr/>
          <p:nvPr/>
        </p:nvSpPr>
        <p:spPr>
          <a:xfrm>
            <a:off x="4178808" y="4023360"/>
            <a:ext cx="594360" cy="265176"/>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4178808" y="4023360"/>
            <a:ext cx="594360" cy="265176"/>
          </a:xfrm>
          <a:prstGeom prst="rect">
            <a:avLst/>
          </a:prstGeom>
          <a:noFill/>
        </p:spPr>
        <p:txBody>
          <a:bodyPr wrap="square" lIns="45720" tIns="22860" rIns="45720" bIns="22860" anchor="ctr">
            <a:spAutoFit/>
          </a:bodyPr>
          <a:lstStyle/>
          <a:p>
            <a:pPr algn="ctr"/>
            <a:r>
              <a:rPr sz="1000" b="1" i="0">
                <a:solidFill>
                  <a:srgbClr val="0C4A6E"/>
                </a:solidFill>
                <a:latin typeface="Arial"/>
              </a:rPr>
              <a:t>A10</a:t>
            </a:r>
          </a:p>
        </p:txBody>
      </p:sp>
      <p:sp>
        <p:nvSpPr>
          <p:cNvPr id="58" name="TextBox 57"/>
          <p:cNvSpPr txBox="1"/>
          <p:nvPr/>
        </p:nvSpPr>
        <p:spPr>
          <a:xfrm>
            <a:off x="4846320" y="4005072"/>
            <a:ext cx="2560320" cy="301752"/>
          </a:xfrm>
          <a:prstGeom prst="rect">
            <a:avLst/>
          </a:prstGeom>
          <a:noFill/>
        </p:spPr>
        <p:txBody>
          <a:bodyPr wrap="square" lIns="45720" tIns="22860" rIns="45720" bIns="22860">
            <a:spAutoFit/>
          </a:bodyPr>
          <a:lstStyle/>
          <a:p>
            <a:r>
              <a:rPr sz="1200" b="0" i="0">
                <a:solidFill>
                  <a:srgbClr val="0F172A"/>
                </a:solidFill>
                <a:latin typeface="Arial"/>
              </a:rPr>
              <a:t>Test 2: data</a:t>
            </a:r>
          </a:p>
        </p:txBody>
      </p:sp>
      <p:sp>
        <p:nvSpPr>
          <p:cNvPr id="59" name="Rounded Rectangle 58"/>
          <p:cNvSpPr/>
          <p:nvPr/>
        </p:nvSpPr>
        <p:spPr>
          <a:xfrm>
            <a:off x="4178808" y="4352544"/>
            <a:ext cx="594360" cy="265176"/>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4178808" y="4352544"/>
            <a:ext cx="594360" cy="265176"/>
          </a:xfrm>
          <a:prstGeom prst="rect">
            <a:avLst/>
          </a:prstGeom>
          <a:noFill/>
        </p:spPr>
        <p:txBody>
          <a:bodyPr wrap="square" lIns="45720" tIns="22860" rIns="45720" bIns="22860" anchor="ctr">
            <a:spAutoFit/>
          </a:bodyPr>
          <a:lstStyle/>
          <a:p>
            <a:pPr algn="ctr"/>
            <a:r>
              <a:rPr sz="1000" b="1" i="0">
                <a:solidFill>
                  <a:srgbClr val="0C4A6E"/>
                </a:solidFill>
                <a:latin typeface="Arial"/>
              </a:rPr>
              <a:t>A11</a:t>
            </a:r>
          </a:p>
        </p:txBody>
      </p:sp>
      <p:sp>
        <p:nvSpPr>
          <p:cNvPr id="61" name="TextBox 60"/>
          <p:cNvSpPr txBox="1"/>
          <p:nvPr/>
        </p:nvSpPr>
        <p:spPr>
          <a:xfrm>
            <a:off x="4846320" y="4334256"/>
            <a:ext cx="2560320" cy="301752"/>
          </a:xfrm>
          <a:prstGeom prst="rect">
            <a:avLst/>
          </a:prstGeom>
          <a:noFill/>
        </p:spPr>
        <p:txBody>
          <a:bodyPr wrap="square" lIns="45720" tIns="22860" rIns="45720" bIns="22860">
            <a:spAutoFit/>
          </a:bodyPr>
          <a:lstStyle/>
          <a:p>
            <a:r>
              <a:rPr sz="1200" b="0" i="0">
                <a:solidFill>
                  <a:srgbClr val="0F172A"/>
                </a:solidFill>
                <a:latin typeface="Arial"/>
              </a:rPr>
              <a:t>Test 2: results</a:t>
            </a:r>
          </a:p>
        </p:txBody>
      </p:sp>
      <p:sp>
        <p:nvSpPr>
          <p:cNvPr id="62" name="Rounded Rectangle 61"/>
          <p:cNvSpPr/>
          <p:nvPr/>
        </p:nvSpPr>
        <p:spPr>
          <a:xfrm>
            <a:off x="4178808" y="4681728"/>
            <a:ext cx="594360" cy="265176"/>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4178808" y="4681728"/>
            <a:ext cx="594360" cy="265176"/>
          </a:xfrm>
          <a:prstGeom prst="rect">
            <a:avLst/>
          </a:prstGeom>
          <a:noFill/>
        </p:spPr>
        <p:txBody>
          <a:bodyPr wrap="square" lIns="45720" tIns="22860" rIns="45720" bIns="22860" anchor="ctr">
            <a:spAutoFit/>
          </a:bodyPr>
          <a:lstStyle/>
          <a:p>
            <a:pPr algn="ctr"/>
            <a:r>
              <a:rPr sz="1000" b="1" i="0">
                <a:solidFill>
                  <a:srgbClr val="0C4A6E"/>
                </a:solidFill>
                <a:latin typeface="Arial"/>
              </a:rPr>
              <a:t>A12</a:t>
            </a:r>
          </a:p>
        </p:txBody>
      </p:sp>
      <p:sp>
        <p:nvSpPr>
          <p:cNvPr id="64" name="TextBox 63"/>
          <p:cNvSpPr txBox="1"/>
          <p:nvPr/>
        </p:nvSpPr>
        <p:spPr>
          <a:xfrm>
            <a:off x="4846320" y="4663440"/>
            <a:ext cx="2560320" cy="301752"/>
          </a:xfrm>
          <a:prstGeom prst="rect">
            <a:avLst/>
          </a:prstGeom>
          <a:noFill/>
        </p:spPr>
        <p:txBody>
          <a:bodyPr wrap="square" lIns="45720" tIns="22860" rIns="45720" bIns="22860">
            <a:spAutoFit/>
          </a:bodyPr>
          <a:lstStyle/>
          <a:p>
            <a:r>
              <a:rPr sz="1200" b="0" i="0">
                <a:solidFill>
                  <a:srgbClr val="0F172A"/>
                </a:solidFill>
                <a:latin typeface="Arial"/>
              </a:rPr>
              <a:t>PuLP / CBC / HiGHS</a:t>
            </a:r>
          </a:p>
        </p:txBody>
      </p:sp>
      <p:sp>
        <p:nvSpPr>
          <p:cNvPr id="65" name="Rounded Rectangle 64"/>
          <p:cNvSpPr/>
          <p:nvPr/>
        </p:nvSpPr>
        <p:spPr>
          <a:xfrm>
            <a:off x="4178808" y="5010912"/>
            <a:ext cx="594360" cy="265176"/>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4178808" y="5010912"/>
            <a:ext cx="594360" cy="265176"/>
          </a:xfrm>
          <a:prstGeom prst="rect">
            <a:avLst/>
          </a:prstGeom>
          <a:noFill/>
        </p:spPr>
        <p:txBody>
          <a:bodyPr wrap="square" lIns="45720" tIns="22860" rIns="45720" bIns="22860" anchor="ctr">
            <a:spAutoFit/>
          </a:bodyPr>
          <a:lstStyle/>
          <a:p>
            <a:pPr algn="ctr"/>
            <a:r>
              <a:rPr sz="1000" b="1" i="0">
                <a:solidFill>
                  <a:srgbClr val="0C4A6E"/>
                </a:solidFill>
                <a:latin typeface="Arial"/>
              </a:rPr>
              <a:t>A13</a:t>
            </a:r>
          </a:p>
        </p:txBody>
      </p:sp>
      <p:sp>
        <p:nvSpPr>
          <p:cNvPr id="67" name="TextBox 66"/>
          <p:cNvSpPr txBox="1"/>
          <p:nvPr/>
        </p:nvSpPr>
        <p:spPr>
          <a:xfrm>
            <a:off x="4846320" y="4992624"/>
            <a:ext cx="2560320" cy="301752"/>
          </a:xfrm>
          <a:prstGeom prst="rect">
            <a:avLst/>
          </a:prstGeom>
          <a:noFill/>
        </p:spPr>
        <p:txBody>
          <a:bodyPr wrap="square" lIns="45720" tIns="22860" rIns="45720" bIns="22860">
            <a:spAutoFit/>
          </a:bodyPr>
          <a:lstStyle/>
          <a:p>
            <a:r>
              <a:rPr sz="1200" b="0" i="0">
                <a:solidFill>
                  <a:srgbClr val="0F172A"/>
                </a:solidFill>
                <a:latin typeface="Arial"/>
              </a:rPr>
              <a:t>Previous studies</a:t>
            </a:r>
          </a:p>
        </p:txBody>
      </p:sp>
      <p:sp>
        <p:nvSpPr>
          <p:cNvPr id="68" name="TextBox 67"/>
          <p:cNvSpPr txBox="1"/>
          <p:nvPr/>
        </p:nvSpPr>
        <p:spPr>
          <a:xfrm>
            <a:off x="841248" y="5669280"/>
            <a:ext cx="6583680" cy="215444"/>
          </a:xfrm>
          <a:prstGeom prst="rect">
            <a:avLst/>
          </a:prstGeom>
          <a:noFill/>
        </p:spPr>
        <p:txBody>
          <a:bodyPr wrap="square" lIns="45720" tIns="22860" rIns="45720" bIns="22860">
            <a:spAutoFit/>
          </a:bodyPr>
          <a:lstStyle/>
          <a:p>
            <a:r>
              <a:rPr lang="en-US" sz="1100">
                <a:solidFill>
                  <a:srgbClr val="64748B"/>
                </a:solidFill>
                <a:latin typeface="Arial"/>
              </a:rPr>
              <a:t>These </a:t>
            </a:r>
            <a:r>
              <a:rPr lang="en-US" sz="1100" dirty="0">
                <a:solidFill>
                  <a:srgbClr val="64748B"/>
                </a:solidFill>
                <a:latin typeface="Arial"/>
              </a:rPr>
              <a:t>slides </a:t>
            </a:r>
            <a:r>
              <a:rPr sz="1100" b="0" i="0" dirty="0">
                <a:solidFill>
                  <a:srgbClr val="64748B"/>
                </a:solidFill>
                <a:latin typeface="Arial"/>
              </a:rPr>
              <a:t>and the code are also on GitHub</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2">
    <p:bg>
      <p:bgPr>
        <a:solidFill>
          <a:srgbClr val="0F172A"/>
        </a:solidFill>
        <a:effectLst/>
      </p:bgPr>
    </p:bg>
    <p:spTree>
      <p:nvGrpSpPr>
        <p:cNvPr id="1" name=""/>
        <p:cNvGrpSpPr/>
        <p:nvPr/>
      </p:nvGrpSpPr>
      <p:grpSpPr>
        <a:xfrm>
          <a:off x="0" y="0"/>
          <a:ext cx="0" cy="0"/>
          <a:chOff x="0" y="0"/>
          <a:chExt cx="0" cy="0"/>
        </a:xfrm>
      </p:grpSpPr>
      <p:sp>
        <p:nvSpPr>
          <p:cNvPr id="2" name="Text 0"/>
          <p:cNvSpPr txBox="1"/>
          <p:nvPr/>
        </p:nvSpPr>
        <p:spPr>
          <a:xfrm>
            <a:off x="11164824" y="6492240"/>
            <a:ext cx="457200" cy="219456"/>
          </a:xfrm>
          <a:prstGeom prst="rect">
            <a:avLst/>
          </a:prstGeom>
          <a:noFill/>
          <a:ln/>
        </p:spPr>
        <p:txBody>
          <a:bodyPr wrap="square" lIns="0" tIns="0" rIns="0" bIns="0" rtlCol="0" anchor="ctr"/>
          <a:lstStyle/>
          <a:p>
            <a:pPr marL="0" indent="0" algn="r">
              <a:buNone/>
            </a:pPr>
            <a:fld id="{8B2C3E4A-5D6F-4A1B-9C2D-3E4F5A6B7C8D}" type="slidenum">
              <a:rPr lang="en-US" altLang="ja-JP" sz="1000" dirty="0">
                <a:solidFill>
                  <a:srgbClr val="64748B"/>
                </a:solidFill>
                <a:latin typeface="Arial" pitchFamily="34" charset="0"/>
                <a:ea typeface="Arial" pitchFamily="34" charset="-122"/>
                <a:cs typeface="Arial" pitchFamily="34" charset="-120"/>
              </a:rPr>
              <a:t>25</a:t>
            </a:fld>
            <a:endParaRPr lang="en-US" altLang="ja-JP" sz="1000" dirty="0"/>
          </a:p>
        </p:txBody>
      </p:sp>
      <p:sp>
        <p:nvSpPr>
          <p:cNvPr id="3" name="Text 1"/>
          <p:cNvSpPr txBox="1"/>
          <p:nvPr/>
        </p:nvSpPr>
        <p:spPr>
          <a:xfrm>
            <a:off x="566928" y="1645920"/>
            <a:ext cx="3657600" cy="1188720"/>
          </a:xfrm>
          <a:prstGeom prst="rect">
            <a:avLst/>
          </a:prstGeom>
          <a:noFill/>
          <a:ln/>
        </p:spPr>
        <p:txBody>
          <a:bodyPr wrap="square" lIns="0" tIns="0" rIns="0" bIns="0" rtlCol="0" anchor="ctr"/>
          <a:lstStyle/>
          <a:p>
            <a:pPr marL="0" indent="0" algn="l">
              <a:buNone/>
            </a:pPr>
            <a:r>
              <a:rPr lang="ja-JP" altLang="en-US" sz="7200" b="1" dirty="0">
                <a:solidFill>
                  <a:srgbClr val="0284C7"/>
                </a:solidFill>
                <a:latin typeface="Arial" pitchFamily="34" charset="0"/>
                <a:ea typeface="Arial" pitchFamily="34" charset="-122"/>
                <a:cs typeface="Arial" pitchFamily="34" charset="-120"/>
              </a:rPr>
              <a:t>A</a:t>
            </a:r>
            <a:endParaRPr lang="ja-JP" sz="7200" dirty="0"/>
          </a:p>
        </p:txBody>
      </p:sp>
      <p:sp>
        <p:nvSpPr>
          <p:cNvPr id="4" name="Text 2"/>
          <p:cNvSpPr txBox="1"/>
          <p:nvPr/>
        </p:nvSpPr>
        <p:spPr>
          <a:xfrm>
            <a:off x="566928" y="2907792"/>
            <a:ext cx="10789920" cy="841248"/>
          </a:xfrm>
          <a:prstGeom prst="rect">
            <a:avLst/>
          </a:prstGeom>
          <a:noFill/>
          <a:ln/>
        </p:spPr>
        <p:txBody>
          <a:bodyPr wrap="square" lIns="0" tIns="0" rIns="0" bIns="0" rtlCol="0" anchor="ctr"/>
          <a:lstStyle/>
          <a:p>
            <a:pPr marL="0" indent="0" algn="l">
              <a:buNone/>
            </a:pPr>
            <a:r>
              <a:rPr lang="ja-JP" altLang="en-US" sz="4200" b="1" dirty="0">
                <a:solidFill>
                  <a:srgbClr val="FFFFFF"/>
                </a:solidFill>
                <a:latin typeface="Arial" pitchFamily="34" charset="0"/>
                <a:ea typeface="Arial" pitchFamily="34" charset="-122"/>
                <a:cs typeface="Arial" pitchFamily="34" charset="-120"/>
              </a:rPr>
              <a:t>Appendix</a:t>
            </a:r>
            <a:endParaRPr lang="ja-JP" sz="4200" dirty="0"/>
          </a:p>
        </p:txBody>
      </p:sp>
      <p:sp>
        <p:nvSpPr>
          <p:cNvPr id="5" name="Text 3"/>
          <p:cNvSpPr txBox="1"/>
          <p:nvPr/>
        </p:nvSpPr>
        <p:spPr>
          <a:xfrm>
            <a:off x="566928" y="3895344"/>
            <a:ext cx="10789920" cy="457200"/>
          </a:xfrm>
          <a:prstGeom prst="rect">
            <a:avLst/>
          </a:prstGeom>
          <a:noFill/>
          <a:ln/>
        </p:spPr>
        <p:txBody>
          <a:bodyPr wrap="square" lIns="0" tIns="0" rIns="0" bIns="0" rtlCol="0" anchor="ctr"/>
          <a:lstStyle/>
          <a:p>
            <a:pPr marL="0" indent="0" algn="l">
              <a:buNone/>
            </a:pPr>
            <a:r>
              <a:rPr lang="en-US" altLang="en-US" sz="2000" dirty="0">
                <a:solidFill>
                  <a:srgbClr val="CBD5E1"/>
                </a:solidFill>
                <a:latin typeface="Arial" pitchFamily="34" charset="0"/>
                <a:ea typeface="Arial" pitchFamily="34" charset="-122"/>
                <a:cs typeface="Arial" pitchFamily="34" charset="-120"/>
              </a:rPr>
              <a:t>Supplementary material for Q&amp;A</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5096" cy="237744"/>
          </a:xfrm>
          <a:prstGeom prst="rect">
            <a:avLst/>
          </a:prstGeom>
          <a:noFill/>
        </p:spPr>
        <p:txBody>
          <a:bodyPr wrap="square" lIns="45720" tIns="22860" rIns="45720" bIns="22860">
            <a:spAutoFit/>
          </a:bodyPr>
          <a:lstStyle/>
          <a:p>
            <a:r>
              <a:rPr sz="1200" b="1" i="0">
                <a:solidFill>
                  <a:srgbClr val="0284C7"/>
                </a:solidFill>
                <a:latin typeface="Arial"/>
              </a:rPr>
              <a:t>APPENDIX</a:t>
            </a:r>
          </a:p>
        </p:txBody>
      </p:sp>
      <p:sp>
        <p:nvSpPr>
          <p:cNvPr id="3" name="TextBox 2"/>
          <p:cNvSpPr txBox="1"/>
          <p:nvPr/>
        </p:nvSpPr>
        <p:spPr>
          <a:xfrm>
            <a:off x="566928" y="566928"/>
            <a:ext cx="11055096" cy="566928"/>
          </a:xfrm>
          <a:prstGeom prst="rect">
            <a:avLst/>
          </a:prstGeom>
          <a:noFill/>
        </p:spPr>
        <p:txBody>
          <a:bodyPr wrap="square" lIns="45720" tIns="22860" rIns="45720" bIns="22860">
            <a:spAutoFit/>
          </a:bodyPr>
          <a:lstStyle/>
          <a:p>
            <a:r>
              <a:rPr sz="2600" b="1" i="0">
                <a:solidFill>
                  <a:srgbClr val="0F172A"/>
                </a:solidFill>
                <a:latin typeface="Arial"/>
              </a:rPr>
              <a:t>Appendix Contents</a:t>
            </a:r>
          </a:p>
        </p:txBody>
      </p:sp>
      <p:sp>
        <p:nvSpPr>
          <p:cNvPr id="4" name="TextBox 3"/>
          <p:cNvSpPr txBox="1"/>
          <p:nvPr/>
        </p:nvSpPr>
        <p:spPr>
          <a:xfrm>
            <a:off x="566928" y="1097280"/>
            <a:ext cx="11055096" cy="246221"/>
          </a:xfrm>
          <a:prstGeom prst="rect">
            <a:avLst/>
          </a:prstGeom>
          <a:noFill/>
        </p:spPr>
        <p:txBody>
          <a:bodyPr wrap="square" lIns="45720" tIns="22860" rIns="45720" bIns="22860">
            <a:spAutoFit/>
          </a:bodyPr>
          <a:lstStyle/>
          <a:p>
            <a:r>
              <a:rPr sz="1300" b="0" i="0" dirty="0">
                <a:solidFill>
                  <a:srgbClr val="64748B"/>
                </a:solidFill>
                <a:latin typeface="Arial"/>
              </a:rPr>
              <a:t>One topic per page. During Q&amp;A, jump to a page by its number</a:t>
            </a:r>
            <a:r>
              <a:rPr lang="en-US" sz="1300" b="0" i="0" dirty="0">
                <a:solidFill>
                  <a:srgbClr val="64748B"/>
                </a:solidFill>
                <a:latin typeface="Arial"/>
              </a:rPr>
              <a:t>.</a:t>
            </a:r>
            <a:endParaRPr sz="1300" b="0" i="0" dirty="0">
              <a:solidFill>
                <a:srgbClr val="64748B"/>
              </a:solidFill>
              <a:latin typeface="Arial"/>
            </a:endParaRPr>
          </a:p>
        </p:txBody>
      </p:sp>
      <p:sp>
        <p:nvSpPr>
          <p:cNvPr id="5" name="TextBox 4"/>
          <p:cNvSpPr txBox="1"/>
          <p:nvPr/>
        </p:nvSpPr>
        <p:spPr>
          <a:xfrm>
            <a:off x="566928" y="1554480"/>
            <a:ext cx="2621280" cy="320040"/>
          </a:xfrm>
          <a:prstGeom prst="rect">
            <a:avLst/>
          </a:prstGeom>
          <a:noFill/>
        </p:spPr>
        <p:txBody>
          <a:bodyPr wrap="square" lIns="45720" tIns="22860" rIns="45720" bIns="22860">
            <a:spAutoFit/>
          </a:bodyPr>
          <a:lstStyle/>
          <a:p>
            <a:r>
              <a:rPr sz="1300" b="1" i="0">
                <a:solidFill>
                  <a:srgbClr val="0284C7"/>
                </a:solidFill>
                <a:latin typeface="Arial"/>
              </a:rPr>
              <a:t>Supplements to the talk</a:t>
            </a:r>
          </a:p>
        </p:txBody>
      </p:sp>
      <p:sp>
        <p:nvSpPr>
          <p:cNvPr id="6" name="Rounded Rectangle 5"/>
          <p:cNvSpPr/>
          <p:nvPr/>
        </p:nvSpPr>
        <p:spPr>
          <a:xfrm>
            <a:off x="566928" y="1965960"/>
            <a:ext cx="2621280" cy="77724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58368" y="2057400"/>
            <a:ext cx="594360" cy="265176"/>
          </a:xfrm>
          <a:prstGeom prst="roundRect">
            <a:avLst>
              <a:gd name="adj" fmla="val 5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2057400"/>
            <a:ext cx="594360" cy="265176"/>
          </a:xfrm>
          <a:prstGeom prst="rect">
            <a:avLst/>
          </a:prstGeom>
          <a:noFill/>
        </p:spPr>
        <p:txBody>
          <a:bodyPr wrap="square" lIns="45720" tIns="22860" rIns="45720" bIns="22860" anchor="ctr">
            <a:spAutoFit/>
          </a:bodyPr>
          <a:lstStyle/>
          <a:p>
            <a:pPr algn="ctr"/>
            <a:r>
              <a:rPr sz="1000" b="1" i="0">
                <a:solidFill>
                  <a:srgbClr val="FFFFFF"/>
                </a:solidFill>
                <a:latin typeface="Arial"/>
              </a:rPr>
              <a:t>A1</a:t>
            </a:r>
          </a:p>
        </p:txBody>
      </p:sp>
      <p:sp>
        <p:nvSpPr>
          <p:cNvPr id="9" name="TextBox 8"/>
          <p:cNvSpPr txBox="1"/>
          <p:nvPr/>
        </p:nvSpPr>
        <p:spPr>
          <a:xfrm>
            <a:off x="1298448" y="2011680"/>
            <a:ext cx="1844040" cy="320040"/>
          </a:xfrm>
          <a:prstGeom prst="rect">
            <a:avLst/>
          </a:prstGeom>
          <a:noFill/>
        </p:spPr>
        <p:txBody>
          <a:bodyPr wrap="square" lIns="45720" tIns="22860" rIns="45720" bIns="22860">
            <a:spAutoFit/>
          </a:bodyPr>
          <a:lstStyle/>
          <a:p>
            <a:r>
              <a:rPr sz="1200" b="1" i="0">
                <a:solidFill>
                  <a:srgbClr val="0F172A"/>
                </a:solidFill>
                <a:latin typeface="Arial"/>
              </a:rPr>
              <a:t>Roadmap</a:t>
            </a:r>
          </a:p>
        </p:txBody>
      </p:sp>
      <p:sp>
        <p:nvSpPr>
          <p:cNvPr id="10" name="TextBox 9"/>
          <p:cNvSpPr txBox="1"/>
          <p:nvPr/>
        </p:nvSpPr>
        <p:spPr>
          <a:xfrm>
            <a:off x="658368" y="2377440"/>
            <a:ext cx="2484120" cy="320040"/>
          </a:xfrm>
          <a:prstGeom prst="rect">
            <a:avLst/>
          </a:prstGeom>
          <a:noFill/>
        </p:spPr>
        <p:txBody>
          <a:bodyPr wrap="square" lIns="45720" tIns="22860" rIns="45720" bIns="22860">
            <a:spAutoFit/>
          </a:bodyPr>
          <a:lstStyle/>
          <a:p>
            <a:r>
              <a:rPr sz="1000" b="0" i="0">
                <a:solidFill>
                  <a:srgbClr val="64748B"/>
                </a:solidFill>
                <a:latin typeface="Arial"/>
              </a:rPr>
              <a:t>Planned updates until March 2027</a:t>
            </a:r>
          </a:p>
        </p:txBody>
      </p:sp>
      <p:sp>
        <p:nvSpPr>
          <p:cNvPr id="11" name="Rounded Rectangle 10"/>
          <p:cNvSpPr/>
          <p:nvPr/>
        </p:nvSpPr>
        <p:spPr>
          <a:xfrm>
            <a:off x="566928" y="2834640"/>
            <a:ext cx="2621280" cy="77724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58368" y="2926080"/>
            <a:ext cx="594360" cy="265176"/>
          </a:xfrm>
          <a:prstGeom prst="roundRect">
            <a:avLst>
              <a:gd name="adj" fmla="val 5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8368" y="2926080"/>
            <a:ext cx="594360" cy="265176"/>
          </a:xfrm>
          <a:prstGeom prst="rect">
            <a:avLst/>
          </a:prstGeom>
          <a:noFill/>
        </p:spPr>
        <p:txBody>
          <a:bodyPr wrap="square" lIns="45720" tIns="22860" rIns="45720" bIns="22860" anchor="ctr">
            <a:spAutoFit/>
          </a:bodyPr>
          <a:lstStyle/>
          <a:p>
            <a:pPr algn="ctr"/>
            <a:r>
              <a:rPr sz="1000" b="1" i="0">
                <a:solidFill>
                  <a:srgbClr val="FFFFFF"/>
                </a:solidFill>
                <a:latin typeface="Arial"/>
              </a:rPr>
              <a:t>A2</a:t>
            </a:r>
          </a:p>
        </p:txBody>
      </p:sp>
      <p:sp>
        <p:nvSpPr>
          <p:cNvPr id="14" name="TextBox 13"/>
          <p:cNvSpPr txBox="1"/>
          <p:nvPr/>
        </p:nvSpPr>
        <p:spPr>
          <a:xfrm>
            <a:off x="1298448" y="2880360"/>
            <a:ext cx="1844040" cy="320040"/>
          </a:xfrm>
          <a:prstGeom prst="rect">
            <a:avLst/>
          </a:prstGeom>
          <a:noFill/>
        </p:spPr>
        <p:txBody>
          <a:bodyPr wrap="square" lIns="45720" tIns="22860" rIns="45720" bIns="22860">
            <a:spAutoFit/>
          </a:bodyPr>
          <a:lstStyle/>
          <a:p>
            <a:r>
              <a:rPr sz="1200" b="1" i="0">
                <a:solidFill>
                  <a:srgbClr val="0F172A"/>
                </a:solidFill>
                <a:latin typeface="Arial"/>
              </a:rPr>
              <a:t>Survey answers</a:t>
            </a:r>
          </a:p>
        </p:txBody>
      </p:sp>
      <p:sp>
        <p:nvSpPr>
          <p:cNvPr id="15" name="TextBox 14"/>
          <p:cNvSpPr txBox="1"/>
          <p:nvPr/>
        </p:nvSpPr>
        <p:spPr>
          <a:xfrm>
            <a:off x="658368" y="3246120"/>
            <a:ext cx="2484120" cy="320040"/>
          </a:xfrm>
          <a:prstGeom prst="rect">
            <a:avLst/>
          </a:prstGeom>
          <a:noFill/>
        </p:spPr>
        <p:txBody>
          <a:bodyPr wrap="square" lIns="45720" tIns="22860" rIns="45720" bIns="22860">
            <a:spAutoFit/>
          </a:bodyPr>
          <a:lstStyle/>
          <a:p>
            <a:r>
              <a:rPr sz="1000" b="0" i="0">
                <a:solidFill>
                  <a:srgbClr val="64748B"/>
                </a:solidFill>
                <a:latin typeface="Arial"/>
              </a:rPr>
              <a:t>All answers from 3 conferences</a:t>
            </a:r>
          </a:p>
        </p:txBody>
      </p:sp>
      <p:sp>
        <p:nvSpPr>
          <p:cNvPr id="16" name="Rounded Rectangle 15"/>
          <p:cNvSpPr/>
          <p:nvPr/>
        </p:nvSpPr>
        <p:spPr>
          <a:xfrm>
            <a:off x="566928" y="3703320"/>
            <a:ext cx="2621280" cy="77724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8368" y="3794760"/>
            <a:ext cx="594360" cy="265176"/>
          </a:xfrm>
          <a:prstGeom prst="roundRect">
            <a:avLst>
              <a:gd name="adj" fmla="val 5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8368" y="3794760"/>
            <a:ext cx="594360" cy="265176"/>
          </a:xfrm>
          <a:prstGeom prst="rect">
            <a:avLst/>
          </a:prstGeom>
          <a:noFill/>
        </p:spPr>
        <p:txBody>
          <a:bodyPr wrap="square" lIns="45720" tIns="22860" rIns="45720" bIns="22860" anchor="ctr">
            <a:spAutoFit/>
          </a:bodyPr>
          <a:lstStyle/>
          <a:p>
            <a:pPr algn="ctr"/>
            <a:r>
              <a:rPr sz="1000" b="1" i="0">
                <a:solidFill>
                  <a:srgbClr val="FFFFFF"/>
                </a:solidFill>
                <a:latin typeface="Arial"/>
              </a:rPr>
              <a:t>A3</a:t>
            </a:r>
          </a:p>
        </p:txBody>
      </p:sp>
      <p:sp>
        <p:nvSpPr>
          <p:cNvPr id="19" name="TextBox 18"/>
          <p:cNvSpPr txBox="1"/>
          <p:nvPr/>
        </p:nvSpPr>
        <p:spPr>
          <a:xfrm>
            <a:off x="1298448" y="3749040"/>
            <a:ext cx="1844040" cy="320040"/>
          </a:xfrm>
          <a:prstGeom prst="rect">
            <a:avLst/>
          </a:prstGeom>
          <a:noFill/>
        </p:spPr>
        <p:txBody>
          <a:bodyPr wrap="square" lIns="45720" tIns="22860" rIns="45720" bIns="22860">
            <a:spAutoFit/>
          </a:bodyPr>
          <a:lstStyle/>
          <a:p>
            <a:r>
              <a:rPr sz="1200" b="1" i="0">
                <a:solidFill>
                  <a:srgbClr val="0F172A"/>
                </a:solidFill>
                <a:latin typeface="Arial"/>
              </a:rPr>
              <a:t>Changes since the Abstract</a:t>
            </a:r>
          </a:p>
        </p:txBody>
      </p:sp>
      <p:sp>
        <p:nvSpPr>
          <p:cNvPr id="20" name="TextBox 19"/>
          <p:cNvSpPr txBox="1"/>
          <p:nvPr/>
        </p:nvSpPr>
        <p:spPr>
          <a:xfrm>
            <a:off x="658368" y="4114800"/>
            <a:ext cx="2484120" cy="320040"/>
          </a:xfrm>
          <a:prstGeom prst="rect">
            <a:avLst/>
          </a:prstGeom>
          <a:noFill/>
        </p:spPr>
        <p:txBody>
          <a:bodyPr wrap="square" lIns="45720" tIns="22860" rIns="45720" bIns="22860">
            <a:spAutoFit/>
          </a:bodyPr>
          <a:lstStyle/>
          <a:p>
            <a:r>
              <a:rPr sz="1000" b="0" i="0">
                <a:solidFill>
                  <a:srgbClr val="64748B"/>
                </a:solidFill>
                <a:latin typeface="Arial"/>
              </a:rPr>
              <a:t>What was fixed, and why time grew</a:t>
            </a:r>
          </a:p>
        </p:txBody>
      </p:sp>
      <p:sp>
        <p:nvSpPr>
          <p:cNvPr id="70" name="Rounded Rectangle 70"/>
          <p:cNvSpPr/>
          <p:nvPr/>
        </p:nvSpPr>
        <p:spPr>
          <a:xfrm>
            <a:off x="566928" y="4572000"/>
            <a:ext cx="2621280" cy="77724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ounded Rectangle 71"/>
          <p:cNvSpPr/>
          <p:nvPr/>
        </p:nvSpPr>
        <p:spPr>
          <a:xfrm>
            <a:off x="658368" y="4663440"/>
            <a:ext cx="594360" cy="265176"/>
          </a:xfrm>
          <a:prstGeom prst="roundRect">
            <a:avLst>
              <a:gd name="adj" fmla="val 5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2"/>
          <p:cNvSpPr txBox="1"/>
          <p:nvPr/>
        </p:nvSpPr>
        <p:spPr>
          <a:xfrm>
            <a:off x="658368" y="4663440"/>
            <a:ext cx="594360" cy="265176"/>
          </a:xfrm>
          <a:prstGeom prst="rect">
            <a:avLst/>
          </a:prstGeom>
          <a:noFill/>
        </p:spPr>
        <p:txBody>
          <a:bodyPr wrap="square" lIns="45720" tIns="22860" rIns="45720" bIns="22860" anchor="ctr">
            <a:spAutoFit/>
          </a:bodyPr>
          <a:lstStyle/>
          <a:p>
            <a:pPr algn="ctr"/>
            <a:r>
              <a:rPr sz="1000" b="1" i="0">
                <a:solidFill>
                  <a:srgbClr val="FFFFFF"/>
                </a:solidFill>
                <a:latin typeface="Arial"/>
              </a:rPr>
              <a:t>A13</a:t>
            </a:r>
          </a:p>
        </p:txBody>
      </p:sp>
      <p:sp>
        <p:nvSpPr>
          <p:cNvPr id="73" name="TextBox 73"/>
          <p:cNvSpPr txBox="1"/>
          <p:nvPr/>
        </p:nvSpPr>
        <p:spPr>
          <a:xfrm>
            <a:off x="1298448" y="4617720"/>
            <a:ext cx="1844040" cy="320040"/>
          </a:xfrm>
          <a:prstGeom prst="rect">
            <a:avLst/>
          </a:prstGeom>
          <a:noFill/>
        </p:spPr>
        <p:txBody>
          <a:bodyPr wrap="square" lIns="45720" tIns="22860" rIns="45720" bIns="22860">
            <a:spAutoFit/>
          </a:bodyPr>
          <a:lstStyle/>
          <a:p>
            <a:r>
              <a:rPr sz="1200" b="1" i="0">
                <a:solidFill>
                  <a:srgbClr val="0F172A"/>
                </a:solidFill>
                <a:latin typeface="Arial"/>
              </a:rPr>
              <a:t>Previous studies</a:t>
            </a:r>
          </a:p>
        </p:txBody>
      </p:sp>
      <p:sp>
        <p:nvSpPr>
          <p:cNvPr id="74" name="TextBox 74"/>
          <p:cNvSpPr txBox="1"/>
          <p:nvPr/>
        </p:nvSpPr>
        <p:spPr>
          <a:xfrm>
            <a:off x="658368" y="4983480"/>
            <a:ext cx="2484120" cy="320040"/>
          </a:xfrm>
          <a:prstGeom prst="rect">
            <a:avLst/>
          </a:prstGeom>
          <a:noFill/>
        </p:spPr>
        <p:txBody>
          <a:bodyPr wrap="square" lIns="45720" tIns="22860" rIns="45720" bIns="22860">
            <a:spAutoFit/>
          </a:bodyPr>
          <a:lstStyle/>
          <a:p>
            <a:r>
              <a:rPr sz="1000" b="0" i="0">
                <a:solidFill>
                  <a:srgbClr val="64748B"/>
                </a:solidFill>
                <a:latin typeface="Arial"/>
              </a:rPr>
              <a:t>Input, time, solver</a:t>
            </a:r>
          </a:p>
        </p:txBody>
      </p:sp>
      <p:sp>
        <p:nvSpPr>
          <p:cNvPr id="21" name="TextBox 20"/>
          <p:cNvSpPr txBox="1"/>
          <p:nvPr/>
        </p:nvSpPr>
        <p:spPr>
          <a:xfrm>
            <a:off x="3371088" y="1554480"/>
            <a:ext cx="2621280" cy="320040"/>
          </a:xfrm>
          <a:prstGeom prst="rect">
            <a:avLst/>
          </a:prstGeom>
          <a:noFill/>
        </p:spPr>
        <p:txBody>
          <a:bodyPr wrap="square" lIns="45720" tIns="22860" rIns="45720" bIns="22860">
            <a:spAutoFit/>
          </a:bodyPr>
          <a:lstStyle/>
          <a:p>
            <a:r>
              <a:rPr sz="1300" b="1" i="0">
                <a:solidFill>
                  <a:srgbClr val="0284C7"/>
                </a:solidFill>
                <a:latin typeface="Arial"/>
              </a:rPr>
              <a:t>How the system works</a:t>
            </a:r>
          </a:p>
        </p:txBody>
      </p:sp>
      <p:sp>
        <p:nvSpPr>
          <p:cNvPr id="22" name="Rounded Rectangle 21"/>
          <p:cNvSpPr/>
          <p:nvPr/>
        </p:nvSpPr>
        <p:spPr>
          <a:xfrm>
            <a:off x="3371088" y="1965960"/>
            <a:ext cx="2621280" cy="77724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3462528" y="2057400"/>
            <a:ext cx="594360" cy="265176"/>
          </a:xfrm>
          <a:prstGeom prst="roundRect">
            <a:avLst>
              <a:gd name="adj" fmla="val 5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462528" y="2057400"/>
            <a:ext cx="594360" cy="265176"/>
          </a:xfrm>
          <a:prstGeom prst="rect">
            <a:avLst/>
          </a:prstGeom>
          <a:noFill/>
        </p:spPr>
        <p:txBody>
          <a:bodyPr wrap="square" lIns="45720" tIns="22860" rIns="45720" bIns="22860" anchor="ctr">
            <a:spAutoFit/>
          </a:bodyPr>
          <a:lstStyle/>
          <a:p>
            <a:pPr algn="ctr"/>
            <a:r>
              <a:rPr sz="1000" b="1" i="0">
                <a:solidFill>
                  <a:srgbClr val="FFFFFF"/>
                </a:solidFill>
                <a:latin typeface="Arial"/>
              </a:rPr>
              <a:t>A4</a:t>
            </a:r>
          </a:p>
        </p:txBody>
      </p:sp>
      <p:sp>
        <p:nvSpPr>
          <p:cNvPr id="25" name="TextBox 24"/>
          <p:cNvSpPr txBox="1"/>
          <p:nvPr/>
        </p:nvSpPr>
        <p:spPr>
          <a:xfrm>
            <a:off x="4102608" y="2011680"/>
            <a:ext cx="1844040" cy="320040"/>
          </a:xfrm>
          <a:prstGeom prst="rect">
            <a:avLst/>
          </a:prstGeom>
          <a:noFill/>
        </p:spPr>
        <p:txBody>
          <a:bodyPr wrap="square" lIns="45720" tIns="22860" rIns="45720" bIns="22860">
            <a:spAutoFit/>
          </a:bodyPr>
          <a:lstStyle/>
          <a:p>
            <a:r>
              <a:rPr sz="1200" b="1" i="0">
                <a:solidFill>
                  <a:srgbClr val="0F172A"/>
                </a:solidFill>
                <a:latin typeface="Arial"/>
              </a:rPr>
              <a:t>App settings</a:t>
            </a:r>
          </a:p>
        </p:txBody>
      </p:sp>
      <p:sp>
        <p:nvSpPr>
          <p:cNvPr id="26" name="TextBox 25"/>
          <p:cNvSpPr txBox="1"/>
          <p:nvPr/>
        </p:nvSpPr>
        <p:spPr>
          <a:xfrm>
            <a:off x="3462528" y="2377440"/>
            <a:ext cx="2484120" cy="320040"/>
          </a:xfrm>
          <a:prstGeom prst="rect">
            <a:avLst/>
          </a:prstGeom>
          <a:noFill/>
        </p:spPr>
        <p:txBody>
          <a:bodyPr wrap="square" lIns="45720" tIns="22860" rIns="45720" bIns="22860">
            <a:spAutoFit/>
          </a:bodyPr>
          <a:lstStyle/>
          <a:p>
            <a:r>
              <a:rPr sz="1000" b="0" i="0">
                <a:solidFill>
                  <a:srgbClr val="64748B"/>
                </a:solidFill>
                <a:latin typeface="Arial"/>
              </a:rPr>
              <a:t>Weights, gap, time limit, candidates</a:t>
            </a:r>
          </a:p>
        </p:txBody>
      </p:sp>
      <p:sp>
        <p:nvSpPr>
          <p:cNvPr id="27" name="Rounded Rectangle 26"/>
          <p:cNvSpPr/>
          <p:nvPr/>
        </p:nvSpPr>
        <p:spPr>
          <a:xfrm>
            <a:off x="3371088" y="2834640"/>
            <a:ext cx="2621280" cy="77724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3462528" y="2926080"/>
            <a:ext cx="594360" cy="265176"/>
          </a:xfrm>
          <a:prstGeom prst="roundRect">
            <a:avLst>
              <a:gd name="adj" fmla="val 5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462528" y="2926080"/>
            <a:ext cx="594360" cy="265176"/>
          </a:xfrm>
          <a:prstGeom prst="rect">
            <a:avLst/>
          </a:prstGeom>
          <a:noFill/>
        </p:spPr>
        <p:txBody>
          <a:bodyPr wrap="square" lIns="45720" tIns="22860" rIns="45720" bIns="22860" anchor="ctr">
            <a:spAutoFit/>
          </a:bodyPr>
          <a:lstStyle/>
          <a:p>
            <a:pPr algn="ctr"/>
            <a:r>
              <a:rPr sz="1000" b="1" i="0">
                <a:solidFill>
                  <a:srgbClr val="FFFFFF"/>
                </a:solidFill>
                <a:latin typeface="Arial"/>
              </a:rPr>
              <a:t>A5</a:t>
            </a:r>
          </a:p>
        </p:txBody>
      </p:sp>
      <p:sp>
        <p:nvSpPr>
          <p:cNvPr id="30" name="TextBox 29"/>
          <p:cNvSpPr txBox="1"/>
          <p:nvPr/>
        </p:nvSpPr>
        <p:spPr>
          <a:xfrm>
            <a:off x="4102608" y="2880360"/>
            <a:ext cx="1844040" cy="320040"/>
          </a:xfrm>
          <a:prstGeom prst="rect">
            <a:avLst/>
          </a:prstGeom>
          <a:noFill/>
        </p:spPr>
        <p:txBody>
          <a:bodyPr wrap="square" lIns="45720" tIns="22860" rIns="45720" bIns="22860">
            <a:spAutoFit/>
          </a:bodyPr>
          <a:lstStyle/>
          <a:p>
            <a:r>
              <a:rPr sz="1200" b="1" i="0">
                <a:solidFill>
                  <a:srgbClr val="0F172A"/>
                </a:solidFill>
                <a:latin typeface="Arial"/>
              </a:rPr>
              <a:t>Optimization (more)</a:t>
            </a:r>
          </a:p>
        </p:txBody>
      </p:sp>
      <p:sp>
        <p:nvSpPr>
          <p:cNvPr id="31" name="TextBox 30"/>
          <p:cNvSpPr txBox="1"/>
          <p:nvPr/>
        </p:nvSpPr>
        <p:spPr>
          <a:xfrm>
            <a:off x="3462528" y="3246120"/>
            <a:ext cx="2484120" cy="320040"/>
          </a:xfrm>
          <a:prstGeom prst="rect">
            <a:avLst/>
          </a:prstGeom>
          <a:noFill/>
        </p:spPr>
        <p:txBody>
          <a:bodyPr wrap="square" lIns="45720" tIns="22860" rIns="45720" bIns="22860">
            <a:spAutoFit/>
          </a:bodyPr>
          <a:lstStyle/>
          <a:p>
            <a:r>
              <a:rPr sz="1000" b="0" i="0">
                <a:solidFill>
                  <a:srgbClr val="64748B"/>
                </a:solidFill>
                <a:latin typeface="Arial"/>
              </a:rPr>
              <a:t>MILP and branch-and-bound</a:t>
            </a:r>
          </a:p>
        </p:txBody>
      </p:sp>
      <p:sp>
        <p:nvSpPr>
          <p:cNvPr id="32" name="Rounded Rectangle 31"/>
          <p:cNvSpPr/>
          <p:nvPr/>
        </p:nvSpPr>
        <p:spPr>
          <a:xfrm>
            <a:off x="3371088" y="3703320"/>
            <a:ext cx="2621280" cy="77724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3462528" y="3794760"/>
            <a:ext cx="594360" cy="265176"/>
          </a:xfrm>
          <a:prstGeom prst="roundRect">
            <a:avLst>
              <a:gd name="adj" fmla="val 5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462528" y="3794760"/>
            <a:ext cx="594360" cy="265176"/>
          </a:xfrm>
          <a:prstGeom prst="rect">
            <a:avLst/>
          </a:prstGeom>
          <a:noFill/>
        </p:spPr>
        <p:txBody>
          <a:bodyPr wrap="square" lIns="45720" tIns="22860" rIns="45720" bIns="22860" anchor="ctr">
            <a:spAutoFit/>
          </a:bodyPr>
          <a:lstStyle/>
          <a:p>
            <a:pPr algn="ctr"/>
            <a:r>
              <a:rPr sz="1000" b="1" i="0">
                <a:solidFill>
                  <a:srgbClr val="FFFFFF"/>
                </a:solidFill>
                <a:latin typeface="Arial"/>
              </a:rPr>
              <a:t>A6</a:t>
            </a:r>
          </a:p>
        </p:txBody>
      </p:sp>
      <p:sp>
        <p:nvSpPr>
          <p:cNvPr id="35" name="TextBox 34"/>
          <p:cNvSpPr txBox="1"/>
          <p:nvPr/>
        </p:nvSpPr>
        <p:spPr>
          <a:xfrm>
            <a:off x="4102608" y="3749040"/>
            <a:ext cx="1844040" cy="320040"/>
          </a:xfrm>
          <a:prstGeom prst="rect">
            <a:avLst/>
          </a:prstGeom>
          <a:noFill/>
        </p:spPr>
        <p:txBody>
          <a:bodyPr wrap="square" lIns="45720" tIns="22860" rIns="45720" bIns="22860">
            <a:spAutoFit/>
          </a:bodyPr>
          <a:lstStyle/>
          <a:p>
            <a:r>
              <a:rPr sz="1200" b="1" i="0">
                <a:solidFill>
                  <a:srgbClr val="0F172A"/>
                </a:solidFill>
                <a:latin typeface="Arial"/>
              </a:rPr>
              <a:t>Variables &amp; constraints</a:t>
            </a:r>
          </a:p>
        </p:txBody>
      </p:sp>
      <p:sp>
        <p:nvSpPr>
          <p:cNvPr id="36" name="TextBox 35"/>
          <p:cNvSpPr txBox="1"/>
          <p:nvPr/>
        </p:nvSpPr>
        <p:spPr>
          <a:xfrm>
            <a:off x="3462528" y="4114800"/>
            <a:ext cx="2484120" cy="320040"/>
          </a:xfrm>
          <a:prstGeom prst="rect">
            <a:avLst/>
          </a:prstGeom>
          <a:noFill/>
        </p:spPr>
        <p:txBody>
          <a:bodyPr wrap="square" lIns="45720" tIns="22860" rIns="45720" bIns="22860">
            <a:spAutoFit/>
          </a:bodyPr>
          <a:lstStyle/>
          <a:p>
            <a:r>
              <a:rPr sz="1000" b="0" i="0">
                <a:solidFill>
                  <a:srgbClr val="64748B"/>
                </a:solidFill>
                <a:latin typeface="Arial"/>
              </a:rPr>
              <a:t>All rules, with formulas</a:t>
            </a:r>
          </a:p>
        </p:txBody>
      </p:sp>
      <p:sp>
        <p:nvSpPr>
          <p:cNvPr id="37" name="Rounded Rectangle 36"/>
          <p:cNvSpPr/>
          <p:nvPr/>
        </p:nvSpPr>
        <p:spPr>
          <a:xfrm>
            <a:off x="3371088" y="4572000"/>
            <a:ext cx="2621280" cy="77724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3462528" y="4663440"/>
            <a:ext cx="594360" cy="265176"/>
          </a:xfrm>
          <a:prstGeom prst="roundRect">
            <a:avLst>
              <a:gd name="adj" fmla="val 5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462528" y="4663440"/>
            <a:ext cx="594360" cy="265176"/>
          </a:xfrm>
          <a:prstGeom prst="rect">
            <a:avLst/>
          </a:prstGeom>
          <a:noFill/>
        </p:spPr>
        <p:txBody>
          <a:bodyPr wrap="square" lIns="45720" tIns="22860" rIns="45720" bIns="22860" anchor="ctr">
            <a:spAutoFit/>
          </a:bodyPr>
          <a:lstStyle/>
          <a:p>
            <a:pPr algn="ctr"/>
            <a:r>
              <a:rPr sz="1000" b="1" i="0">
                <a:solidFill>
                  <a:srgbClr val="FFFFFF"/>
                </a:solidFill>
                <a:latin typeface="Arial"/>
              </a:rPr>
              <a:t>A7</a:t>
            </a:r>
          </a:p>
        </p:txBody>
      </p:sp>
      <p:sp>
        <p:nvSpPr>
          <p:cNvPr id="40" name="TextBox 39"/>
          <p:cNvSpPr txBox="1"/>
          <p:nvPr/>
        </p:nvSpPr>
        <p:spPr>
          <a:xfrm>
            <a:off x="4102608" y="4617720"/>
            <a:ext cx="1844040" cy="320040"/>
          </a:xfrm>
          <a:prstGeom prst="rect">
            <a:avLst/>
          </a:prstGeom>
          <a:noFill/>
        </p:spPr>
        <p:txBody>
          <a:bodyPr wrap="square" lIns="45720" tIns="22860" rIns="45720" bIns="22860">
            <a:spAutoFit/>
          </a:bodyPr>
          <a:lstStyle/>
          <a:p>
            <a:r>
              <a:rPr sz="1200" b="1" i="0">
                <a:solidFill>
                  <a:srgbClr val="0F172A"/>
                </a:solidFill>
                <a:latin typeface="Arial"/>
              </a:rPr>
              <a:t>Objective function</a:t>
            </a:r>
          </a:p>
        </p:txBody>
      </p:sp>
      <p:sp>
        <p:nvSpPr>
          <p:cNvPr id="41" name="TextBox 40"/>
          <p:cNvSpPr txBox="1"/>
          <p:nvPr/>
        </p:nvSpPr>
        <p:spPr>
          <a:xfrm>
            <a:off x="3462528" y="4983480"/>
            <a:ext cx="2484120" cy="320040"/>
          </a:xfrm>
          <a:prstGeom prst="rect">
            <a:avLst/>
          </a:prstGeom>
          <a:noFill/>
        </p:spPr>
        <p:txBody>
          <a:bodyPr wrap="square" lIns="45720" tIns="22860" rIns="45720" bIns="22860">
            <a:spAutoFit/>
          </a:bodyPr>
          <a:lstStyle/>
          <a:p>
            <a:r>
              <a:rPr sz="1000" b="0" i="0">
                <a:solidFill>
                  <a:srgbClr val="64748B"/>
                </a:solidFill>
                <a:latin typeface="Arial"/>
              </a:rPr>
              <a:t>A, B, C and the scale N</a:t>
            </a:r>
          </a:p>
        </p:txBody>
      </p:sp>
      <p:sp>
        <p:nvSpPr>
          <p:cNvPr id="42" name="TextBox 41"/>
          <p:cNvSpPr txBox="1"/>
          <p:nvPr/>
        </p:nvSpPr>
        <p:spPr>
          <a:xfrm>
            <a:off x="6175248" y="1554480"/>
            <a:ext cx="2621280" cy="320040"/>
          </a:xfrm>
          <a:prstGeom prst="rect">
            <a:avLst/>
          </a:prstGeom>
          <a:noFill/>
        </p:spPr>
        <p:txBody>
          <a:bodyPr wrap="square" lIns="45720" tIns="22860" rIns="45720" bIns="22860">
            <a:spAutoFit/>
          </a:bodyPr>
          <a:lstStyle/>
          <a:p>
            <a:r>
              <a:rPr sz="1300" b="1" i="0">
                <a:solidFill>
                  <a:srgbClr val="0284C7"/>
                </a:solidFill>
                <a:latin typeface="Arial"/>
              </a:rPr>
              <a:t>Data and results</a:t>
            </a:r>
          </a:p>
        </p:txBody>
      </p:sp>
      <p:sp>
        <p:nvSpPr>
          <p:cNvPr id="43" name="Rounded Rectangle 42"/>
          <p:cNvSpPr/>
          <p:nvPr/>
        </p:nvSpPr>
        <p:spPr>
          <a:xfrm>
            <a:off x="6175248" y="1965960"/>
            <a:ext cx="2621280" cy="77724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6266688" y="2057400"/>
            <a:ext cx="594360" cy="265176"/>
          </a:xfrm>
          <a:prstGeom prst="roundRect">
            <a:avLst>
              <a:gd name="adj" fmla="val 5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266688" y="2057400"/>
            <a:ext cx="594360" cy="265176"/>
          </a:xfrm>
          <a:prstGeom prst="rect">
            <a:avLst/>
          </a:prstGeom>
          <a:noFill/>
        </p:spPr>
        <p:txBody>
          <a:bodyPr wrap="square" lIns="45720" tIns="22860" rIns="45720" bIns="22860" anchor="ctr">
            <a:spAutoFit/>
          </a:bodyPr>
          <a:lstStyle/>
          <a:p>
            <a:pPr algn="ctr"/>
            <a:r>
              <a:rPr sz="1000" b="1" i="0">
                <a:solidFill>
                  <a:srgbClr val="FFFFFF"/>
                </a:solidFill>
                <a:latin typeface="Arial"/>
              </a:rPr>
              <a:t>A8</a:t>
            </a:r>
          </a:p>
        </p:txBody>
      </p:sp>
      <p:sp>
        <p:nvSpPr>
          <p:cNvPr id="46" name="TextBox 45"/>
          <p:cNvSpPr txBox="1"/>
          <p:nvPr/>
        </p:nvSpPr>
        <p:spPr>
          <a:xfrm>
            <a:off x="6906768" y="2011680"/>
            <a:ext cx="1844040" cy="320040"/>
          </a:xfrm>
          <a:prstGeom prst="rect">
            <a:avLst/>
          </a:prstGeom>
          <a:noFill/>
        </p:spPr>
        <p:txBody>
          <a:bodyPr wrap="square" lIns="45720" tIns="22860" rIns="45720" bIns="22860">
            <a:spAutoFit/>
          </a:bodyPr>
          <a:lstStyle/>
          <a:p>
            <a:r>
              <a:rPr sz="1200" b="1" i="0">
                <a:solidFill>
                  <a:srgbClr val="0F172A"/>
                </a:solidFill>
                <a:latin typeface="Arial"/>
              </a:rPr>
              <a:t>Test 1: input data</a:t>
            </a:r>
          </a:p>
        </p:txBody>
      </p:sp>
      <p:sp>
        <p:nvSpPr>
          <p:cNvPr id="47" name="TextBox 46"/>
          <p:cNvSpPr txBox="1"/>
          <p:nvPr/>
        </p:nvSpPr>
        <p:spPr>
          <a:xfrm>
            <a:off x="6266688" y="2377440"/>
            <a:ext cx="2484120" cy="320040"/>
          </a:xfrm>
          <a:prstGeom prst="rect">
            <a:avLst/>
          </a:prstGeom>
          <a:noFill/>
        </p:spPr>
        <p:txBody>
          <a:bodyPr wrap="square" lIns="45720" tIns="22860" rIns="45720" bIns="22860">
            <a:spAutoFit/>
          </a:bodyPr>
          <a:lstStyle/>
          <a:p>
            <a:r>
              <a:rPr sz="1000" b="0" i="0">
                <a:solidFill>
                  <a:srgbClr val="64748B"/>
                </a:solidFill>
                <a:latin typeface="Arial"/>
              </a:rPr>
              <a:t>40 talks / 10 rooms / 5 slots</a:t>
            </a:r>
          </a:p>
        </p:txBody>
      </p:sp>
      <p:sp>
        <p:nvSpPr>
          <p:cNvPr id="48" name="Rounded Rectangle 47"/>
          <p:cNvSpPr/>
          <p:nvPr/>
        </p:nvSpPr>
        <p:spPr>
          <a:xfrm>
            <a:off x="6175248" y="2834640"/>
            <a:ext cx="2621280" cy="77724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6266688" y="2926080"/>
            <a:ext cx="594360" cy="265176"/>
          </a:xfrm>
          <a:prstGeom prst="roundRect">
            <a:avLst>
              <a:gd name="adj" fmla="val 5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266688" y="2926080"/>
            <a:ext cx="594360" cy="265176"/>
          </a:xfrm>
          <a:prstGeom prst="rect">
            <a:avLst/>
          </a:prstGeom>
          <a:noFill/>
        </p:spPr>
        <p:txBody>
          <a:bodyPr wrap="square" lIns="45720" tIns="22860" rIns="45720" bIns="22860" anchor="ctr">
            <a:spAutoFit/>
          </a:bodyPr>
          <a:lstStyle/>
          <a:p>
            <a:pPr algn="ctr"/>
            <a:r>
              <a:rPr sz="1000" b="1" i="0">
                <a:solidFill>
                  <a:srgbClr val="FFFFFF"/>
                </a:solidFill>
                <a:latin typeface="Arial"/>
              </a:rPr>
              <a:t>A9</a:t>
            </a:r>
          </a:p>
        </p:txBody>
      </p:sp>
      <p:sp>
        <p:nvSpPr>
          <p:cNvPr id="51" name="TextBox 50"/>
          <p:cNvSpPr txBox="1"/>
          <p:nvPr/>
        </p:nvSpPr>
        <p:spPr>
          <a:xfrm>
            <a:off x="6906768" y="2880360"/>
            <a:ext cx="1844040" cy="320040"/>
          </a:xfrm>
          <a:prstGeom prst="rect">
            <a:avLst/>
          </a:prstGeom>
          <a:noFill/>
        </p:spPr>
        <p:txBody>
          <a:bodyPr wrap="square" lIns="45720" tIns="22860" rIns="45720" bIns="22860">
            <a:spAutoFit/>
          </a:bodyPr>
          <a:lstStyle/>
          <a:p>
            <a:r>
              <a:rPr sz="1200" b="1" i="0">
                <a:solidFill>
                  <a:srgbClr val="0F172A"/>
                </a:solidFill>
                <a:latin typeface="Arial"/>
              </a:rPr>
              <a:t>Test 1: results</a:t>
            </a:r>
          </a:p>
        </p:txBody>
      </p:sp>
      <p:sp>
        <p:nvSpPr>
          <p:cNvPr id="52" name="TextBox 51"/>
          <p:cNvSpPr txBox="1"/>
          <p:nvPr/>
        </p:nvSpPr>
        <p:spPr>
          <a:xfrm>
            <a:off x="6266688" y="3246120"/>
            <a:ext cx="2484120" cy="320040"/>
          </a:xfrm>
          <a:prstGeom prst="rect">
            <a:avLst/>
          </a:prstGeom>
          <a:noFill/>
        </p:spPr>
        <p:txBody>
          <a:bodyPr wrap="square" lIns="45720" tIns="22860" rIns="45720" bIns="22860">
            <a:spAutoFit/>
          </a:bodyPr>
          <a:lstStyle/>
          <a:p>
            <a:r>
              <a:rPr sz="1000" b="0" i="0">
                <a:solidFill>
                  <a:srgbClr val="64748B"/>
                </a:solidFill>
                <a:latin typeface="Arial"/>
              </a:rPr>
              <a:t>Timetables and numbers</a:t>
            </a:r>
          </a:p>
        </p:txBody>
      </p:sp>
      <p:sp>
        <p:nvSpPr>
          <p:cNvPr id="53" name="Rounded Rectangle 52"/>
          <p:cNvSpPr/>
          <p:nvPr/>
        </p:nvSpPr>
        <p:spPr>
          <a:xfrm>
            <a:off x="6175248" y="3703320"/>
            <a:ext cx="2621280" cy="77724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p:cNvSpPr/>
          <p:nvPr/>
        </p:nvSpPr>
        <p:spPr>
          <a:xfrm>
            <a:off x="6266688" y="3794760"/>
            <a:ext cx="594360" cy="265176"/>
          </a:xfrm>
          <a:prstGeom prst="roundRect">
            <a:avLst>
              <a:gd name="adj" fmla="val 5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266688" y="3794760"/>
            <a:ext cx="594360" cy="265176"/>
          </a:xfrm>
          <a:prstGeom prst="rect">
            <a:avLst/>
          </a:prstGeom>
          <a:noFill/>
        </p:spPr>
        <p:txBody>
          <a:bodyPr wrap="square" lIns="45720" tIns="22860" rIns="45720" bIns="22860" anchor="ctr">
            <a:spAutoFit/>
          </a:bodyPr>
          <a:lstStyle/>
          <a:p>
            <a:pPr algn="ctr"/>
            <a:r>
              <a:rPr sz="1000" b="1" i="0">
                <a:solidFill>
                  <a:srgbClr val="FFFFFF"/>
                </a:solidFill>
                <a:latin typeface="Arial"/>
              </a:rPr>
              <a:t>A10</a:t>
            </a:r>
          </a:p>
        </p:txBody>
      </p:sp>
      <p:sp>
        <p:nvSpPr>
          <p:cNvPr id="56" name="TextBox 55"/>
          <p:cNvSpPr txBox="1"/>
          <p:nvPr/>
        </p:nvSpPr>
        <p:spPr>
          <a:xfrm>
            <a:off x="6906768" y="3749040"/>
            <a:ext cx="1844040" cy="320040"/>
          </a:xfrm>
          <a:prstGeom prst="rect">
            <a:avLst/>
          </a:prstGeom>
          <a:noFill/>
        </p:spPr>
        <p:txBody>
          <a:bodyPr wrap="square" lIns="45720" tIns="22860" rIns="45720" bIns="22860">
            <a:spAutoFit/>
          </a:bodyPr>
          <a:lstStyle/>
          <a:p>
            <a:r>
              <a:rPr sz="1200" b="1" i="0">
                <a:solidFill>
                  <a:srgbClr val="0F172A"/>
                </a:solidFill>
                <a:latin typeface="Arial"/>
              </a:rPr>
              <a:t>Test 2: data</a:t>
            </a:r>
          </a:p>
        </p:txBody>
      </p:sp>
      <p:sp>
        <p:nvSpPr>
          <p:cNvPr id="57" name="TextBox 56"/>
          <p:cNvSpPr txBox="1"/>
          <p:nvPr/>
        </p:nvSpPr>
        <p:spPr>
          <a:xfrm>
            <a:off x="6266688" y="4114800"/>
            <a:ext cx="2484120" cy="320040"/>
          </a:xfrm>
          <a:prstGeom prst="rect">
            <a:avLst/>
          </a:prstGeom>
          <a:noFill/>
        </p:spPr>
        <p:txBody>
          <a:bodyPr wrap="square" lIns="45720" tIns="22860" rIns="45720" bIns="22860">
            <a:spAutoFit/>
          </a:bodyPr>
          <a:lstStyle/>
          <a:p>
            <a:r>
              <a:rPr sz="1000" b="0" i="0">
                <a:solidFill>
                  <a:srgbClr val="64748B"/>
                </a:solidFill>
                <a:latin typeface="Arial"/>
              </a:rPr>
              <a:t>What is real, what is assumed</a:t>
            </a:r>
          </a:p>
        </p:txBody>
      </p:sp>
      <p:sp>
        <p:nvSpPr>
          <p:cNvPr id="58" name="Rounded Rectangle 57"/>
          <p:cNvSpPr/>
          <p:nvPr/>
        </p:nvSpPr>
        <p:spPr>
          <a:xfrm>
            <a:off x="6175248" y="4572000"/>
            <a:ext cx="2621280" cy="77724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ounded Rectangle 58"/>
          <p:cNvSpPr/>
          <p:nvPr/>
        </p:nvSpPr>
        <p:spPr>
          <a:xfrm>
            <a:off x="6266688" y="4663440"/>
            <a:ext cx="594360" cy="265176"/>
          </a:xfrm>
          <a:prstGeom prst="roundRect">
            <a:avLst>
              <a:gd name="adj" fmla="val 5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266688" y="4663440"/>
            <a:ext cx="594360" cy="265176"/>
          </a:xfrm>
          <a:prstGeom prst="rect">
            <a:avLst/>
          </a:prstGeom>
          <a:noFill/>
        </p:spPr>
        <p:txBody>
          <a:bodyPr wrap="square" lIns="45720" tIns="22860" rIns="45720" bIns="22860" anchor="ctr">
            <a:spAutoFit/>
          </a:bodyPr>
          <a:lstStyle/>
          <a:p>
            <a:pPr algn="ctr"/>
            <a:r>
              <a:rPr sz="1000" b="1" i="0">
                <a:solidFill>
                  <a:srgbClr val="FFFFFF"/>
                </a:solidFill>
                <a:latin typeface="Arial"/>
              </a:rPr>
              <a:t>A11</a:t>
            </a:r>
          </a:p>
        </p:txBody>
      </p:sp>
      <p:sp>
        <p:nvSpPr>
          <p:cNvPr id="61" name="TextBox 60"/>
          <p:cNvSpPr txBox="1"/>
          <p:nvPr/>
        </p:nvSpPr>
        <p:spPr>
          <a:xfrm>
            <a:off x="6906768" y="4617720"/>
            <a:ext cx="1844040" cy="320040"/>
          </a:xfrm>
          <a:prstGeom prst="rect">
            <a:avLst/>
          </a:prstGeom>
          <a:noFill/>
        </p:spPr>
        <p:txBody>
          <a:bodyPr wrap="square" lIns="45720" tIns="22860" rIns="45720" bIns="22860">
            <a:spAutoFit/>
          </a:bodyPr>
          <a:lstStyle/>
          <a:p>
            <a:r>
              <a:rPr sz="1200" b="1" i="0">
                <a:solidFill>
                  <a:srgbClr val="0F172A"/>
                </a:solidFill>
                <a:latin typeface="Arial"/>
              </a:rPr>
              <a:t>Test 2: results</a:t>
            </a:r>
          </a:p>
        </p:txBody>
      </p:sp>
      <p:sp>
        <p:nvSpPr>
          <p:cNvPr id="62" name="TextBox 61"/>
          <p:cNvSpPr txBox="1"/>
          <p:nvPr/>
        </p:nvSpPr>
        <p:spPr>
          <a:xfrm>
            <a:off x="6266688" y="4983480"/>
            <a:ext cx="2484120" cy="320040"/>
          </a:xfrm>
          <a:prstGeom prst="rect">
            <a:avLst/>
          </a:prstGeom>
          <a:noFill/>
        </p:spPr>
        <p:txBody>
          <a:bodyPr wrap="square" lIns="45720" tIns="22860" rIns="45720" bIns="22860">
            <a:spAutoFit/>
          </a:bodyPr>
          <a:lstStyle/>
          <a:p>
            <a:r>
              <a:rPr sz="1000" b="0" i="0">
                <a:solidFill>
                  <a:srgbClr val="64748B"/>
                </a:solidFill>
                <a:latin typeface="Arial"/>
              </a:rPr>
              <a:t>Both timetables, A / B / C</a:t>
            </a:r>
          </a:p>
        </p:txBody>
      </p:sp>
      <p:sp>
        <p:nvSpPr>
          <p:cNvPr id="63" name="TextBox 62"/>
          <p:cNvSpPr txBox="1"/>
          <p:nvPr/>
        </p:nvSpPr>
        <p:spPr>
          <a:xfrm>
            <a:off x="8979408" y="1554480"/>
            <a:ext cx="2621280" cy="320040"/>
          </a:xfrm>
          <a:prstGeom prst="rect">
            <a:avLst/>
          </a:prstGeom>
          <a:noFill/>
        </p:spPr>
        <p:txBody>
          <a:bodyPr wrap="square" lIns="45720" tIns="22860" rIns="45720" bIns="22860">
            <a:spAutoFit/>
          </a:bodyPr>
          <a:lstStyle/>
          <a:p>
            <a:r>
              <a:rPr sz="1300" b="1" i="0">
                <a:solidFill>
                  <a:srgbClr val="0284C7"/>
                </a:solidFill>
                <a:latin typeface="Arial"/>
              </a:rPr>
              <a:t>Solver</a:t>
            </a:r>
          </a:p>
        </p:txBody>
      </p:sp>
      <p:sp>
        <p:nvSpPr>
          <p:cNvPr id="64" name="Rounded Rectangle 63"/>
          <p:cNvSpPr/>
          <p:nvPr/>
        </p:nvSpPr>
        <p:spPr>
          <a:xfrm>
            <a:off x="8979408" y="1965960"/>
            <a:ext cx="2621280" cy="77724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ounded Rectangle 64"/>
          <p:cNvSpPr/>
          <p:nvPr/>
        </p:nvSpPr>
        <p:spPr>
          <a:xfrm>
            <a:off x="9070848" y="2057400"/>
            <a:ext cx="594360" cy="265176"/>
          </a:xfrm>
          <a:prstGeom prst="roundRect">
            <a:avLst>
              <a:gd name="adj" fmla="val 5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9070848" y="2057400"/>
            <a:ext cx="594360" cy="265176"/>
          </a:xfrm>
          <a:prstGeom prst="rect">
            <a:avLst/>
          </a:prstGeom>
          <a:noFill/>
        </p:spPr>
        <p:txBody>
          <a:bodyPr wrap="square" lIns="45720" tIns="22860" rIns="45720" bIns="22860" anchor="ctr">
            <a:spAutoFit/>
          </a:bodyPr>
          <a:lstStyle/>
          <a:p>
            <a:pPr algn="ctr"/>
            <a:r>
              <a:rPr sz="1000" b="1" i="0">
                <a:solidFill>
                  <a:srgbClr val="FFFFFF"/>
                </a:solidFill>
                <a:latin typeface="Arial"/>
              </a:rPr>
              <a:t>A12</a:t>
            </a:r>
          </a:p>
        </p:txBody>
      </p:sp>
      <p:sp>
        <p:nvSpPr>
          <p:cNvPr id="67" name="TextBox 66"/>
          <p:cNvSpPr txBox="1"/>
          <p:nvPr/>
        </p:nvSpPr>
        <p:spPr>
          <a:xfrm>
            <a:off x="9710928" y="2011680"/>
            <a:ext cx="1844040" cy="320040"/>
          </a:xfrm>
          <a:prstGeom prst="rect">
            <a:avLst/>
          </a:prstGeom>
          <a:noFill/>
        </p:spPr>
        <p:txBody>
          <a:bodyPr wrap="square" lIns="45720" tIns="22860" rIns="45720" bIns="22860">
            <a:spAutoFit/>
          </a:bodyPr>
          <a:lstStyle/>
          <a:p>
            <a:r>
              <a:rPr sz="1200" b="1" i="0">
                <a:solidFill>
                  <a:srgbClr val="0F172A"/>
                </a:solidFill>
                <a:latin typeface="Arial"/>
              </a:rPr>
              <a:t>PuLP / CBC / HiGHS</a:t>
            </a:r>
          </a:p>
        </p:txBody>
      </p:sp>
      <p:sp>
        <p:nvSpPr>
          <p:cNvPr id="68" name="TextBox 67"/>
          <p:cNvSpPr txBox="1"/>
          <p:nvPr/>
        </p:nvSpPr>
        <p:spPr>
          <a:xfrm>
            <a:off x="9070848" y="2377440"/>
            <a:ext cx="2484120" cy="320040"/>
          </a:xfrm>
          <a:prstGeom prst="rect">
            <a:avLst/>
          </a:prstGeom>
          <a:noFill/>
        </p:spPr>
        <p:txBody>
          <a:bodyPr wrap="square" lIns="45720" tIns="22860" rIns="45720" bIns="22860">
            <a:spAutoFit/>
          </a:bodyPr>
          <a:lstStyle/>
          <a:p>
            <a:r>
              <a:rPr sz="1000" b="0" i="0">
                <a:solidFill>
                  <a:srgbClr val="64748B"/>
                </a:solidFill>
                <a:latin typeface="Arial"/>
              </a:rPr>
              <a:t>Why another solver may be faster</a:t>
            </a:r>
          </a:p>
        </p:txBody>
      </p:sp>
      <p:sp>
        <p:nvSpPr>
          <p:cNvPr id="69" name="TextBox 68"/>
          <p:cNvSpPr txBox="1"/>
          <p:nvPr/>
        </p:nvSpPr>
        <p:spPr>
          <a:xfrm>
            <a:off x="11164824" y="6492240"/>
            <a:ext cx="457200" cy="219456"/>
          </a:xfrm>
          <a:prstGeom prst="rect">
            <a:avLst/>
          </a:prstGeom>
          <a:noFill/>
          <a:ln/>
        </p:spPr>
        <p:txBody>
          <a:bodyPr wrap="square" lIns="0" tIns="0" rIns="0" bIns="0" rtlCol="0" anchor="ctr"/>
          <a:lstStyle/>
          <a:p>
            <a:pPr marL="0" indent="0" algn="r">
              <a:buNone/>
            </a:pPr>
            <a:fld id="{8B2C3E4A-5D6F-4A1B-9C2D-3E4F5A6B7C8D}" type="slidenum">
              <a:rPr lang="en-US" altLang="ja-JP" sz="1000" dirty="0">
                <a:solidFill>
                  <a:srgbClr val="94A3B8"/>
                </a:solidFill>
                <a:latin typeface="Arial" pitchFamily="34" charset="0"/>
                <a:ea typeface="Arial" pitchFamily="34" charset="-122"/>
                <a:cs typeface="Arial" pitchFamily="34" charset="-120"/>
              </a:rPr>
              <a:t>26</a:t>
            </a:fld>
            <a:endParaRPr lang="en-US" altLang="ja-JP" sz="1000" dirty="0"/>
          </a:p>
        </p:txBody>
      </p:sp>
    </p:spTree>
    <p:extLst>
      <p:ext uri="{BB962C8B-B14F-4D97-AF65-F5344CB8AC3E}">
        <p14:creationId xmlns:p14="http://schemas.microsoft.com/office/powerpoint/2010/main" val="10582704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FCC7D-C306-402C-9BD7-F070F79EAF4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28BE324-AF5E-4A9E-400A-6F2D63079E8B}"/>
              </a:ext>
            </a:extLst>
          </p:cNvPr>
          <p:cNvSpPr txBox="1"/>
          <p:nvPr/>
        </p:nvSpPr>
        <p:spPr>
          <a:xfrm>
            <a:off x="566928" y="310896"/>
            <a:ext cx="11055096" cy="237744"/>
          </a:xfrm>
          <a:prstGeom prst="rect">
            <a:avLst/>
          </a:prstGeom>
          <a:noFill/>
        </p:spPr>
        <p:txBody>
          <a:bodyPr wrap="square" lIns="45720" tIns="22860" rIns="45720" bIns="22860">
            <a:spAutoFit/>
          </a:bodyPr>
          <a:lstStyle/>
          <a:p>
            <a:r>
              <a:rPr sz="1200" b="1" i="0" dirty="0">
                <a:solidFill>
                  <a:srgbClr val="0284C7"/>
                </a:solidFill>
                <a:latin typeface="Arial"/>
              </a:rPr>
              <a:t>APPENDIX   A1</a:t>
            </a:r>
          </a:p>
        </p:txBody>
      </p:sp>
      <p:sp>
        <p:nvSpPr>
          <p:cNvPr id="3" name="TextBox 2">
            <a:extLst>
              <a:ext uri="{FF2B5EF4-FFF2-40B4-BE49-F238E27FC236}">
                <a16:creationId xmlns:a16="http://schemas.microsoft.com/office/drawing/2014/main" id="{0BBB8F83-1B60-613D-3959-B9BD41758635}"/>
              </a:ext>
            </a:extLst>
          </p:cNvPr>
          <p:cNvSpPr txBox="1"/>
          <p:nvPr/>
        </p:nvSpPr>
        <p:spPr>
          <a:xfrm>
            <a:off x="566928" y="566928"/>
            <a:ext cx="11055096" cy="446276"/>
          </a:xfrm>
          <a:prstGeom prst="rect">
            <a:avLst/>
          </a:prstGeom>
          <a:noFill/>
        </p:spPr>
        <p:txBody>
          <a:bodyPr wrap="square" lIns="45720" tIns="22860" rIns="45720" bIns="22860">
            <a:spAutoFit/>
          </a:bodyPr>
          <a:lstStyle/>
          <a:p>
            <a:r>
              <a:rPr lang="en-US" sz="2600" b="1" i="0" dirty="0">
                <a:solidFill>
                  <a:srgbClr val="0F172A"/>
                </a:solidFill>
                <a:latin typeface="Arial"/>
              </a:rPr>
              <a:t>Roadmap (updates planned until around March 2027)</a:t>
            </a:r>
            <a:endParaRPr sz="2600" b="1" i="0" dirty="0">
              <a:solidFill>
                <a:srgbClr val="0F172A"/>
              </a:solidFill>
              <a:latin typeface="Arial"/>
            </a:endParaRPr>
          </a:p>
        </p:txBody>
      </p:sp>
      <p:sp>
        <p:nvSpPr>
          <p:cNvPr id="5" name="TextBox 4">
            <a:extLst>
              <a:ext uri="{FF2B5EF4-FFF2-40B4-BE49-F238E27FC236}">
                <a16:creationId xmlns:a16="http://schemas.microsoft.com/office/drawing/2014/main" id="{9CD8B5B6-DEF7-F497-CE98-834A97040311}"/>
              </a:ext>
            </a:extLst>
          </p:cNvPr>
          <p:cNvSpPr txBox="1"/>
          <p:nvPr/>
        </p:nvSpPr>
        <p:spPr>
          <a:xfrm>
            <a:off x="11164824" y="6492240"/>
            <a:ext cx="457200" cy="219456"/>
          </a:xfrm>
          <a:prstGeom prst="rect">
            <a:avLst/>
          </a:prstGeom>
          <a:noFill/>
          <a:ln/>
        </p:spPr>
        <p:txBody>
          <a:bodyPr wrap="square" lIns="0" tIns="0" rIns="0" bIns="0" rtlCol="0" anchor="ctr"/>
          <a:lstStyle/>
          <a:p>
            <a:pPr marL="0" indent="0" algn="r">
              <a:buNone/>
            </a:pPr>
            <a:fld id="{8B2C3E4A-5D6F-4A1B-9C2D-3E4F5A6B7C8D}" type="slidenum">
              <a:rPr lang="en-US" altLang="ja-JP" sz="1000" dirty="0">
                <a:solidFill>
                  <a:srgbClr val="94A3B8"/>
                </a:solidFill>
                <a:latin typeface="Arial" pitchFamily="34" charset="0"/>
                <a:ea typeface="Arial" pitchFamily="34" charset="-122"/>
                <a:cs typeface="Arial" pitchFamily="34" charset="-120"/>
              </a:rPr>
              <a:t>27</a:t>
            </a:fld>
            <a:endParaRPr lang="en-US" altLang="ja-JP" sz="1000" dirty="0"/>
          </a:p>
        </p:txBody>
      </p:sp>
      <p:sp>
        <p:nvSpPr>
          <p:cNvPr id="7" name="Rectangle 4">
            <a:extLst>
              <a:ext uri="{FF2B5EF4-FFF2-40B4-BE49-F238E27FC236}">
                <a16:creationId xmlns:a16="http://schemas.microsoft.com/office/drawing/2014/main" id="{93D2AE4D-B80C-B47E-45DF-23D82294CB66}"/>
              </a:ext>
            </a:extLst>
          </p:cNvPr>
          <p:cNvSpPr/>
          <p:nvPr/>
        </p:nvSpPr>
        <p:spPr>
          <a:xfrm>
            <a:off x="566928" y="1463040"/>
            <a:ext cx="11055096" cy="7772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5">
            <a:extLst>
              <a:ext uri="{FF2B5EF4-FFF2-40B4-BE49-F238E27FC236}">
                <a16:creationId xmlns:a16="http://schemas.microsoft.com/office/drawing/2014/main" id="{6B27512B-3141-8420-91EF-63EEE092C756}"/>
              </a:ext>
            </a:extLst>
          </p:cNvPr>
          <p:cNvSpPr/>
          <p:nvPr/>
        </p:nvSpPr>
        <p:spPr>
          <a:xfrm>
            <a:off x="731520" y="1696212"/>
            <a:ext cx="310896" cy="310896"/>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6">
            <a:extLst>
              <a:ext uri="{FF2B5EF4-FFF2-40B4-BE49-F238E27FC236}">
                <a16:creationId xmlns:a16="http://schemas.microsoft.com/office/drawing/2014/main" id="{0E75266E-DAAA-E60B-C2C3-982E2B76FB61}"/>
              </a:ext>
            </a:extLst>
          </p:cNvPr>
          <p:cNvSpPr txBox="1"/>
          <p:nvPr/>
        </p:nvSpPr>
        <p:spPr>
          <a:xfrm>
            <a:off x="731520" y="1696212"/>
            <a:ext cx="310896" cy="310896"/>
          </a:xfrm>
          <a:prstGeom prst="rect">
            <a:avLst/>
          </a:prstGeom>
          <a:noFill/>
        </p:spPr>
        <p:txBody>
          <a:bodyPr wrap="square" anchor="ctr">
            <a:spAutoFit/>
          </a:bodyPr>
          <a:lstStyle/>
          <a:p>
            <a:pPr algn="ctr"/>
            <a:r>
              <a:rPr sz="1200" b="1">
                <a:solidFill>
                  <a:srgbClr val="FFFFFF"/>
                </a:solidFill>
                <a:latin typeface="Arial"/>
              </a:rPr>
              <a:t>1</a:t>
            </a:r>
          </a:p>
        </p:txBody>
      </p:sp>
      <p:sp>
        <p:nvSpPr>
          <p:cNvPr id="13" name="TextBox 7">
            <a:extLst>
              <a:ext uri="{FF2B5EF4-FFF2-40B4-BE49-F238E27FC236}">
                <a16:creationId xmlns:a16="http://schemas.microsoft.com/office/drawing/2014/main" id="{C29B974A-F8B4-25AC-FA3D-5E614B654E0C}"/>
              </a:ext>
            </a:extLst>
          </p:cNvPr>
          <p:cNvSpPr txBox="1"/>
          <p:nvPr/>
        </p:nvSpPr>
        <p:spPr>
          <a:xfrm>
            <a:off x="1188720" y="1674688"/>
            <a:ext cx="6858000" cy="353943"/>
          </a:xfrm>
          <a:prstGeom prst="rect">
            <a:avLst/>
          </a:prstGeom>
          <a:noFill/>
        </p:spPr>
        <p:txBody>
          <a:bodyPr wrap="square" anchor="ctr">
            <a:spAutoFit/>
          </a:bodyPr>
          <a:lstStyle/>
          <a:p>
            <a:r>
              <a:rPr lang="en-US" sz="1700" b="1" dirty="0">
                <a:solidFill>
                  <a:srgbClr val="0F172A"/>
                </a:solidFill>
                <a:latin typeface="Arial"/>
              </a:rPr>
              <a:t>Switch the solver from CBC to </a:t>
            </a:r>
            <a:r>
              <a:rPr lang="en-US" sz="1700" b="1" dirty="0" err="1">
                <a:solidFill>
                  <a:srgbClr val="0F172A"/>
                </a:solidFill>
                <a:latin typeface="Arial"/>
              </a:rPr>
              <a:t>HiGHS</a:t>
            </a:r>
            <a:endParaRPr sz="1700" b="1" dirty="0">
              <a:solidFill>
                <a:srgbClr val="0F172A"/>
              </a:solidFill>
              <a:latin typeface="Arial"/>
            </a:endParaRPr>
          </a:p>
        </p:txBody>
      </p:sp>
      <p:sp>
        <p:nvSpPr>
          <p:cNvPr id="15" name="Rectangle 8">
            <a:extLst>
              <a:ext uri="{FF2B5EF4-FFF2-40B4-BE49-F238E27FC236}">
                <a16:creationId xmlns:a16="http://schemas.microsoft.com/office/drawing/2014/main" id="{FD450FB6-BF51-6C3E-2E13-280CB4E631E1}"/>
              </a:ext>
            </a:extLst>
          </p:cNvPr>
          <p:cNvSpPr/>
          <p:nvPr/>
        </p:nvSpPr>
        <p:spPr>
          <a:xfrm>
            <a:off x="566928" y="2377440"/>
            <a:ext cx="11055096" cy="7772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9">
            <a:extLst>
              <a:ext uri="{FF2B5EF4-FFF2-40B4-BE49-F238E27FC236}">
                <a16:creationId xmlns:a16="http://schemas.microsoft.com/office/drawing/2014/main" id="{78E8D524-71AE-8E77-6666-D4BC9EFE02B4}"/>
              </a:ext>
            </a:extLst>
          </p:cNvPr>
          <p:cNvSpPr/>
          <p:nvPr/>
        </p:nvSpPr>
        <p:spPr>
          <a:xfrm>
            <a:off x="731520" y="2610612"/>
            <a:ext cx="310896" cy="310896"/>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0">
            <a:extLst>
              <a:ext uri="{FF2B5EF4-FFF2-40B4-BE49-F238E27FC236}">
                <a16:creationId xmlns:a16="http://schemas.microsoft.com/office/drawing/2014/main" id="{F30B932A-A89D-8FB8-6C4E-334AD542B778}"/>
              </a:ext>
            </a:extLst>
          </p:cNvPr>
          <p:cNvSpPr txBox="1"/>
          <p:nvPr/>
        </p:nvSpPr>
        <p:spPr>
          <a:xfrm>
            <a:off x="731520" y="2610612"/>
            <a:ext cx="310896" cy="310896"/>
          </a:xfrm>
          <a:prstGeom prst="rect">
            <a:avLst/>
          </a:prstGeom>
          <a:noFill/>
        </p:spPr>
        <p:txBody>
          <a:bodyPr wrap="square" anchor="ctr">
            <a:spAutoFit/>
          </a:bodyPr>
          <a:lstStyle/>
          <a:p>
            <a:pPr algn="ctr"/>
            <a:r>
              <a:rPr sz="1200" b="1">
                <a:solidFill>
                  <a:srgbClr val="FFFFFF"/>
                </a:solidFill>
                <a:latin typeface="Arial"/>
              </a:rPr>
              <a:t>2</a:t>
            </a:r>
          </a:p>
        </p:txBody>
      </p:sp>
      <p:sp>
        <p:nvSpPr>
          <p:cNvPr id="21" name="TextBox 11">
            <a:extLst>
              <a:ext uri="{FF2B5EF4-FFF2-40B4-BE49-F238E27FC236}">
                <a16:creationId xmlns:a16="http://schemas.microsoft.com/office/drawing/2014/main" id="{E818CF03-8661-3BBD-64C1-568920D51B49}"/>
              </a:ext>
            </a:extLst>
          </p:cNvPr>
          <p:cNvSpPr txBox="1"/>
          <p:nvPr/>
        </p:nvSpPr>
        <p:spPr>
          <a:xfrm>
            <a:off x="1188720" y="2458283"/>
            <a:ext cx="6858000" cy="615553"/>
          </a:xfrm>
          <a:prstGeom prst="rect">
            <a:avLst/>
          </a:prstGeom>
          <a:noFill/>
        </p:spPr>
        <p:txBody>
          <a:bodyPr wrap="square" anchor="ctr">
            <a:spAutoFit/>
          </a:bodyPr>
          <a:lstStyle/>
          <a:p>
            <a:r>
              <a:rPr lang="en-US" sz="1700" b="1" dirty="0">
                <a:solidFill>
                  <a:srgbClr val="0F172A"/>
                </a:solidFill>
                <a:latin typeface="Arial"/>
              </a:rPr>
              <a:t>Improve the definition of objective B (conflicts between simultaneous presentations)</a:t>
            </a:r>
            <a:endParaRPr sz="1700" b="1" dirty="0">
              <a:solidFill>
                <a:srgbClr val="0F172A"/>
              </a:solidFill>
              <a:latin typeface="Arial"/>
            </a:endParaRPr>
          </a:p>
        </p:txBody>
      </p:sp>
      <p:sp>
        <p:nvSpPr>
          <p:cNvPr id="23" name="Rectangle 12">
            <a:extLst>
              <a:ext uri="{FF2B5EF4-FFF2-40B4-BE49-F238E27FC236}">
                <a16:creationId xmlns:a16="http://schemas.microsoft.com/office/drawing/2014/main" id="{851BE8EB-BFE2-ADCD-2CF8-B4B3143F7454}"/>
              </a:ext>
            </a:extLst>
          </p:cNvPr>
          <p:cNvSpPr/>
          <p:nvPr/>
        </p:nvSpPr>
        <p:spPr>
          <a:xfrm>
            <a:off x="566928" y="3291840"/>
            <a:ext cx="11055096" cy="7772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13">
            <a:extLst>
              <a:ext uri="{FF2B5EF4-FFF2-40B4-BE49-F238E27FC236}">
                <a16:creationId xmlns:a16="http://schemas.microsoft.com/office/drawing/2014/main" id="{E2538808-AA60-A84C-991F-10C5B11E84C8}"/>
              </a:ext>
            </a:extLst>
          </p:cNvPr>
          <p:cNvSpPr/>
          <p:nvPr/>
        </p:nvSpPr>
        <p:spPr>
          <a:xfrm>
            <a:off x="731520" y="3525012"/>
            <a:ext cx="310896" cy="310896"/>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14">
            <a:extLst>
              <a:ext uri="{FF2B5EF4-FFF2-40B4-BE49-F238E27FC236}">
                <a16:creationId xmlns:a16="http://schemas.microsoft.com/office/drawing/2014/main" id="{7FE04D5C-78D9-3F84-DA72-428D90C2157E}"/>
              </a:ext>
            </a:extLst>
          </p:cNvPr>
          <p:cNvSpPr txBox="1"/>
          <p:nvPr/>
        </p:nvSpPr>
        <p:spPr>
          <a:xfrm>
            <a:off x="731520" y="3525012"/>
            <a:ext cx="310896" cy="310896"/>
          </a:xfrm>
          <a:prstGeom prst="rect">
            <a:avLst/>
          </a:prstGeom>
          <a:noFill/>
        </p:spPr>
        <p:txBody>
          <a:bodyPr wrap="square" anchor="ctr">
            <a:spAutoFit/>
          </a:bodyPr>
          <a:lstStyle/>
          <a:p>
            <a:pPr algn="ctr"/>
            <a:r>
              <a:rPr sz="1200" b="1">
                <a:solidFill>
                  <a:srgbClr val="FFFFFF"/>
                </a:solidFill>
                <a:latin typeface="Arial"/>
              </a:rPr>
              <a:t>3</a:t>
            </a:r>
          </a:p>
        </p:txBody>
      </p:sp>
      <p:sp>
        <p:nvSpPr>
          <p:cNvPr id="29" name="TextBox 15">
            <a:extLst>
              <a:ext uri="{FF2B5EF4-FFF2-40B4-BE49-F238E27FC236}">
                <a16:creationId xmlns:a16="http://schemas.microsoft.com/office/drawing/2014/main" id="{A03EA994-0E1D-3054-4158-555BB3CD6259}"/>
              </a:ext>
            </a:extLst>
          </p:cNvPr>
          <p:cNvSpPr txBox="1"/>
          <p:nvPr/>
        </p:nvSpPr>
        <p:spPr>
          <a:xfrm>
            <a:off x="1188720" y="3503488"/>
            <a:ext cx="6858000" cy="353943"/>
          </a:xfrm>
          <a:prstGeom prst="rect">
            <a:avLst/>
          </a:prstGeom>
          <a:noFill/>
        </p:spPr>
        <p:txBody>
          <a:bodyPr wrap="square" anchor="ctr">
            <a:spAutoFit/>
          </a:bodyPr>
          <a:lstStyle/>
          <a:p>
            <a:r>
              <a:rPr lang="en-US" sz="1700" b="1" dirty="0">
                <a:solidFill>
                  <a:srgbClr val="0F172A"/>
                </a:solidFill>
                <a:latin typeface="Arial"/>
              </a:rPr>
              <a:t>Build a Windows app and support more macOS versions</a:t>
            </a:r>
            <a:endParaRPr sz="1700" b="1" dirty="0">
              <a:solidFill>
                <a:srgbClr val="0F172A"/>
              </a:solidFill>
              <a:latin typeface="Arial"/>
            </a:endParaRPr>
          </a:p>
        </p:txBody>
      </p:sp>
      <p:sp>
        <p:nvSpPr>
          <p:cNvPr id="31" name="Rectangle 16">
            <a:extLst>
              <a:ext uri="{FF2B5EF4-FFF2-40B4-BE49-F238E27FC236}">
                <a16:creationId xmlns:a16="http://schemas.microsoft.com/office/drawing/2014/main" id="{490E9E96-2AE5-0D6B-D334-D9E274E70302}"/>
              </a:ext>
            </a:extLst>
          </p:cNvPr>
          <p:cNvSpPr/>
          <p:nvPr/>
        </p:nvSpPr>
        <p:spPr>
          <a:xfrm>
            <a:off x="566928" y="4206240"/>
            <a:ext cx="11055096" cy="777240"/>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17">
            <a:extLst>
              <a:ext uri="{FF2B5EF4-FFF2-40B4-BE49-F238E27FC236}">
                <a16:creationId xmlns:a16="http://schemas.microsoft.com/office/drawing/2014/main" id="{F2224585-3889-CF0A-5862-BC3823BFCBAA}"/>
              </a:ext>
            </a:extLst>
          </p:cNvPr>
          <p:cNvSpPr/>
          <p:nvPr/>
        </p:nvSpPr>
        <p:spPr>
          <a:xfrm>
            <a:off x="731520" y="4439412"/>
            <a:ext cx="310896" cy="310896"/>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18">
            <a:extLst>
              <a:ext uri="{FF2B5EF4-FFF2-40B4-BE49-F238E27FC236}">
                <a16:creationId xmlns:a16="http://schemas.microsoft.com/office/drawing/2014/main" id="{DC7D16A8-A2E8-15E4-8573-56BEF055AD34}"/>
              </a:ext>
            </a:extLst>
          </p:cNvPr>
          <p:cNvSpPr txBox="1"/>
          <p:nvPr/>
        </p:nvSpPr>
        <p:spPr>
          <a:xfrm>
            <a:off x="731520" y="4439412"/>
            <a:ext cx="310896" cy="310896"/>
          </a:xfrm>
          <a:prstGeom prst="rect">
            <a:avLst/>
          </a:prstGeom>
          <a:noFill/>
        </p:spPr>
        <p:txBody>
          <a:bodyPr wrap="square" anchor="ctr">
            <a:spAutoFit/>
          </a:bodyPr>
          <a:lstStyle/>
          <a:p>
            <a:pPr algn="ctr"/>
            <a:r>
              <a:rPr sz="1200" b="1">
                <a:solidFill>
                  <a:srgbClr val="FFFFFF"/>
                </a:solidFill>
                <a:latin typeface="Arial"/>
              </a:rPr>
              <a:t>4</a:t>
            </a:r>
          </a:p>
        </p:txBody>
      </p:sp>
      <p:sp>
        <p:nvSpPr>
          <p:cNvPr id="37" name="TextBox 19">
            <a:extLst>
              <a:ext uri="{FF2B5EF4-FFF2-40B4-BE49-F238E27FC236}">
                <a16:creationId xmlns:a16="http://schemas.microsoft.com/office/drawing/2014/main" id="{7C0D6340-A81D-90F7-89FA-7E1DA023E63B}"/>
              </a:ext>
            </a:extLst>
          </p:cNvPr>
          <p:cNvSpPr txBox="1"/>
          <p:nvPr/>
        </p:nvSpPr>
        <p:spPr>
          <a:xfrm>
            <a:off x="1188720" y="4287083"/>
            <a:ext cx="6949440" cy="615553"/>
          </a:xfrm>
          <a:prstGeom prst="rect">
            <a:avLst/>
          </a:prstGeom>
          <a:noFill/>
        </p:spPr>
        <p:txBody>
          <a:bodyPr wrap="square" anchor="ctr">
            <a:spAutoFit/>
          </a:bodyPr>
          <a:lstStyle/>
          <a:p>
            <a:r>
              <a:rPr lang="en-US" sz="1700" b="1" dirty="0">
                <a:solidFill>
                  <a:srgbClr val="B45309"/>
                </a:solidFill>
                <a:latin typeface="Arial"/>
              </a:rPr>
              <a:t>Scheduled for maintenance and improvements through March 2027</a:t>
            </a:r>
            <a:endParaRPr sz="1700" b="1" dirty="0">
              <a:solidFill>
                <a:srgbClr val="B45309"/>
              </a:solidFill>
              <a:latin typeface="Arial"/>
            </a:endParaRPr>
          </a:p>
        </p:txBody>
      </p:sp>
      <p:sp>
        <p:nvSpPr>
          <p:cNvPr id="39" name="Rounded Rectangle 20">
            <a:extLst>
              <a:ext uri="{FF2B5EF4-FFF2-40B4-BE49-F238E27FC236}">
                <a16:creationId xmlns:a16="http://schemas.microsoft.com/office/drawing/2014/main" id="{21CB5B03-21BF-886B-0159-19F1FBBC4A11}"/>
              </a:ext>
            </a:extLst>
          </p:cNvPr>
          <p:cNvSpPr/>
          <p:nvPr/>
        </p:nvSpPr>
        <p:spPr>
          <a:xfrm>
            <a:off x="8138160" y="1645920"/>
            <a:ext cx="3337560" cy="411480"/>
          </a:xfrm>
          <a:prstGeom prst="roundRect">
            <a:avLst>
              <a:gd name="adj" fmla="val 50000"/>
            </a:avLst>
          </a:prstGeom>
          <a:solidFill>
            <a:srgbClr val="FFFFFF"/>
          </a:solidFill>
          <a:ln w="1587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21">
            <a:extLst>
              <a:ext uri="{FF2B5EF4-FFF2-40B4-BE49-F238E27FC236}">
                <a16:creationId xmlns:a16="http://schemas.microsoft.com/office/drawing/2014/main" id="{E7500DA3-0E0B-F459-01E3-82B30D6919A9}"/>
              </a:ext>
            </a:extLst>
          </p:cNvPr>
          <p:cNvSpPr txBox="1"/>
          <p:nvPr/>
        </p:nvSpPr>
        <p:spPr>
          <a:xfrm>
            <a:off x="8138160" y="1728549"/>
            <a:ext cx="3337560" cy="246221"/>
          </a:xfrm>
          <a:prstGeom prst="rect">
            <a:avLst/>
          </a:prstGeom>
          <a:noFill/>
        </p:spPr>
        <p:txBody>
          <a:bodyPr wrap="square" lIns="45720" tIns="22860" rIns="45720" bIns="22860" anchor="ctr">
            <a:spAutoFit/>
          </a:bodyPr>
          <a:lstStyle/>
          <a:p>
            <a:pPr algn="ctr"/>
            <a:r>
              <a:rPr lang="en-US" altLang="ja-JP" sz="1300" b="1" dirty="0">
                <a:solidFill>
                  <a:srgbClr val="0284C7"/>
                </a:solidFill>
                <a:latin typeface="Arial"/>
              </a:rPr>
              <a:t>Become</a:t>
            </a:r>
            <a:r>
              <a:rPr lang="en-US" sz="1300" b="1" i="0" dirty="0">
                <a:solidFill>
                  <a:srgbClr val="0284C7"/>
                </a:solidFill>
                <a:latin typeface="Arial"/>
              </a:rPr>
              <a:t> faster</a:t>
            </a:r>
            <a:endParaRPr sz="1300" b="1" i="0" dirty="0">
              <a:solidFill>
                <a:srgbClr val="0284C7"/>
              </a:solidFill>
              <a:latin typeface="Arial"/>
            </a:endParaRPr>
          </a:p>
        </p:txBody>
      </p:sp>
      <p:sp>
        <p:nvSpPr>
          <p:cNvPr id="43" name="Rounded Rectangle 22">
            <a:extLst>
              <a:ext uri="{FF2B5EF4-FFF2-40B4-BE49-F238E27FC236}">
                <a16:creationId xmlns:a16="http://schemas.microsoft.com/office/drawing/2014/main" id="{41D61ED5-BCC0-B414-2BA8-13432200ADEA}"/>
              </a:ext>
            </a:extLst>
          </p:cNvPr>
          <p:cNvSpPr/>
          <p:nvPr/>
        </p:nvSpPr>
        <p:spPr>
          <a:xfrm>
            <a:off x="8138160" y="2560320"/>
            <a:ext cx="3337560" cy="411480"/>
          </a:xfrm>
          <a:prstGeom prst="roundRect">
            <a:avLst>
              <a:gd name="adj" fmla="val 50000"/>
            </a:avLst>
          </a:prstGeom>
          <a:solidFill>
            <a:srgbClr val="FFFFFF"/>
          </a:solidFill>
          <a:ln w="1587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23">
            <a:extLst>
              <a:ext uri="{FF2B5EF4-FFF2-40B4-BE49-F238E27FC236}">
                <a16:creationId xmlns:a16="http://schemas.microsoft.com/office/drawing/2014/main" id="{E96E79F0-A4D0-D519-747A-D07F90B8A6DF}"/>
              </a:ext>
            </a:extLst>
          </p:cNvPr>
          <p:cNvSpPr txBox="1"/>
          <p:nvPr/>
        </p:nvSpPr>
        <p:spPr>
          <a:xfrm>
            <a:off x="8138160" y="2642949"/>
            <a:ext cx="3337560" cy="246221"/>
          </a:xfrm>
          <a:prstGeom prst="rect">
            <a:avLst/>
          </a:prstGeom>
          <a:noFill/>
        </p:spPr>
        <p:txBody>
          <a:bodyPr wrap="square" lIns="45720" tIns="22860" rIns="45720" bIns="22860" anchor="ctr">
            <a:spAutoFit/>
          </a:bodyPr>
          <a:lstStyle/>
          <a:p>
            <a:pPr algn="ctr"/>
            <a:r>
              <a:rPr lang="en-US" sz="1300" b="1" i="0" dirty="0">
                <a:solidFill>
                  <a:srgbClr val="0284C7"/>
                </a:solidFill>
                <a:latin typeface="Arial"/>
              </a:rPr>
              <a:t>More useful</a:t>
            </a:r>
            <a:endParaRPr sz="1300" b="1" i="0" dirty="0">
              <a:solidFill>
                <a:srgbClr val="0284C7"/>
              </a:solidFill>
              <a:latin typeface="Arial"/>
            </a:endParaRPr>
          </a:p>
        </p:txBody>
      </p:sp>
      <p:sp>
        <p:nvSpPr>
          <p:cNvPr id="47" name="Rounded Rectangle 24">
            <a:extLst>
              <a:ext uri="{FF2B5EF4-FFF2-40B4-BE49-F238E27FC236}">
                <a16:creationId xmlns:a16="http://schemas.microsoft.com/office/drawing/2014/main" id="{752195EC-52E3-96A5-7BD6-F01BF8DB5F19}"/>
              </a:ext>
            </a:extLst>
          </p:cNvPr>
          <p:cNvSpPr/>
          <p:nvPr/>
        </p:nvSpPr>
        <p:spPr>
          <a:xfrm>
            <a:off x="8138160" y="3474720"/>
            <a:ext cx="3337560" cy="411480"/>
          </a:xfrm>
          <a:prstGeom prst="roundRect">
            <a:avLst>
              <a:gd name="adj" fmla="val 50000"/>
            </a:avLst>
          </a:prstGeom>
          <a:solidFill>
            <a:srgbClr val="FFFFFF"/>
          </a:solidFill>
          <a:ln w="1587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25">
            <a:extLst>
              <a:ext uri="{FF2B5EF4-FFF2-40B4-BE49-F238E27FC236}">
                <a16:creationId xmlns:a16="http://schemas.microsoft.com/office/drawing/2014/main" id="{9955E5C2-3FF1-E780-B11D-BFD7DB81722E}"/>
              </a:ext>
            </a:extLst>
          </p:cNvPr>
          <p:cNvSpPr txBox="1"/>
          <p:nvPr/>
        </p:nvSpPr>
        <p:spPr>
          <a:xfrm>
            <a:off x="8138160" y="3557349"/>
            <a:ext cx="3337560" cy="246221"/>
          </a:xfrm>
          <a:prstGeom prst="rect">
            <a:avLst/>
          </a:prstGeom>
          <a:noFill/>
        </p:spPr>
        <p:txBody>
          <a:bodyPr wrap="square" lIns="45720" tIns="22860" rIns="45720" bIns="22860" anchor="ctr">
            <a:spAutoFit/>
          </a:bodyPr>
          <a:lstStyle/>
          <a:p>
            <a:pPr algn="ctr"/>
            <a:r>
              <a:rPr lang="en-US" sz="1300" b="1" dirty="0">
                <a:solidFill>
                  <a:srgbClr val="0284C7"/>
                </a:solidFill>
                <a:latin typeface="Arial"/>
              </a:rPr>
              <a:t>Delivering to everyone</a:t>
            </a:r>
            <a:endParaRPr sz="1300" b="1" i="0" dirty="0">
              <a:solidFill>
                <a:srgbClr val="0284C7"/>
              </a:solidFill>
              <a:latin typeface="Arial"/>
            </a:endParaRPr>
          </a:p>
        </p:txBody>
      </p:sp>
      <p:sp>
        <p:nvSpPr>
          <p:cNvPr id="51" name="Rounded Rectangle 26">
            <a:extLst>
              <a:ext uri="{FF2B5EF4-FFF2-40B4-BE49-F238E27FC236}">
                <a16:creationId xmlns:a16="http://schemas.microsoft.com/office/drawing/2014/main" id="{C40E1D5D-DCEF-1D5E-C02D-7CF7EF7DD232}"/>
              </a:ext>
            </a:extLst>
          </p:cNvPr>
          <p:cNvSpPr/>
          <p:nvPr/>
        </p:nvSpPr>
        <p:spPr>
          <a:xfrm>
            <a:off x="8138160" y="4389120"/>
            <a:ext cx="3337560" cy="411480"/>
          </a:xfrm>
          <a:prstGeom prst="roundRect">
            <a:avLst>
              <a:gd name="adj" fmla="val 50000"/>
            </a:avLst>
          </a:prstGeom>
          <a:solidFill>
            <a:srgbClr val="FFF7ED"/>
          </a:solidFill>
          <a:ln w="15875">
            <a:solidFill>
              <a:srgbClr val="FDB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27">
            <a:extLst>
              <a:ext uri="{FF2B5EF4-FFF2-40B4-BE49-F238E27FC236}">
                <a16:creationId xmlns:a16="http://schemas.microsoft.com/office/drawing/2014/main" id="{3106A7B4-CAF3-74CE-D023-D848A1A7CF6D}"/>
              </a:ext>
            </a:extLst>
          </p:cNvPr>
          <p:cNvSpPr txBox="1"/>
          <p:nvPr/>
        </p:nvSpPr>
        <p:spPr>
          <a:xfrm>
            <a:off x="8138160" y="4471749"/>
            <a:ext cx="3337560" cy="246221"/>
          </a:xfrm>
          <a:prstGeom prst="rect">
            <a:avLst/>
          </a:prstGeom>
          <a:noFill/>
        </p:spPr>
        <p:txBody>
          <a:bodyPr wrap="square" lIns="45720" tIns="22860" rIns="45720" bIns="22860" anchor="ctr">
            <a:spAutoFit/>
          </a:bodyPr>
          <a:lstStyle/>
          <a:p>
            <a:pPr algn="ctr"/>
            <a:r>
              <a:rPr lang="en-US" sz="1300" b="1" dirty="0">
                <a:solidFill>
                  <a:srgbClr val="B45309"/>
                </a:solidFill>
                <a:latin typeface="Arial"/>
              </a:rPr>
              <a:t>Until My Graduation</a:t>
            </a:r>
            <a:endParaRPr sz="1300" b="1" i="0" dirty="0">
              <a:solidFill>
                <a:srgbClr val="B45309"/>
              </a:solidFill>
              <a:latin typeface="Arial"/>
            </a:endParaRPr>
          </a:p>
        </p:txBody>
      </p:sp>
    </p:spTree>
    <p:extLst>
      <p:ext uri="{BB962C8B-B14F-4D97-AF65-F5344CB8AC3E}">
        <p14:creationId xmlns:p14="http://schemas.microsoft.com/office/powerpoint/2010/main" val="379599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5096" cy="237744"/>
          </a:xfrm>
          <a:prstGeom prst="rect">
            <a:avLst/>
          </a:prstGeom>
          <a:noFill/>
        </p:spPr>
        <p:txBody>
          <a:bodyPr wrap="square" lIns="45720" tIns="22860" rIns="45720" bIns="22860">
            <a:spAutoFit/>
          </a:bodyPr>
          <a:lstStyle/>
          <a:p>
            <a:r>
              <a:rPr sz="1200" b="1" i="0">
                <a:solidFill>
                  <a:srgbClr val="0284C7"/>
                </a:solidFill>
                <a:latin typeface="Arial"/>
              </a:rPr>
              <a:t>APPENDIX   A2</a:t>
            </a:r>
          </a:p>
        </p:txBody>
      </p:sp>
      <p:sp>
        <p:nvSpPr>
          <p:cNvPr id="3" name="TextBox 2"/>
          <p:cNvSpPr txBox="1"/>
          <p:nvPr/>
        </p:nvSpPr>
        <p:spPr>
          <a:xfrm>
            <a:off x="566928" y="566928"/>
            <a:ext cx="11055096" cy="566928"/>
          </a:xfrm>
          <a:prstGeom prst="rect">
            <a:avLst/>
          </a:prstGeom>
          <a:noFill/>
        </p:spPr>
        <p:txBody>
          <a:bodyPr wrap="square" lIns="45720" tIns="22860" rIns="45720" bIns="22860">
            <a:spAutoFit/>
          </a:bodyPr>
          <a:lstStyle/>
          <a:p>
            <a:r>
              <a:rPr sz="2600" b="1" i="0">
                <a:solidFill>
                  <a:srgbClr val="0F172A"/>
                </a:solidFill>
                <a:latin typeface="Arial"/>
              </a:rPr>
              <a:t>Survey Answers (3 Conferences, Anonymous)</a:t>
            </a:r>
          </a:p>
        </p:txBody>
      </p:sp>
      <p:sp>
        <p:nvSpPr>
          <p:cNvPr id="4" name="TextBox 3"/>
          <p:cNvSpPr txBox="1"/>
          <p:nvPr/>
        </p:nvSpPr>
        <p:spPr>
          <a:xfrm>
            <a:off x="566928" y="1097280"/>
            <a:ext cx="11055096" cy="274320"/>
          </a:xfrm>
          <a:prstGeom prst="rect">
            <a:avLst/>
          </a:prstGeom>
          <a:noFill/>
        </p:spPr>
        <p:txBody>
          <a:bodyPr wrap="square" lIns="45720" tIns="22860" rIns="45720" bIns="22860">
            <a:spAutoFit/>
          </a:bodyPr>
          <a:lstStyle/>
          <a:p>
            <a:r>
              <a:rPr sz="1300" b="0" i="0">
                <a:solidFill>
                  <a:srgbClr val="64748B"/>
                </a:solidFill>
                <a:latin typeface="Arial"/>
              </a:rPr>
              <a:t>Three interviews. All three conferences agreed to publication if anonymous.</a:t>
            </a:r>
          </a:p>
        </p:txBody>
      </p:sp>
      <p:graphicFrame>
        <p:nvGraphicFramePr>
          <p:cNvPr id="5" name="Table 4"/>
          <p:cNvGraphicFramePr>
            <a:graphicFrameLocks noGrp="1"/>
          </p:cNvGraphicFramePr>
          <p:nvPr/>
        </p:nvGraphicFramePr>
        <p:xfrm>
          <a:off x="566928" y="1463040"/>
          <a:ext cx="11055095" cy="4504944"/>
        </p:xfrm>
        <a:graphic>
          <a:graphicData uri="http://schemas.openxmlformats.org/drawingml/2006/table">
            <a:tbl>
              <a:tblPr>
                <a:tableStyleId>{2D5ABB26-0587-4C30-8999-92F81FD0307C}</a:tableStyleId>
              </a:tblPr>
              <a:tblGrid>
                <a:gridCol w="2010017">
                  <a:extLst>
                    <a:ext uri="{9D8B030D-6E8A-4147-A177-3AD203B41FA5}">
                      <a16:colId xmlns:a16="http://schemas.microsoft.com/office/drawing/2014/main" val="20000"/>
                    </a:ext>
                  </a:extLst>
                </a:gridCol>
                <a:gridCol w="3015026">
                  <a:extLst>
                    <a:ext uri="{9D8B030D-6E8A-4147-A177-3AD203B41FA5}">
                      <a16:colId xmlns:a16="http://schemas.microsoft.com/office/drawing/2014/main" val="20001"/>
                    </a:ext>
                  </a:extLst>
                </a:gridCol>
                <a:gridCol w="3015026">
                  <a:extLst>
                    <a:ext uri="{9D8B030D-6E8A-4147-A177-3AD203B41FA5}">
                      <a16:colId xmlns:a16="http://schemas.microsoft.com/office/drawing/2014/main" val="20002"/>
                    </a:ext>
                  </a:extLst>
                </a:gridCol>
                <a:gridCol w="3015026">
                  <a:extLst>
                    <a:ext uri="{9D8B030D-6E8A-4147-A177-3AD203B41FA5}">
                      <a16:colId xmlns:a16="http://schemas.microsoft.com/office/drawing/2014/main" val="20003"/>
                    </a:ext>
                  </a:extLst>
                </a:gridCol>
              </a:tblGrid>
              <a:tr h="548640">
                <a:tc>
                  <a:txBody>
                    <a:bodyPr/>
                    <a:lstStyle/>
                    <a:p>
                      <a:r>
                        <a:rPr sz="1000" b="1">
                          <a:solidFill>
                            <a:srgbClr val="FFFFFF"/>
                          </a:solidFill>
                          <a:latin typeface="Arial"/>
                        </a:rPr>
                        <a:t>Question</a:t>
                      </a:r>
                    </a:p>
                  </a:txBody>
                  <a:tcPr marL="64008" marR="64008" marT="27432" marB="27432" anchor="ctr">
                    <a:solidFill>
                      <a:srgbClr val="0F172A"/>
                    </a:solidFill>
                  </a:tcPr>
                </a:tc>
                <a:tc>
                  <a:txBody>
                    <a:bodyPr/>
                    <a:lstStyle/>
                    <a:p>
                      <a:r>
                        <a:rPr sz="1000" b="1">
                          <a:solidFill>
                            <a:srgbClr val="FFFFFF"/>
                          </a:solidFill>
                          <a:latin typeface="Arial"/>
                        </a:rPr>
                        <a:t>Conference A</a:t>
                      </a:r>
                    </a:p>
                  </a:txBody>
                  <a:tcPr marL="64008" marR="64008" marT="27432" marB="27432" anchor="ctr">
                    <a:solidFill>
                      <a:srgbClr val="0F172A"/>
                    </a:solidFill>
                  </a:tcPr>
                </a:tc>
                <a:tc>
                  <a:txBody>
                    <a:bodyPr/>
                    <a:lstStyle/>
                    <a:p>
                      <a:r>
                        <a:rPr sz="1000" b="1">
                          <a:solidFill>
                            <a:srgbClr val="FFFFFF"/>
                          </a:solidFill>
                          <a:latin typeface="Arial"/>
                        </a:rPr>
                        <a:t>Conference B</a:t>
                      </a:r>
                    </a:p>
                  </a:txBody>
                  <a:tcPr marL="64008" marR="64008" marT="27432" marB="27432" anchor="ctr">
                    <a:solidFill>
                      <a:srgbClr val="0F172A"/>
                    </a:solidFill>
                  </a:tcPr>
                </a:tc>
                <a:tc>
                  <a:txBody>
                    <a:bodyPr/>
                    <a:lstStyle/>
                    <a:p>
                      <a:r>
                        <a:rPr sz="1000" b="1">
                          <a:solidFill>
                            <a:srgbClr val="FFFFFF"/>
                          </a:solidFill>
                          <a:latin typeface="Arial"/>
                        </a:rPr>
                        <a:t>Conference C</a:t>
                      </a:r>
                    </a:p>
                  </a:txBody>
                  <a:tcPr marL="64008" marR="64008" marT="27432" marB="27432" anchor="ctr">
                    <a:solidFill>
                      <a:srgbClr val="0F172A"/>
                    </a:solidFill>
                  </a:tcPr>
                </a:tc>
                <a:extLst>
                  <a:ext uri="{0D108BD9-81ED-4DB2-BD59-A6C34878D82A}">
                    <a16:rowId xmlns:a16="http://schemas.microsoft.com/office/drawing/2014/main" val="10000"/>
                  </a:ext>
                </a:extLst>
              </a:tr>
              <a:tr h="548640">
                <a:tc>
                  <a:txBody>
                    <a:bodyPr/>
                    <a:lstStyle/>
                    <a:p>
                      <a:r>
                        <a:rPr sz="1000" b="1">
                          <a:solidFill>
                            <a:srgbClr val="0F172A"/>
                          </a:solidFill>
                          <a:latin typeface="Arial"/>
                        </a:rPr>
                        <a:t>Respondent’s role</a:t>
                      </a:r>
                    </a:p>
                  </a:txBody>
                  <a:tcPr marL="64008" marR="64008" marT="27432" marB="27432" anchor="ctr">
                    <a:solidFill>
                      <a:srgbClr val="F8FAFC"/>
                    </a:solidFill>
                  </a:tcPr>
                </a:tc>
                <a:tc>
                  <a:txBody>
                    <a:bodyPr/>
                    <a:lstStyle/>
                    <a:p>
                      <a:r>
                        <a:rPr sz="1000" b="0">
                          <a:solidFill>
                            <a:srgbClr val="0F172A"/>
                          </a:solidFill>
                          <a:latin typeface="Arial"/>
                        </a:rPr>
                        <a:t>Program / organizing committee (researcher, faculty)</a:t>
                      </a:r>
                    </a:p>
                  </a:txBody>
                  <a:tcPr marL="64008" marR="64008" marT="27432" marB="27432" anchor="ctr">
                    <a:solidFill>
                      <a:srgbClr val="F8FAFC"/>
                    </a:solidFill>
                  </a:tcPr>
                </a:tc>
                <a:tc>
                  <a:txBody>
                    <a:bodyPr/>
                    <a:lstStyle/>
                    <a:p>
                      <a:r>
                        <a:rPr sz="1000" b="0">
                          <a:solidFill>
                            <a:srgbClr val="0F172A"/>
                          </a:solidFill>
                          <a:latin typeface="Arial"/>
                        </a:rPr>
                        <a:t>Conference secretariat staff</a:t>
                      </a:r>
                    </a:p>
                  </a:txBody>
                  <a:tcPr marL="64008" marR="64008" marT="27432" marB="27432" anchor="ctr">
                    <a:solidFill>
                      <a:srgbClr val="F8FAFC"/>
                    </a:solidFill>
                  </a:tcPr>
                </a:tc>
                <a:tc>
                  <a:txBody>
                    <a:bodyPr/>
                    <a:lstStyle/>
                    <a:p>
                      <a:r>
                        <a:rPr sz="1000" b="0">
                          <a:solidFill>
                            <a:srgbClr val="0F172A"/>
                          </a:solidFill>
                          <a:latin typeface="Arial"/>
                        </a:rPr>
                        <a:t>Program / organizing committee (researcher, faculty)</a:t>
                      </a:r>
                    </a:p>
                  </a:txBody>
                  <a:tcPr marL="64008" marR="64008" marT="27432" marB="27432" anchor="ctr">
                    <a:solidFill>
                      <a:srgbClr val="F8FAFC"/>
                    </a:solidFill>
                  </a:tcPr>
                </a:tc>
                <a:extLst>
                  <a:ext uri="{0D108BD9-81ED-4DB2-BD59-A6C34878D82A}">
                    <a16:rowId xmlns:a16="http://schemas.microsoft.com/office/drawing/2014/main" val="10001"/>
                  </a:ext>
                </a:extLst>
              </a:tr>
              <a:tr h="548640">
                <a:tc>
                  <a:txBody>
                    <a:bodyPr/>
                    <a:lstStyle/>
                    <a:p>
                      <a:r>
                        <a:rPr sz="1000" b="1">
                          <a:solidFill>
                            <a:srgbClr val="0F172A"/>
                          </a:solidFill>
                          <a:latin typeface="Arial"/>
                        </a:rPr>
                        <a:t>How the program is made</a:t>
                      </a:r>
                    </a:p>
                  </a:txBody>
                  <a:tcPr marL="64008" marR="64008" marT="27432" marB="27432" anchor="ctr">
                    <a:solidFill>
                      <a:srgbClr val="FFFFFF"/>
                    </a:solidFill>
                  </a:tcPr>
                </a:tc>
                <a:tc>
                  <a:txBody>
                    <a:bodyPr/>
                    <a:lstStyle/>
                    <a:p>
                      <a:r>
                        <a:rPr sz="1000" b="0">
                          <a:solidFill>
                            <a:srgbClr val="0F172A"/>
                          </a:solidFill>
                          <a:latin typeface="Arial"/>
                        </a:rPr>
                        <a:t>Manual work and adjustment in spreadsheets</a:t>
                      </a:r>
                    </a:p>
                  </a:txBody>
                  <a:tcPr marL="64008" marR="64008" marT="27432" marB="27432" anchor="ctr">
                    <a:solidFill>
                      <a:srgbClr val="FFFFFF"/>
                    </a:solidFill>
                  </a:tcPr>
                </a:tc>
                <a:tc>
                  <a:txBody>
                    <a:bodyPr/>
                    <a:lstStyle/>
                    <a:p>
                      <a:r>
                        <a:rPr sz="1000" b="0">
                          <a:solidFill>
                            <a:srgbClr val="0F172A"/>
                          </a:solidFill>
                          <a:latin typeface="Arial"/>
                        </a:rPr>
                        <a:t>Schedule in spreadsheets; program in an in-house submission and program-editing system</a:t>
                      </a:r>
                    </a:p>
                  </a:txBody>
                  <a:tcPr marL="64008" marR="64008" marT="27432" marB="27432" anchor="ctr">
                    <a:solidFill>
                      <a:srgbClr val="FFFFFF"/>
                    </a:solidFill>
                  </a:tcPr>
                </a:tc>
                <a:tc>
                  <a:txBody>
                    <a:bodyPr/>
                    <a:lstStyle/>
                    <a:p>
                      <a:r>
                        <a:rPr sz="1000" b="0">
                          <a:solidFill>
                            <a:srgbClr val="0F172A"/>
                          </a:solidFill>
                          <a:latin typeface="Arial"/>
                        </a:rPr>
                        <a:t>Manual work in spreadsheets (Excel, Google Sheets)</a:t>
                      </a:r>
                    </a:p>
                  </a:txBody>
                  <a:tcPr marL="64008" marR="64008" marT="27432" marB="27432" anchor="ctr">
                    <a:solidFill>
                      <a:srgbClr val="FFFFFF"/>
                    </a:solidFill>
                  </a:tcPr>
                </a:tc>
                <a:extLst>
                  <a:ext uri="{0D108BD9-81ED-4DB2-BD59-A6C34878D82A}">
                    <a16:rowId xmlns:a16="http://schemas.microsoft.com/office/drawing/2014/main" val="10002"/>
                  </a:ext>
                </a:extLst>
              </a:tr>
              <a:tr h="548640">
                <a:tc>
                  <a:txBody>
                    <a:bodyPr/>
                    <a:lstStyle/>
                    <a:p>
                      <a:r>
                        <a:rPr sz="1000" b="1">
                          <a:solidFill>
                            <a:srgbClr val="0F172A"/>
                          </a:solidFill>
                          <a:latin typeface="Arial"/>
                        </a:rPr>
                        <a:t>External vendor tools</a:t>
                      </a:r>
                    </a:p>
                  </a:txBody>
                  <a:tcPr marL="64008" marR="64008" marT="27432" marB="27432" anchor="ctr">
                    <a:solidFill>
                      <a:srgbClr val="F8FAFC"/>
                    </a:solidFill>
                  </a:tcPr>
                </a:tc>
                <a:tc>
                  <a:txBody>
                    <a:bodyPr/>
                    <a:lstStyle/>
                    <a:p>
                      <a:r>
                        <a:rPr sz="1000" b="0">
                          <a:solidFill>
                            <a:srgbClr val="0F172A"/>
                          </a:solidFill>
                          <a:latin typeface="Arial"/>
                        </a:rPr>
                        <a:t>—</a:t>
                      </a:r>
                    </a:p>
                  </a:txBody>
                  <a:tcPr marL="64008" marR="64008" marT="27432" marB="27432" anchor="ctr">
                    <a:solidFill>
                      <a:srgbClr val="F8FAFC"/>
                    </a:solidFill>
                  </a:tcPr>
                </a:tc>
                <a:tc>
                  <a:txBody>
                    <a:bodyPr/>
                    <a:lstStyle/>
                    <a:p>
                      <a:r>
                        <a:rPr sz="1000" b="0">
                          <a:solidFill>
                            <a:srgbClr val="0F172A"/>
                          </a:solidFill>
                          <a:latin typeface="Arial"/>
                        </a:rPr>
                        <a:t>In-house program and optimization tool</a:t>
                      </a:r>
                    </a:p>
                  </a:txBody>
                  <a:tcPr marL="64008" marR="64008" marT="27432" marB="27432" anchor="ctr">
                    <a:solidFill>
                      <a:srgbClr val="F8FAFC"/>
                    </a:solidFill>
                  </a:tcPr>
                </a:tc>
                <a:tc>
                  <a:txBody>
                    <a:bodyPr/>
                    <a:lstStyle/>
                    <a:p>
                      <a:r>
                        <a:rPr sz="1000" b="0">
                          <a:solidFill>
                            <a:srgbClr val="0F172A"/>
                          </a:solidFill>
                          <a:latin typeface="Arial"/>
                        </a:rPr>
                        <a:t>None (done in-house with Google Forms)</a:t>
                      </a:r>
                    </a:p>
                  </a:txBody>
                  <a:tcPr marL="64008" marR="64008" marT="27432" marB="27432" anchor="ctr">
                    <a:solidFill>
                      <a:srgbClr val="F8FAFC"/>
                    </a:solidFill>
                  </a:tcPr>
                </a:tc>
                <a:extLst>
                  <a:ext uri="{0D108BD9-81ED-4DB2-BD59-A6C34878D82A}">
                    <a16:rowId xmlns:a16="http://schemas.microsoft.com/office/drawing/2014/main" val="10003"/>
                  </a:ext>
                </a:extLst>
              </a:tr>
              <a:tr h="548640">
                <a:tc>
                  <a:txBody>
                    <a:bodyPr/>
                    <a:lstStyle/>
                    <a:p>
                      <a:r>
                        <a:rPr sz="1000" b="1">
                          <a:solidFill>
                            <a:srgbClr val="0F172A"/>
                          </a:solidFill>
                          <a:latin typeface="Arial"/>
                        </a:rPr>
                        <a:t>Scheduling burden</a:t>
                      </a:r>
                    </a:p>
                  </a:txBody>
                  <a:tcPr marL="64008" marR="64008" marT="27432" marB="27432" anchor="ctr">
                    <a:solidFill>
                      <a:srgbClr val="FFFFFF"/>
                    </a:solidFill>
                  </a:tcPr>
                </a:tc>
                <a:tc>
                  <a:txBody>
                    <a:bodyPr/>
                    <a:lstStyle/>
                    <a:p>
                      <a:r>
                        <a:rPr sz="1000" b="0">
                          <a:solidFill>
                            <a:srgbClr val="0F172A"/>
                          </a:solidFill>
                          <a:latin typeface="Arial"/>
                        </a:rPr>
                        <a:t>Takes considerable effort</a:t>
                      </a:r>
                    </a:p>
                  </a:txBody>
                  <a:tcPr marL="64008" marR="64008" marT="27432" marB="27432" anchor="ctr">
                    <a:solidFill>
                      <a:srgbClr val="FFFFFF"/>
                    </a:solidFill>
                  </a:tcPr>
                </a:tc>
                <a:tc>
                  <a:txBody>
                    <a:bodyPr/>
                    <a:lstStyle/>
                    <a:p>
                      <a:r>
                        <a:rPr sz="1000" b="0">
                          <a:solidFill>
                            <a:srgbClr val="0F172A"/>
                          </a:solidFill>
                          <a:latin typeface="Arial"/>
                        </a:rPr>
                        <a:t>Not much effort</a:t>
                      </a:r>
                    </a:p>
                  </a:txBody>
                  <a:tcPr marL="64008" marR="64008" marT="27432" marB="27432" anchor="ctr">
                    <a:solidFill>
                      <a:srgbClr val="FFFFFF"/>
                    </a:solidFill>
                  </a:tcPr>
                </a:tc>
                <a:tc>
                  <a:txBody>
                    <a:bodyPr/>
                    <a:lstStyle/>
                    <a:p>
                      <a:r>
                        <a:rPr sz="1000" b="0">
                          <a:solidFill>
                            <a:srgbClr val="0F172A"/>
                          </a:solidFill>
                          <a:latin typeface="Arial"/>
                        </a:rPr>
                        <a:t>Takes considerable effort</a:t>
                      </a:r>
                    </a:p>
                  </a:txBody>
                  <a:tcPr marL="64008" marR="64008" marT="27432" marB="27432" anchor="ctr">
                    <a:solidFill>
                      <a:srgbClr val="FFFFFF"/>
                    </a:solidFill>
                  </a:tcPr>
                </a:tc>
                <a:extLst>
                  <a:ext uri="{0D108BD9-81ED-4DB2-BD59-A6C34878D82A}">
                    <a16:rowId xmlns:a16="http://schemas.microsoft.com/office/drawing/2014/main" val="10004"/>
                  </a:ext>
                </a:extLst>
              </a:tr>
              <a:tr h="548640">
                <a:tc>
                  <a:txBody>
                    <a:bodyPr/>
                    <a:lstStyle/>
                    <a:p>
                      <a:r>
                        <a:rPr sz="1000" b="1">
                          <a:solidFill>
                            <a:srgbClr val="0F172A"/>
                          </a:solidFill>
                          <a:latin typeface="Arial"/>
                        </a:rPr>
                        <a:t>Main difficulties / focus</a:t>
                      </a:r>
                    </a:p>
                  </a:txBody>
                  <a:tcPr marL="64008" marR="64008" marT="27432" marB="27432" anchor="ctr">
                    <a:solidFill>
                      <a:srgbClr val="F8FAFC"/>
                    </a:solidFill>
                  </a:tcPr>
                </a:tc>
                <a:tc>
                  <a:txBody>
                    <a:bodyPr/>
                    <a:lstStyle/>
                    <a:p>
                      <a:r>
                        <a:rPr sz="1000" b="0">
                          <a:solidFill>
                            <a:srgbClr val="0F172A"/>
                          </a:solidFill>
                          <a:latin typeface="Arial"/>
                        </a:rPr>
                        <a:t>Handling incomplete submissions and individual requests</a:t>
                      </a:r>
                    </a:p>
                  </a:txBody>
                  <a:tcPr marL="64008" marR="64008" marT="27432" marB="27432" anchor="ctr">
                    <a:solidFill>
                      <a:srgbClr val="F8FAFC"/>
                    </a:solidFill>
                  </a:tcPr>
                </a:tc>
                <a:tc>
                  <a:txBody>
                    <a:bodyPr/>
                    <a:lstStyle/>
                    <a:p>
                      <a:r>
                        <a:rPr sz="1000" b="0">
                          <a:solidFill>
                            <a:srgbClr val="0F172A"/>
                          </a:solidFill>
                          <a:latin typeface="Arial"/>
                        </a:rPr>
                        <a:t>Avoiding speaker double-booking / individual availability and equipment / avoiding conflicts between similar topics / room capacity (standing, empty seats)</a:t>
                      </a:r>
                    </a:p>
                  </a:txBody>
                  <a:tcPr marL="64008" marR="64008" marT="27432" marB="27432" anchor="ctr">
                    <a:solidFill>
                      <a:srgbClr val="F8FAFC"/>
                    </a:solidFill>
                  </a:tcPr>
                </a:tc>
                <a:tc>
                  <a:txBody>
                    <a:bodyPr/>
                    <a:lstStyle/>
                    <a:p>
                      <a:r>
                        <a:rPr sz="1000" b="0">
                          <a:solidFill>
                            <a:srgbClr val="0F172A"/>
                          </a:solidFill>
                          <a:latin typeface="Arial"/>
                        </a:rPr>
                        <a:t>Topic continuity (same topic in the same room) / last-minute cancellations and changes</a:t>
                      </a:r>
                    </a:p>
                  </a:txBody>
                  <a:tcPr marL="64008" marR="64008" marT="27432" marB="27432" anchor="ctr">
                    <a:solidFill>
                      <a:srgbClr val="F8FAFC"/>
                    </a:solidFill>
                  </a:tcPr>
                </a:tc>
                <a:extLst>
                  <a:ext uri="{0D108BD9-81ED-4DB2-BD59-A6C34878D82A}">
                    <a16:rowId xmlns:a16="http://schemas.microsoft.com/office/drawing/2014/main" val="10005"/>
                  </a:ext>
                </a:extLst>
              </a:tr>
              <a:tr h="548640">
                <a:tc>
                  <a:txBody>
                    <a:bodyPr/>
                    <a:lstStyle/>
                    <a:p>
                      <a:r>
                        <a:rPr sz="1000" b="1">
                          <a:solidFill>
                            <a:srgbClr val="0F172A"/>
                          </a:solidFill>
                          <a:latin typeface="Arial"/>
                        </a:rPr>
                        <a:t>Interest in using a tool</a:t>
                      </a:r>
                    </a:p>
                  </a:txBody>
                  <a:tcPr marL="64008" marR="64008" marT="27432" marB="27432" anchor="ctr">
                    <a:solidFill>
                      <a:srgbClr val="FFFFFF"/>
                    </a:solidFill>
                  </a:tcPr>
                </a:tc>
                <a:tc>
                  <a:txBody>
                    <a:bodyPr/>
                    <a:lstStyle/>
                    <a:p>
                      <a:r>
                        <a:rPr sz="1000" b="0">
                          <a:solidFill>
                            <a:srgbClr val="0F172A"/>
                          </a:solidFill>
                          <a:latin typeface="Arial"/>
                        </a:rPr>
                        <a:t>Would consider it, depending on conditions (usability, cost, etc.)</a:t>
                      </a:r>
                    </a:p>
                  </a:txBody>
                  <a:tcPr marL="64008" marR="64008" marT="27432" marB="27432" anchor="ctr">
                    <a:solidFill>
                      <a:srgbClr val="FFFFFF"/>
                    </a:solidFill>
                  </a:tcPr>
                </a:tc>
                <a:tc>
                  <a:txBody>
                    <a:bodyPr/>
                    <a:lstStyle/>
                    <a:p>
                      <a:r>
                        <a:rPr sz="1000" b="0">
                          <a:solidFill>
                            <a:srgbClr val="0F172A"/>
                          </a:solidFill>
                          <a:latin typeface="Arial"/>
                        </a:rPr>
                        <a:t>Would consider it, depending on conditions (usability, cost, etc.)</a:t>
                      </a:r>
                    </a:p>
                  </a:txBody>
                  <a:tcPr marL="64008" marR="64008" marT="27432" marB="27432" anchor="ctr">
                    <a:solidFill>
                      <a:srgbClr val="FFFFFF"/>
                    </a:solidFill>
                  </a:tcPr>
                </a:tc>
                <a:tc>
                  <a:txBody>
                    <a:bodyPr/>
                    <a:lstStyle/>
                    <a:p>
                      <a:r>
                        <a:rPr sz="1000" b="0">
                          <a:solidFill>
                            <a:srgbClr val="0F172A"/>
                          </a:solidFill>
                          <a:latin typeface="Arial"/>
                        </a:rPr>
                        <a:t>Would definitely like to try</a:t>
                      </a:r>
                    </a:p>
                  </a:txBody>
                  <a:tcPr marL="64008" marR="64008" marT="27432" marB="27432" anchor="ctr">
                    <a:solidFill>
                      <a:srgbClr val="FFFFFF"/>
                    </a:solidFill>
                  </a:tcPr>
                </a:tc>
                <a:extLst>
                  <a:ext uri="{0D108BD9-81ED-4DB2-BD59-A6C34878D82A}">
                    <a16:rowId xmlns:a16="http://schemas.microsoft.com/office/drawing/2014/main" val="10006"/>
                  </a:ext>
                </a:extLst>
              </a:tr>
              <a:tr h="548640">
                <a:tc>
                  <a:txBody>
                    <a:bodyPr/>
                    <a:lstStyle/>
                    <a:p>
                      <a:r>
                        <a:rPr sz="1000" b="1">
                          <a:solidFill>
                            <a:srgbClr val="0F172A"/>
                          </a:solidFill>
                          <a:latin typeface="Arial"/>
                        </a:rPr>
                        <a:t>Free comments</a:t>
                      </a:r>
                    </a:p>
                  </a:txBody>
                  <a:tcPr marL="64008" marR="64008" marT="27432" marB="27432" anchor="ctr">
                    <a:solidFill>
                      <a:srgbClr val="F8FAFC"/>
                    </a:solidFill>
                  </a:tcPr>
                </a:tc>
                <a:tc>
                  <a:txBody>
                    <a:bodyPr/>
                    <a:lstStyle/>
                    <a:p>
                      <a:r>
                        <a:rPr sz="1000" b="0">
                          <a:solidFill>
                            <a:srgbClr val="0F172A"/>
                          </a:solidFill>
                          <a:latin typeface="Arial"/>
                        </a:rPr>
                        <a:t>—</a:t>
                      </a:r>
                    </a:p>
                  </a:txBody>
                  <a:tcPr marL="64008" marR="64008" marT="27432" marB="27432" anchor="ctr">
                    <a:solidFill>
                      <a:srgbClr val="F8FAFC"/>
                    </a:solidFill>
                  </a:tcPr>
                </a:tc>
                <a:tc>
                  <a:txBody>
                    <a:bodyPr/>
                    <a:lstStyle/>
                    <a:p>
                      <a:r>
                        <a:rPr sz="1000" b="0">
                          <a:solidFill>
                            <a:srgbClr val="0F172A"/>
                          </a:solidFill>
                          <a:latin typeface="Arial"/>
                        </a:rPr>
                        <a:t>—</a:t>
                      </a:r>
                    </a:p>
                  </a:txBody>
                  <a:tcPr marL="64008" marR="64008" marT="27432" marB="27432" anchor="ctr">
                    <a:solidFill>
                      <a:srgbClr val="F8FAFC"/>
                    </a:solidFill>
                  </a:tcPr>
                </a:tc>
                <a:tc>
                  <a:txBody>
                    <a:bodyPr/>
                    <a:lstStyle/>
                    <a:p>
                      <a:r>
                        <a:rPr sz="1000" b="0">
                          <a:solidFill>
                            <a:srgbClr val="0F172A"/>
                          </a:solidFill>
                          <a:latin typeface="Arial"/>
                        </a:rPr>
                        <a:t>Choosing which accepted submissions beyond the oral slots move to posters, and notifying authors, takes effort (summary)</a:t>
                      </a:r>
                    </a:p>
                  </a:txBody>
                  <a:tcPr marL="64008" marR="64008" marT="27432" marB="27432" anchor="ctr">
                    <a:solidFill>
                      <a:srgbClr val="F8FAFC"/>
                    </a:solidFill>
                  </a:tcPr>
                </a:tc>
                <a:extLst>
                  <a:ext uri="{0D108BD9-81ED-4DB2-BD59-A6C34878D82A}">
                    <a16:rowId xmlns:a16="http://schemas.microsoft.com/office/drawing/2014/main" val="10007"/>
                  </a:ext>
                </a:extLst>
              </a:tr>
            </a:tbl>
          </a:graphicData>
        </a:graphic>
      </p:graphicFrame>
      <p:sp>
        <p:nvSpPr>
          <p:cNvPr id="6" name="TextBox 5"/>
          <p:cNvSpPr txBox="1"/>
          <p:nvPr/>
        </p:nvSpPr>
        <p:spPr>
          <a:xfrm>
            <a:off x="11164824" y="6492240"/>
            <a:ext cx="457200" cy="219456"/>
          </a:xfrm>
          <a:prstGeom prst="rect">
            <a:avLst/>
          </a:prstGeom>
          <a:noFill/>
          <a:ln/>
        </p:spPr>
        <p:txBody>
          <a:bodyPr wrap="square" lIns="0" tIns="0" rIns="0" bIns="0" rtlCol="0" anchor="ctr"/>
          <a:lstStyle/>
          <a:p>
            <a:pPr marL="0" indent="0" algn="r">
              <a:buNone/>
            </a:pPr>
            <a:fld id="{8B2C3E4A-5D6F-4A1B-9C2D-3E4F5A6B7C8D}" type="slidenum">
              <a:rPr lang="en-US" altLang="ja-JP" sz="1000" dirty="0">
                <a:solidFill>
                  <a:srgbClr val="94A3B8"/>
                </a:solidFill>
                <a:latin typeface="Arial" pitchFamily="34" charset="0"/>
                <a:ea typeface="Arial" pitchFamily="34" charset="-122"/>
                <a:cs typeface="Arial" pitchFamily="34" charset="-120"/>
              </a:rPr>
              <a:t>28</a:t>
            </a:fld>
            <a:endParaRPr lang="en-US" altLang="ja-JP"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5096" cy="237744"/>
          </a:xfrm>
          <a:prstGeom prst="rect">
            <a:avLst/>
          </a:prstGeom>
          <a:noFill/>
        </p:spPr>
        <p:txBody>
          <a:bodyPr wrap="square">
            <a:spAutoFit/>
          </a:bodyPr>
          <a:lstStyle/>
          <a:p>
            <a:r>
              <a:rPr sz="1200" b="1">
                <a:solidFill>
                  <a:srgbClr val="0284C7"/>
                </a:solidFill>
                <a:latin typeface="Arial"/>
              </a:rPr>
              <a:t>APPENDIX   A3</a:t>
            </a:r>
          </a:p>
        </p:txBody>
      </p:sp>
      <p:sp>
        <p:nvSpPr>
          <p:cNvPr id="3" name="TextBox 2"/>
          <p:cNvSpPr txBox="1"/>
          <p:nvPr/>
        </p:nvSpPr>
        <p:spPr>
          <a:xfrm>
            <a:off x="566928" y="566928"/>
            <a:ext cx="11055096" cy="566928"/>
          </a:xfrm>
          <a:prstGeom prst="rect">
            <a:avLst/>
          </a:prstGeom>
          <a:noFill/>
        </p:spPr>
        <p:txBody>
          <a:bodyPr wrap="square">
            <a:spAutoFit/>
          </a:bodyPr>
          <a:lstStyle/>
          <a:p>
            <a:r>
              <a:rPr sz="2800" b="1">
                <a:solidFill>
                  <a:srgbClr val="0F172A"/>
                </a:solidFill>
                <a:latin typeface="Arial"/>
              </a:rPr>
              <a:t>Changes Since the Abstract</a:t>
            </a:r>
          </a:p>
        </p:txBody>
      </p:sp>
      <p:sp>
        <p:nvSpPr>
          <p:cNvPr id="4" name="TextBox 3"/>
          <p:cNvSpPr txBox="1"/>
          <p:nvPr/>
        </p:nvSpPr>
        <p:spPr>
          <a:xfrm>
            <a:off x="11164824" y="6492240"/>
            <a:ext cx="457200" cy="219456"/>
          </a:xfrm>
          <a:prstGeom prst="rect">
            <a:avLst/>
          </a:prstGeom>
          <a:noFill/>
          <a:ln/>
        </p:spPr>
        <p:txBody>
          <a:bodyPr wrap="square" lIns="0" tIns="0" rIns="0" bIns="0" rtlCol="0" anchor="ctr"/>
          <a:lstStyle/>
          <a:p>
            <a:pPr marL="0" indent="0" algn="r">
              <a:buNone/>
            </a:pPr>
            <a:fld id="{8B2C3E4A-5D6F-4A1B-9C2D-3E4F5A6B7C8D}" type="slidenum">
              <a:rPr lang="en-US" altLang="ja-JP" sz="1000" dirty="0">
                <a:solidFill>
                  <a:srgbClr val="94A3B8"/>
                </a:solidFill>
                <a:latin typeface="Arial" pitchFamily="34" charset="0"/>
                <a:ea typeface="Arial" pitchFamily="34" charset="-122"/>
                <a:cs typeface="Arial" pitchFamily="34" charset="-120"/>
              </a:rPr>
              <a:t>29</a:t>
            </a:fld>
            <a:endParaRPr lang="en-US" altLang="ja-JP" sz="1000" dirty="0"/>
          </a:p>
        </p:txBody>
      </p:sp>
      <p:sp>
        <p:nvSpPr>
          <p:cNvPr id="5" name="Rectangle 4"/>
          <p:cNvSpPr/>
          <p:nvPr/>
        </p:nvSpPr>
        <p:spPr>
          <a:xfrm>
            <a:off x="566928" y="1371600"/>
            <a:ext cx="2468880" cy="59436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04088" y="1371600"/>
            <a:ext cx="2286000" cy="594360"/>
          </a:xfrm>
          <a:prstGeom prst="rect">
            <a:avLst/>
          </a:prstGeom>
          <a:noFill/>
        </p:spPr>
        <p:txBody>
          <a:bodyPr wrap="square" anchor="ctr">
            <a:spAutoFit/>
          </a:bodyPr>
          <a:lstStyle/>
          <a:p>
            <a:endParaRPr/>
          </a:p>
        </p:txBody>
      </p:sp>
      <p:sp>
        <p:nvSpPr>
          <p:cNvPr id="7" name="Rectangle 6"/>
          <p:cNvSpPr/>
          <p:nvPr/>
        </p:nvSpPr>
        <p:spPr>
          <a:xfrm>
            <a:off x="3127248" y="1371600"/>
            <a:ext cx="3383280" cy="59436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64408" y="1371600"/>
            <a:ext cx="3200400" cy="594360"/>
          </a:xfrm>
          <a:prstGeom prst="rect">
            <a:avLst/>
          </a:prstGeom>
          <a:noFill/>
        </p:spPr>
        <p:txBody>
          <a:bodyPr wrap="square" anchor="ctr">
            <a:spAutoFit/>
          </a:bodyPr>
          <a:lstStyle/>
          <a:p>
            <a:r>
              <a:rPr sz="1400" b="1">
                <a:solidFill>
                  <a:srgbClr val="FFFFFF"/>
                </a:solidFill>
                <a:latin typeface="Arial"/>
              </a:rPr>
              <a:t>Abstract</a:t>
            </a:r>
          </a:p>
        </p:txBody>
      </p:sp>
      <p:sp>
        <p:nvSpPr>
          <p:cNvPr id="9" name="Rectangle 8"/>
          <p:cNvSpPr/>
          <p:nvPr/>
        </p:nvSpPr>
        <p:spPr>
          <a:xfrm>
            <a:off x="6601968" y="1371600"/>
            <a:ext cx="4928616" cy="59436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739128" y="1371600"/>
            <a:ext cx="4745736" cy="594360"/>
          </a:xfrm>
          <a:prstGeom prst="rect">
            <a:avLst/>
          </a:prstGeom>
          <a:noFill/>
        </p:spPr>
        <p:txBody>
          <a:bodyPr wrap="square" anchor="ctr">
            <a:spAutoFit/>
          </a:bodyPr>
          <a:lstStyle/>
          <a:p>
            <a:r>
              <a:rPr sz="1400" b="1">
                <a:solidFill>
                  <a:srgbClr val="FFFFFF"/>
                </a:solidFill>
                <a:latin typeface="Arial"/>
              </a:rPr>
              <a:t>Now</a:t>
            </a:r>
          </a:p>
        </p:txBody>
      </p:sp>
      <p:sp>
        <p:nvSpPr>
          <p:cNvPr id="11" name="Rectangle 10"/>
          <p:cNvSpPr/>
          <p:nvPr/>
        </p:nvSpPr>
        <p:spPr>
          <a:xfrm>
            <a:off x="566928" y="2011680"/>
            <a:ext cx="2468880" cy="59436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04088" y="2011680"/>
            <a:ext cx="2286000" cy="594360"/>
          </a:xfrm>
          <a:prstGeom prst="rect">
            <a:avLst/>
          </a:prstGeom>
          <a:noFill/>
        </p:spPr>
        <p:txBody>
          <a:bodyPr wrap="square" anchor="ctr">
            <a:spAutoFit/>
          </a:bodyPr>
          <a:lstStyle/>
          <a:p>
            <a:r>
              <a:rPr sz="1400" b="1">
                <a:solidFill>
                  <a:srgbClr val="0F172A"/>
                </a:solidFill>
                <a:latin typeface="Arial"/>
              </a:rPr>
              <a:t>Topic conflicts</a:t>
            </a:r>
          </a:p>
        </p:txBody>
      </p:sp>
      <p:sp>
        <p:nvSpPr>
          <p:cNvPr id="13" name="Rectangle 12"/>
          <p:cNvSpPr/>
          <p:nvPr/>
        </p:nvSpPr>
        <p:spPr>
          <a:xfrm>
            <a:off x="3127248" y="2011680"/>
            <a:ext cx="3383280" cy="59436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64408" y="2011680"/>
            <a:ext cx="3200400" cy="594360"/>
          </a:xfrm>
          <a:prstGeom prst="rect">
            <a:avLst/>
          </a:prstGeom>
          <a:noFill/>
        </p:spPr>
        <p:txBody>
          <a:bodyPr wrap="square" anchor="ctr">
            <a:spAutoFit/>
          </a:bodyPr>
          <a:lstStyle/>
          <a:p>
            <a:r>
              <a:rPr sz="1400" b="0">
                <a:solidFill>
                  <a:srgbClr val="0F172A"/>
                </a:solidFill>
                <a:latin typeface="Arial"/>
              </a:rPr>
              <a:t>Penalty was always 0 (bug)</a:t>
            </a:r>
          </a:p>
        </p:txBody>
      </p:sp>
      <p:sp>
        <p:nvSpPr>
          <p:cNvPr id="15" name="Rectangle 14"/>
          <p:cNvSpPr/>
          <p:nvPr/>
        </p:nvSpPr>
        <p:spPr>
          <a:xfrm>
            <a:off x="6601968" y="2011680"/>
            <a:ext cx="4928616" cy="59436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39128" y="2011680"/>
            <a:ext cx="4745736" cy="594360"/>
          </a:xfrm>
          <a:prstGeom prst="rect">
            <a:avLst/>
          </a:prstGeom>
          <a:noFill/>
        </p:spPr>
        <p:txBody>
          <a:bodyPr wrap="square" anchor="ctr">
            <a:spAutoFit/>
          </a:bodyPr>
          <a:lstStyle/>
          <a:p>
            <a:r>
              <a:rPr sz="1400" b="0">
                <a:solidFill>
                  <a:srgbClr val="0F172A"/>
                </a:solidFill>
                <a:latin typeface="Arial"/>
              </a:rPr>
              <a:t>Fixed; split into B1 (similar topics) and B2 (same topic)</a:t>
            </a:r>
          </a:p>
        </p:txBody>
      </p:sp>
      <p:sp>
        <p:nvSpPr>
          <p:cNvPr id="17" name="Rectangle 16"/>
          <p:cNvSpPr/>
          <p:nvPr/>
        </p:nvSpPr>
        <p:spPr>
          <a:xfrm>
            <a:off x="566928" y="2651760"/>
            <a:ext cx="2468880" cy="59436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04088" y="2651760"/>
            <a:ext cx="2286000" cy="594360"/>
          </a:xfrm>
          <a:prstGeom prst="rect">
            <a:avLst/>
          </a:prstGeom>
          <a:noFill/>
        </p:spPr>
        <p:txBody>
          <a:bodyPr wrap="square" anchor="ctr">
            <a:spAutoFit/>
          </a:bodyPr>
          <a:lstStyle/>
          <a:p>
            <a:r>
              <a:rPr sz="1400" b="1">
                <a:solidFill>
                  <a:srgbClr val="0F172A"/>
                </a:solidFill>
                <a:latin typeface="Arial"/>
              </a:rPr>
              <a:t>Score</a:t>
            </a:r>
          </a:p>
        </p:txBody>
      </p:sp>
      <p:sp>
        <p:nvSpPr>
          <p:cNvPr id="19" name="Rectangle 18"/>
          <p:cNvSpPr/>
          <p:nvPr/>
        </p:nvSpPr>
        <p:spPr>
          <a:xfrm>
            <a:off x="3127248" y="2651760"/>
            <a:ext cx="3383280" cy="59436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264408" y="2651760"/>
            <a:ext cx="3200400" cy="594360"/>
          </a:xfrm>
          <a:prstGeom prst="rect">
            <a:avLst/>
          </a:prstGeom>
          <a:noFill/>
        </p:spPr>
        <p:txBody>
          <a:bodyPr wrap="square" anchor="ctr">
            <a:spAutoFit/>
          </a:bodyPr>
          <a:lstStyle/>
          <a:p>
            <a:r>
              <a:rPr sz="1400" b="0">
                <a:solidFill>
                  <a:srgbClr val="0F172A"/>
                </a:solidFill>
                <a:latin typeface="Arial"/>
              </a:rPr>
              <a:t>W1·A − W2·B − W3·C</a:t>
            </a:r>
          </a:p>
        </p:txBody>
      </p:sp>
      <p:sp>
        <p:nvSpPr>
          <p:cNvPr id="21" name="Rectangle 20"/>
          <p:cNvSpPr/>
          <p:nvPr/>
        </p:nvSpPr>
        <p:spPr>
          <a:xfrm>
            <a:off x="6601968" y="2651760"/>
            <a:ext cx="4928616" cy="59436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739128" y="2651760"/>
            <a:ext cx="4745736" cy="594360"/>
          </a:xfrm>
          <a:prstGeom prst="rect">
            <a:avLst/>
          </a:prstGeom>
          <a:noFill/>
        </p:spPr>
        <p:txBody>
          <a:bodyPr wrap="square" anchor="ctr">
            <a:spAutoFit/>
          </a:bodyPr>
          <a:lstStyle/>
          <a:p>
            <a:r>
              <a:rPr sz="1400" b="0">
                <a:solidFill>
                  <a:srgbClr val="0F172A"/>
                </a:solidFill>
                <a:latin typeface="Arial"/>
              </a:rPr>
              <a:t>Each part ÷ its possible range, × 100</a:t>
            </a:r>
          </a:p>
        </p:txBody>
      </p:sp>
      <p:sp>
        <p:nvSpPr>
          <p:cNvPr id="23" name="Rectangle 22"/>
          <p:cNvSpPr/>
          <p:nvPr/>
        </p:nvSpPr>
        <p:spPr>
          <a:xfrm>
            <a:off x="566928" y="3291840"/>
            <a:ext cx="2468880" cy="59436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04088" y="3291840"/>
            <a:ext cx="2286000" cy="594360"/>
          </a:xfrm>
          <a:prstGeom prst="rect">
            <a:avLst/>
          </a:prstGeom>
          <a:noFill/>
        </p:spPr>
        <p:txBody>
          <a:bodyPr wrap="square" anchor="ctr">
            <a:spAutoFit/>
          </a:bodyPr>
          <a:lstStyle/>
          <a:p>
            <a:r>
              <a:rPr sz="1400" b="1">
                <a:solidFill>
                  <a:srgbClr val="0F172A"/>
                </a:solidFill>
                <a:latin typeface="Arial"/>
              </a:rPr>
              <a:t>Computation time</a:t>
            </a:r>
          </a:p>
        </p:txBody>
      </p:sp>
      <p:sp>
        <p:nvSpPr>
          <p:cNvPr id="25" name="Rectangle 24"/>
          <p:cNvSpPr/>
          <p:nvPr/>
        </p:nvSpPr>
        <p:spPr>
          <a:xfrm>
            <a:off x="3127248" y="3291840"/>
            <a:ext cx="3383280" cy="59436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264408" y="3291840"/>
            <a:ext cx="3200400" cy="594360"/>
          </a:xfrm>
          <a:prstGeom prst="rect">
            <a:avLst/>
          </a:prstGeom>
          <a:noFill/>
        </p:spPr>
        <p:txBody>
          <a:bodyPr wrap="square" anchor="ctr">
            <a:spAutoFit/>
          </a:bodyPr>
          <a:lstStyle/>
          <a:p>
            <a:r>
              <a:rPr sz="1400" b="0">
                <a:solidFill>
                  <a:srgbClr val="0F172A"/>
                </a:solidFill>
                <a:latin typeface="Arial"/>
              </a:rPr>
              <a:t>≈ 566 s / 7 s / 0.1 s</a:t>
            </a:r>
          </a:p>
        </p:txBody>
      </p:sp>
      <p:sp>
        <p:nvSpPr>
          <p:cNvPr id="27" name="Rectangle 26"/>
          <p:cNvSpPr/>
          <p:nvPr/>
        </p:nvSpPr>
        <p:spPr>
          <a:xfrm>
            <a:off x="6601968" y="3291840"/>
            <a:ext cx="4928616" cy="59436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739128" y="3291840"/>
            <a:ext cx="4745736" cy="594360"/>
          </a:xfrm>
          <a:prstGeom prst="rect">
            <a:avLst/>
          </a:prstGeom>
          <a:noFill/>
        </p:spPr>
        <p:txBody>
          <a:bodyPr wrap="square" anchor="ctr">
            <a:spAutoFit/>
          </a:bodyPr>
          <a:lstStyle/>
          <a:p>
            <a:r>
              <a:rPr sz="1400" b="0">
                <a:solidFill>
                  <a:srgbClr val="0F172A"/>
                </a:solidFill>
                <a:latin typeface="Arial"/>
              </a:rPr>
              <a:t>Longer: 1,360–1,455 s (equal weights, 3 runs)</a:t>
            </a:r>
          </a:p>
        </p:txBody>
      </p:sp>
      <p:sp>
        <p:nvSpPr>
          <p:cNvPr id="29" name="Rectangle 28"/>
          <p:cNvSpPr/>
          <p:nvPr/>
        </p:nvSpPr>
        <p:spPr>
          <a:xfrm>
            <a:off x="566928" y="3931920"/>
            <a:ext cx="2468880" cy="59436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04088" y="3931920"/>
            <a:ext cx="2286000" cy="594360"/>
          </a:xfrm>
          <a:prstGeom prst="rect">
            <a:avLst/>
          </a:prstGeom>
          <a:noFill/>
        </p:spPr>
        <p:txBody>
          <a:bodyPr wrap="square" anchor="ctr">
            <a:spAutoFit/>
          </a:bodyPr>
          <a:lstStyle/>
          <a:p>
            <a:r>
              <a:rPr sz="1400" b="1">
                <a:solidFill>
                  <a:srgbClr val="0F172A"/>
                </a:solidFill>
                <a:latin typeface="Arial"/>
              </a:rPr>
              <a:t>Interface</a:t>
            </a:r>
          </a:p>
        </p:txBody>
      </p:sp>
      <p:sp>
        <p:nvSpPr>
          <p:cNvPr id="31" name="Rectangle 30"/>
          <p:cNvSpPr/>
          <p:nvPr/>
        </p:nvSpPr>
        <p:spPr>
          <a:xfrm>
            <a:off x="3127248" y="3931920"/>
            <a:ext cx="3383280" cy="59436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264408" y="3931920"/>
            <a:ext cx="3200400" cy="594360"/>
          </a:xfrm>
          <a:prstGeom prst="rect">
            <a:avLst/>
          </a:prstGeom>
          <a:noFill/>
        </p:spPr>
        <p:txBody>
          <a:bodyPr wrap="square" anchor="ctr">
            <a:spAutoFit/>
          </a:bodyPr>
          <a:lstStyle/>
          <a:p>
            <a:r>
              <a:rPr sz="1400" b="0">
                <a:solidFill>
                  <a:srgbClr val="0F172A"/>
                </a:solidFill>
                <a:latin typeface="Arial"/>
              </a:rPr>
              <a:t>Excel only</a:t>
            </a:r>
          </a:p>
        </p:txBody>
      </p:sp>
      <p:sp>
        <p:nvSpPr>
          <p:cNvPr id="33" name="Rectangle 32"/>
          <p:cNvSpPr/>
          <p:nvPr/>
        </p:nvSpPr>
        <p:spPr>
          <a:xfrm>
            <a:off x="6601968" y="3931920"/>
            <a:ext cx="4928616" cy="59436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739128" y="3931920"/>
            <a:ext cx="4745736" cy="594360"/>
          </a:xfrm>
          <a:prstGeom prst="rect">
            <a:avLst/>
          </a:prstGeom>
          <a:noFill/>
        </p:spPr>
        <p:txBody>
          <a:bodyPr wrap="square" anchor="ctr">
            <a:spAutoFit/>
          </a:bodyPr>
          <a:lstStyle/>
          <a:p>
            <a:r>
              <a:rPr sz="1400" b="0">
                <a:solidFill>
                  <a:srgbClr val="0F172A"/>
                </a:solidFill>
                <a:latin typeface="Arial"/>
              </a:rPr>
              <a:t>Desktop app (weights, MIP gap, time limit, candidates)</a:t>
            </a:r>
          </a:p>
        </p:txBody>
      </p:sp>
      <p:sp>
        <p:nvSpPr>
          <p:cNvPr id="35" name="Rectangle 34"/>
          <p:cNvSpPr/>
          <p:nvPr/>
        </p:nvSpPr>
        <p:spPr>
          <a:xfrm>
            <a:off x="566928" y="4572000"/>
            <a:ext cx="2468880" cy="59436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04088" y="4572000"/>
            <a:ext cx="2286000" cy="594360"/>
          </a:xfrm>
          <a:prstGeom prst="rect">
            <a:avLst/>
          </a:prstGeom>
          <a:noFill/>
        </p:spPr>
        <p:txBody>
          <a:bodyPr wrap="square" anchor="ctr">
            <a:spAutoFit/>
          </a:bodyPr>
          <a:lstStyle/>
          <a:p>
            <a:r>
              <a:rPr sz="1400" b="1">
                <a:solidFill>
                  <a:srgbClr val="0F172A"/>
                </a:solidFill>
                <a:latin typeface="Arial"/>
              </a:rPr>
              <a:t>New rule</a:t>
            </a:r>
          </a:p>
        </p:txBody>
      </p:sp>
      <p:sp>
        <p:nvSpPr>
          <p:cNvPr id="37" name="Rectangle 36"/>
          <p:cNvSpPr/>
          <p:nvPr/>
        </p:nvSpPr>
        <p:spPr>
          <a:xfrm>
            <a:off x="3127248" y="4572000"/>
            <a:ext cx="3383280" cy="59436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264408" y="4572000"/>
            <a:ext cx="3200400" cy="594360"/>
          </a:xfrm>
          <a:prstGeom prst="rect">
            <a:avLst/>
          </a:prstGeom>
          <a:noFill/>
        </p:spPr>
        <p:txBody>
          <a:bodyPr wrap="square" anchor="ctr">
            <a:spAutoFit/>
          </a:bodyPr>
          <a:lstStyle/>
          <a:p>
            <a:r>
              <a:rPr sz="1400" b="0">
                <a:solidFill>
                  <a:srgbClr val="0F172A"/>
                </a:solidFill>
                <a:latin typeface="Arial"/>
              </a:rPr>
              <a:t>—</a:t>
            </a:r>
          </a:p>
        </p:txBody>
      </p:sp>
      <p:sp>
        <p:nvSpPr>
          <p:cNvPr id="39" name="Rectangle 38"/>
          <p:cNvSpPr/>
          <p:nvPr/>
        </p:nvSpPr>
        <p:spPr>
          <a:xfrm>
            <a:off x="6601968" y="4572000"/>
            <a:ext cx="4928616" cy="59436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739128" y="4572000"/>
            <a:ext cx="4745736" cy="594360"/>
          </a:xfrm>
          <a:prstGeom prst="rect">
            <a:avLst/>
          </a:prstGeom>
          <a:noFill/>
        </p:spPr>
        <p:txBody>
          <a:bodyPr wrap="square" anchor="ctr">
            <a:spAutoFit/>
          </a:bodyPr>
          <a:lstStyle/>
          <a:p>
            <a:r>
              <a:rPr sz="1400" b="0">
                <a:solidFill>
                  <a:srgbClr val="0F172A"/>
                </a:solidFill>
                <a:latin typeface="Arial"/>
              </a:rPr>
              <a:t>Same speaker not in two rooms at once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5096" cy="237744"/>
          </a:xfrm>
          <a:prstGeom prst="rect">
            <a:avLst/>
          </a:prstGeom>
          <a:noFill/>
        </p:spPr>
        <p:txBody>
          <a:bodyPr wrap="square" lIns="45720" tIns="22860" rIns="45720" bIns="22860">
            <a:spAutoFit/>
          </a:bodyPr>
          <a:lstStyle/>
          <a:p>
            <a:r>
              <a:rPr sz="1200" b="1" i="0">
                <a:solidFill>
                  <a:srgbClr val="0284C7"/>
                </a:solidFill>
                <a:latin typeface="Arial"/>
              </a:rPr>
              <a:t>APPENDIX   A4</a:t>
            </a:r>
          </a:p>
        </p:txBody>
      </p:sp>
      <p:sp>
        <p:nvSpPr>
          <p:cNvPr id="3" name="TextBox 2"/>
          <p:cNvSpPr txBox="1"/>
          <p:nvPr/>
        </p:nvSpPr>
        <p:spPr>
          <a:xfrm>
            <a:off x="566928" y="566928"/>
            <a:ext cx="11055096" cy="566928"/>
          </a:xfrm>
          <a:prstGeom prst="rect">
            <a:avLst/>
          </a:prstGeom>
          <a:noFill/>
        </p:spPr>
        <p:txBody>
          <a:bodyPr wrap="square" lIns="45720" tIns="22860" rIns="45720" bIns="22860">
            <a:spAutoFit/>
          </a:bodyPr>
          <a:lstStyle/>
          <a:p>
            <a:r>
              <a:rPr sz="2600" b="1" i="0">
                <a:solidFill>
                  <a:srgbClr val="0F172A"/>
                </a:solidFill>
                <a:latin typeface="Arial"/>
              </a:rPr>
              <a:t>App Settings</a:t>
            </a:r>
          </a:p>
        </p:txBody>
      </p:sp>
      <p:pic>
        <p:nvPicPr>
          <p:cNvPr id="4" name="Picture 3" descr="image.png"/>
          <p:cNvPicPr>
            <a:picLocks noChangeAspect="1"/>
          </p:cNvPicPr>
          <p:nvPr/>
        </p:nvPicPr>
        <p:blipFill>
          <a:blip r:embed="rId2"/>
          <a:stretch>
            <a:fillRect/>
          </a:stretch>
        </p:blipFill>
        <p:spPr>
          <a:xfrm>
            <a:off x="566928" y="1371600"/>
            <a:ext cx="4924379" cy="4206240"/>
          </a:xfrm>
          <a:prstGeom prst="rect">
            <a:avLst/>
          </a:prstGeom>
        </p:spPr>
      </p:pic>
      <p:graphicFrame>
        <p:nvGraphicFramePr>
          <p:cNvPr id="5" name="Table 4"/>
          <p:cNvGraphicFramePr>
            <a:graphicFrameLocks noGrp="1"/>
          </p:cNvGraphicFramePr>
          <p:nvPr/>
        </p:nvGraphicFramePr>
        <p:xfrm>
          <a:off x="5596128" y="1371600"/>
          <a:ext cx="6025894" cy="4023360"/>
        </p:xfrm>
        <a:graphic>
          <a:graphicData uri="http://schemas.openxmlformats.org/drawingml/2006/table">
            <a:tbl>
              <a:tblPr>
                <a:tableStyleId>{2D5ABB26-0587-4C30-8999-92F81FD0307C}</a:tableStyleId>
              </a:tblPr>
              <a:tblGrid>
                <a:gridCol w="1616703">
                  <a:extLst>
                    <a:ext uri="{9D8B030D-6E8A-4147-A177-3AD203B41FA5}">
                      <a16:colId xmlns:a16="http://schemas.microsoft.com/office/drawing/2014/main" val="20000"/>
                    </a:ext>
                  </a:extLst>
                </a:gridCol>
                <a:gridCol w="1763676">
                  <a:extLst>
                    <a:ext uri="{9D8B030D-6E8A-4147-A177-3AD203B41FA5}">
                      <a16:colId xmlns:a16="http://schemas.microsoft.com/office/drawing/2014/main" val="20001"/>
                    </a:ext>
                  </a:extLst>
                </a:gridCol>
                <a:gridCol w="2645515">
                  <a:extLst>
                    <a:ext uri="{9D8B030D-6E8A-4147-A177-3AD203B41FA5}">
                      <a16:colId xmlns:a16="http://schemas.microsoft.com/office/drawing/2014/main" val="20002"/>
                    </a:ext>
                  </a:extLst>
                </a:gridCol>
              </a:tblGrid>
              <a:tr h="502920">
                <a:tc>
                  <a:txBody>
                    <a:bodyPr/>
                    <a:lstStyle/>
                    <a:p>
                      <a:r>
                        <a:rPr sz="1000" b="1">
                          <a:solidFill>
                            <a:srgbClr val="FFFFFF"/>
                          </a:solidFill>
                          <a:latin typeface="Arial"/>
                        </a:rPr>
                        <a:t>Setting</a:t>
                      </a:r>
                    </a:p>
                  </a:txBody>
                  <a:tcPr marL="64008" marR="64008" marT="27432" marB="27432" anchor="ctr">
                    <a:solidFill>
                      <a:srgbClr val="0F172A"/>
                    </a:solidFill>
                  </a:tcPr>
                </a:tc>
                <a:tc>
                  <a:txBody>
                    <a:bodyPr/>
                    <a:lstStyle/>
                    <a:p>
                      <a:r>
                        <a:rPr sz="1000" b="1">
                          <a:solidFill>
                            <a:srgbClr val="FFFFFF"/>
                          </a:solidFill>
                          <a:latin typeface="Arial"/>
                        </a:rPr>
                        <a:t>Range / default</a:t>
                      </a:r>
                    </a:p>
                  </a:txBody>
                  <a:tcPr marL="64008" marR="64008" marT="27432" marB="27432" anchor="ctr">
                    <a:solidFill>
                      <a:srgbClr val="0F172A"/>
                    </a:solidFill>
                  </a:tcPr>
                </a:tc>
                <a:tc>
                  <a:txBody>
                    <a:bodyPr/>
                    <a:lstStyle/>
                    <a:p>
                      <a:r>
                        <a:rPr sz="1000" b="1">
                          <a:solidFill>
                            <a:srgbClr val="FFFFFF"/>
                          </a:solidFill>
                          <a:latin typeface="Arial"/>
                        </a:rPr>
                        <a:t>What it does</a:t>
                      </a:r>
                    </a:p>
                  </a:txBody>
                  <a:tcPr marL="64008" marR="64008" marT="27432" marB="27432" anchor="ctr">
                    <a:solidFill>
                      <a:srgbClr val="0F172A"/>
                    </a:solidFill>
                  </a:tcPr>
                </a:tc>
                <a:extLst>
                  <a:ext uri="{0D108BD9-81ED-4DB2-BD59-A6C34878D82A}">
                    <a16:rowId xmlns:a16="http://schemas.microsoft.com/office/drawing/2014/main" val="10000"/>
                  </a:ext>
                </a:extLst>
              </a:tr>
              <a:tr h="502920">
                <a:tc>
                  <a:txBody>
                    <a:bodyPr/>
                    <a:lstStyle/>
                    <a:p>
                      <a:r>
                        <a:rPr sz="1000" b="1">
                          <a:solidFill>
                            <a:srgbClr val="0F172A"/>
                          </a:solidFill>
                          <a:latin typeface="Arial"/>
                        </a:rPr>
                        <a:t>Input / output file</a:t>
                      </a:r>
                    </a:p>
                  </a:txBody>
                  <a:tcPr marL="64008" marR="64008" marT="27432" marB="27432" anchor="ctr">
                    <a:solidFill>
                      <a:srgbClr val="F8FAFC"/>
                    </a:solidFill>
                  </a:tcPr>
                </a:tc>
                <a:tc>
                  <a:txBody>
                    <a:bodyPr/>
                    <a:lstStyle/>
                    <a:p>
                      <a:r>
                        <a:rPr sz="1000" b="0">
                          <a:solidFill>
                            <a:srgbClr val="0F172A"/>
                          </a:solidFill>
                          <a:latin typeface="Arial"/>
                        </a:rPr>
                        <a:t>required</a:t>
                      </a:r>
                    </a:p>
                  </a:txBody>
                  <a:tcPr marL="64008" marR="64008" marT="27432" marB="27432" anchor="ctr">
                    <a:solidFill>
                      <a:srgbClr val="F8FAFC"/>
                    </a:solidFill>
                  </a:tcPr>
                </a:tc>
                <a:tc>
                  <a:txBody>
                    <a:bodyPr/>
                    <a:lstStyle/>
                    <a:p>
                      <a:r>
                        <a:rPr sz="1000" b="0">
                          <a:solidFill>
                            <a:srgbClr val="0F172A"/>
                          </a:solidFill>
                          <a:latin typeface="Arial"/>
                        </a:rPr>
                        <a:t>Excel in, Excel out</a:t>
                      </a:r>
                    </a:p>
                  </a:txBody>
                  <a:tcPr marL="64008" marR="64008" marT="27432" marB="27432" anchor="ctr">
                    <a:solidFill>
                      <a:srgbClr val="F8FAFC"/>
                    </a:solidFill>
                  </a:tcPr>
                </a:tc>
                <a:extLst>
                  <a:ext uri="{0D108BD9-81ED-4DB2-BD59-A6C34878D82A}">
                    <a16:rowId xmlns:a16="http://schemas.microsoft.com/office/drawing/2014/main" val="10001"/>
                  </a:ext>
                </a:extLst>
              </a:tr>
              <a:tr h="502920">
                <a:tc>
                  <a:txBody>
                    <a:bodyPr/>
                    <a:lstStyle/>
                    <a:p>
                      <a:r>
                        <a:rPr sz="1000" b="1">
                          <a:solidFill>
                            <a:srgbClr val="0F172A"/>
                          </a:solidFill>
                          <a:latin typeface="Arial"/>
                        </a:rPr>
                        <a:t>Weights A, B, C</a:t>
                      </a:r>
                    </a:p>
                  </a:txBody>
                  <a:tcPr marL="64008" marR="64008" marT="27432" marB="27432" anchor="ctr">
                    <a:solidFill>
                      <a:srgbClr val="FFFFFF"/>
                    </a:solidFill>
                  </a:tcPr>
                </a:tc>
                <a:tc>
                  <a:txBody>
                    <a:bodyPr/>
                    <a:lstStyle/>
                    <a:p>
                      <a:r>
                        <a:rPr sz="1000" b="0">
                          <a:solidFill>
                            <a:srgbClr val="0F172A"/>
                          </a:solidFill>
                          <a:latin typeface="Arial"/>
                        </a:rPr>
                        <a:t>0–10 (step 0.1), default 1.0</a:t>
                      </a:r>
                    </a:p>
                  </a:txBody>
                  <a:tcPr marL="64008" marR="64008" marT="27432" marB="27432" anchor="ctr">
                    <a:solidFill>
                      <a:srgbClr val="FFFFFF"/>
                    </a:solidFill>
                  </a:tcPr>
                </a:tc>
                <a:tc>
                  <a:txBody>
                    <a:bodyPr/>
                    <a:lstStyle/>
                    <a:p>
                      <a:r>
                        <a:rPr sz="1000" b="0">
                          <a:solidFill>
                            <a:srgbClr val="0F172A"/>
                          </a:solidFill>
                          <a:latin typeface="Arial"/>
                        </a:rPr>
                        <a:t>Which point matters more. 0 = ignore it</a:t>
                      </a:r>
                    </a:p>
                  </a:txBody>
                  <a:tcPr marL="64008" marR="64008" marT="27432" marB="27432" anchor="ctr">
                    <a:solidFill>
                      <a:srgbClr val="FFFFFF"/>
                    </a:solidFill>
                  </a:tcPr>
                </a:tc>
                <a:extLst>
                  <a:ext uri="{0D108BD9-81ED-4DB2-BD59-A6C34878D82A}">
                    <a16:rowId xmlns:a16="http://schemas.microsoft.com/office/drawing/2014/main" val="10002"/>
                  </a:ext>
                </a:extLst>
              </a:tr>
              <a:tr h="502920">
                <a:tc>
                  <a:txBody>
                    <a:bodyPr/>
                    <a:lstStyle/>
                    <a:p>
                      <a:r>
                        <a:rPr sz="1000" b="1">
                          <a:solidFill>
                            <a:srgbClr val="0F172A"/>
                          </a:solidFill>
                          <a:latin typeface="Arial"/>
                        </a:rPr>
                        <a:t>MIP gap</a:t>
                      </a:r>
                    </a:p>
                  </a:txBody>
                  <a:tcPr marL="64008" marR="64008" marT="27432" marB="27432" anchor="ctr">
                    <a:solidFill>
                      <a:srgbClr val="F8FAFC"/>
                    </a:solidFill>
                  </a:tcPr>
                </a:tc>
                <a:tc>
                  <a:txBody>
                    <a:bodyPr/>
                    <a:lstStyle/>
                    <a:p>
                      <a:r>
                        <a:rPr sz="1000" b="0">
                          <a:solidFill>
                            <a:srgbClr val="0F172A"/>
                          </a:solidFill>
                          <a:latin typeface="Arial"/>
                        </a:rPr>
                        <a:t>%, blank = 0 (exact)</a:t>
                      </a:r>
                    </a:p>
                  </a:txBody>
                  <a:tcPr marL="64008" marR="64008" marT="27432" marB="27432" anchor="ctr">
                    <a:solidFill>
                      <a:srgbClr val="F8FAFC"/>
                    </a:solidFill>
                  </a:tcPr>
                </a:tc>
                <a:tc>
                  <a:txBody>
                    <a:bodyPr/>
                    <a:lstStyle/>
                    <a:p>
                      <a:r>
                        <a:rPr sz="1000" b="0">
                          <a:solidFill>
                            <a:srgbClr val="0F172A"/>
                          </a:solidFill>
                          <a:latin typeface="Arial"/>
                        </a:rPr>
                        <a:t>Stop when the score is this close to the proven best</a:t>
                      </a:r>
                    </a:p>
                  </a:txBody>
                  <a:tcPr marL="64008" marR="64008" marT="27432" marB="27432" anchor="ctr">
                    <a:solidFill>
                      <a:srgbClr val="F8FAFC"/>
                    </a:solidFill>
                  </a:tcPr>
                </a:tc>
                <a:extLst>
                  <a:ext uri="{0D108BD9-81ED-4DB2-BD59-A6C34878D82A}">
                    <a16:rowId xmlns:a16="http://schemas.microsoft.com/office/drawing/2014/main" val="10003"/>
                  </a:ext>
                </a:extLst>
              </a:tr>
              <a:tr h="502920">
                <a:tc>
                  <a:txBody>
                    <a:bodyPr/>
                    <a:lstStyle/>
                    <a:p>
                      <a:r>
                        <a:rPr sz="1000" b="1">
                          <a:solidFill>
                            <a:srgbClr val="0F172A"/>
                          </a:solidFill>
                          <a:latin typeface="Arial"/>
                        </a:rPr>
                        <a:t>Time limit</a:t>
                      </a:r>
                    </a:p>
                  </a:txBody>
                  <a:tcPr marL="64008" marR="64008" marT="27432" marB="27432" anchor="ctr">
                    <a:solidFill>
                      <a:srgbClr val="FFFFFF"/>
                    </a:solidFill>
                  </a:tcPr>
                </a:tc>
                <a:tc>
                  <a:txBody>
                    <a:bodyPr/>
                    <a:lstStyle/>
                    <a:p>
                      <a:r>
                        <a:rPr sz="1000" b="0">
                          <a:solidFill>
                            <a:srgbClr val="0F172A"/>
                          </a:solidFill>
                          <a:latin typeface="Arial"/>
                        </a:rPr>
                        <a:t>seconds, blank = none</a:t>
                      </a:r>
                    </a:p>
                  </a:txBody>
                  <a:tcPr marL="64008" marR="64008" marT="27432" marB="27432" anchor="ctr">
                    <a:solidFill>
                      <a:srgbClr val="FFFFFF"/>
                    </a:solidFill>
                  </a:tcPr>
                </a:tc>
                <a:tc>
                  <a:txBody>
                    <a:bodyPr/>
                    <a:lstStyle/>
                    <a:p>
                      <a:r>
                        <a:rPr sz="1000" b="0">
                          <a:solidFill>
                            <a:srgbClr val="0F172A"/>
                          </a:solidFill>
                          <a:latin typeface="Arial"/>
                        </a:rPr>
                        <a:t>Stop and return the best timetable so far</a:t>
                      </a:r>
                    </a:p>
                  </a:txBody>
                  <a:tcPr marL="64008" marR="64008" marT="27432" marB="27432" anchor="ctr">
                    <a:solidFill>
                      <a:srgbClr val="FFFFFF"/>
                    </a:solidFill>
                  </a:tcPr>
                </a:tc>
                <a:extLst>
                  <a:ext uri="{0D108BD9-81ED-4DB2-BD59-A6C34878D82A}">
                    <a16:rowId xmlns:a16="http://schemas.microsoft.com/office/drawing/2014/main" val="10004"/>
                  </a:ext>
                </a:extLst>
              </a:tr>
              <a:tr h="502920">
                <a:tc>
                  <a:txBody>
                    <a:bodyPr/>
                    <a:lstStyle/>
                    <a:p>
                      <a:r>
                        <a:rPr sz="1000" b="1">
                          <a:solidFill>
                            <a:srgbClr val="0F172A"/>
                          </a:solidFill>
                          <a:latin typeface="Arial"/>
                        </a:rPr>
                        <a:t>Candidates</a:t>
                      </a:r>
                    </a:p>
                  </a:txBody>
                  <a:tcPr marL="64008" marR="64008" marT="27432" marB="27432" anchor="ctr">
                    <a:solidFill>
                      <a:srgbClr val="F8FAFC"/>
                    </a:solidFill>
                  </a:tcPr>
                </a:tc>
                <a:tc>
                  <a:txBody>
                    <a:bodyPr/>
                    <a:lstStyle/>
                    <a:p>
                      <a:r>
                        <a:rPr sz="1000" b="0">
                          <a:solidFill>
                            <a:srgbClr val="0F172A"/>
                          </a:solidFill>
                          <a:latin typeface="Arial"/>
                        </a:rPr>
                        <a:t>1–3, default 1</a:t>
                      </a:r>
                    </a:p>
                  </a:txBody>
                  <a:tcPr marL="64008" marR="64008" marT="27432" marB="27432" anchor="ctr">
                    <a:solidFill>
                      <a:srgbClr val="F8FAFC"/>
                    </a:solidFill>
                  </a:tcPr>
                </a:tc>
                <a:tc>
                  <a:txBody>
                    <a:bodyPr/>
                    <a:lstStyle/>
                    <a:p>
                      <a:r>
                        <a:rPr sz="1000" b="0">
                          <a:solidFill>
                            <a:srgbClr val="0F172A"/>
                          </a:solidFill>
                          <a:latin typeface="Arial"/>
                        </a:rPr>
                        <a:t>Alternative timetables (each is solved again)</a:t>
                      </a:r>
                    </a:p>
                  </a:txBody>
                  <a:tcPr marL="64008" marR="64008" marT="27432" marB="27432" anchor="ctr">
                    <a:solidFill>
                      <a:srgbClr val="F8FAFC"/>
                    </a:solidFill>
                  </a:tcPr>
                </a:tc>
                <a:extLst>
                  <a:ext uri="{0D108BD9-81ED-4DB2-BD59-A6C34878D82A}">
                    <a16:rowId xmlns:a16="http://schemas.microsoft.com/office/drawing/2014/main" val="10005"/>
                  </a:ext>
                </a:extLst>
              </a:tr>
              <a:tr h="502920">
                <a:tc>
                  <a:txBody>
                    <a:bodyPr/>
                    <a:lstStyle/>
                    <a:p>
                      <a:r>
                        <a:rPr sz="1000" b="1">
                          <a:solidFill>
                            <a:srgbClr val="0F172A"/>
                          </a:solidFill>
                          <a:latin typeface="Arial"/>
                        </a:rPr>
                        <a:t>Run log</a:t>
                      </a:r>
                    </a:p>
                  </a:txBody>
                  <a:tcPr marL="64008" marR="64008" marT="27432" marB="27432" anchor="ctr">
                    <a:solidFill>
                      <a:srgbClr val="FFFFFF"/>
                    </a:solidFill>
                  </a:tcPr>
                </a:tc>
                <a:tc>
                  <a:txBody>
                    <a:bodyPr/>
                    <a:lstStyle/>
                    <a:p>
                      <a:r>
                        <a:rPr sz="1000" b="0">
                          <a:solidFill>
                            <a:srgbClr val="0F172A"/>
                          </a:solidFill>
                          <a:latin typeface="Arial"/>
                        </a:rPr>
                        <a:t>on / off</a:t>
                      </a:r>
                    </a:p>
                  </a:txBody>
                  <a:tcPr marL="64008" marR="64008" marT="27432" marB="27432" anchor="ctr">
                    <a:solidFill>
                      <a:srgbClr val="FFFFFF"/>
                    </a:solidFill>
                  </a:tcPr>
                </a:tc>
                <a:tc>
                  <a:txBody>
                    <a:bodyPr/>
                    <a:lstStyle/>
                    <a:p>
                      <a:r>
                        <a:rPr sz="1000" b="0">
                          <a:solidFill>
                            <a:srgbClr val="0F172A"/>
                          </a:solidFill>
                          <a:latin typeface="Arial"/>
                        </a:rPr>
                        <a:t>Save the solver log to a file</a:t>
                      </a:r>
                    </a:p>
                  </a:txBody>
                  <a:tcPr marL="64008" marR="64008" marT="27432" marB="27432" anchor="ctr">
                    <a:solidFill>
                      <a:srgbClr val="FFFFFF"/>
                    </a:solidFill>
                  </a:tcPr>
                </a:tc>
                <a:extLst>
                  <a:ext uri="{0D108BD9-81ED-4DB2-BD59-A6C34878D82A}">
                    <a16:rowId xmlns:a16="http://schemas.microsoft.com/office/drawing/2014/main" val="10006"/>
                  </a:ext>
                </a:extLst>
              </a:tr>
              <a:tr h="502920">
                <a:tc>
                  <a:txBody>
                    <a:bodyPr/>
                    <a:lstStyle/>
                    <a:p>
                      <a:r>
                        <a:rPr sz="1000" b="1">
                          <a:solidFill>
                            <a:srgbClr val="0F172A"/>
                          </a:solidFill>
                          <a:latin typeface="Arial"/>
                        </a:rPr>
                        <a:t>Result panel</a:t>
                      </a:r>
                    </a:p>
                  </a:txBody>
                  <a:tcPr marL="64008" marR="64008" marT="27432" marB="27432" anchor="ctr">
                    <a:solidFill>
                      <a:srgbClr val="F8FAFC"/>
                    </a:solidFill>
                  </a:tcPr>
                </a:tc>
                <a:tc>
                  <a:txBody>
                    <a:bodyPr/>
                    <a:lstStyle/>
                    <a:p>
                      <a:r>
                        <a:rPr sz="1000" b="0">
                          <a:solidFill>
                            <a:srgbClr val="0F172A"/>
                          </a:solidFill>
                          <a:latin typeface="Arial"/>
                        </a:rPr>
                        <a:t>—</a:t>
                      </a:r>
                    </a:p>
                  </a:txBody>
                  <a:tcPr marL="64008" marR="64008" marT="27432" marB="27432" anchor="ctr">
                    <a:solidFill>
                      <a:srgbClr val="F8FAFC"/>
                    </a:solidFill>
                  </a:tcPr>
                </a:tc>
                <a:tc>
                  <a:txBody>
                    <a:bodyPr/>
                    <a:lstStyle/>
                    <a:p>
                      <a:r>
                        <a:rPr sz="1000" b="0">
                          <a:solidFill>
                            <a:srgbClr val="0F172A"/>
                          </a:solidFill>
                          <a:latin typeface="Arial"/>
                        </a:rPr>
                        <a:t>Score, breakdown (A, B1, B2, C), quality: proven / time limit</a:t>
                      </a:r>
                    </a:p>
                  </a:txBody>
                  <a:tcPr marL="64008" marR="64008" marT="27432" marB="27432" anchor="ctr">
                    <a:solidFill>
                      <a:srgbClr val="F8FAFC"/>
                    </a:solidFill>
                  </a:tcPr>
                </a:tc>
                <a:extLst>
                  <a:ext uri="{0D108BD9-81ED-4DB2-BD59-A6C34878D82A}">
                    <a16:rowId xmlns:a16="http://schemas.microsoft.com/office/drawing/2014/main" val="10007"/>
                  </a:ext>
                </a:extLst>
              </a:tr>
            </a:tbl>
          </a:graphicData>
        </a:graphic>
      </p:graphicFrame>
      <p:sp>
        <p:nvSpPr>
          <p:cNvPr id="6" name="TextBox 5"/>
          <p:cNvSpPr txBox="1"/>
          <p:nvPr/>
        </p:nvSpPr>
        <p:spPr>
          <a:xfrm>
            <a:off x="11164824" y="6492240"/>
            <a:ext cx="457200" cy="219456"/>
          </a:xfrm>
          <a:prstGeom prst="rect">
            <a:avLst/>
          </a:prstGeom>
          <a:noFill/>
          <a:ln/>
        </p:spPr>
        <p:txBody>
          <a:bodyPr wrap="square" lIns="0" tIns="0" rIns="0" bIns="0" rtlCol="0" anchor="ctr"/>
          <a:lstStyle/>
          <a:p>
            <a:pPr marL="0" indent="0" algn="r">
              <a:buNone/>
            </a:pPr>
            <a:fld id="{8B2C3E4A-5D6F-4A1B-9C2D-3E4F5A6B7C8D}" type="slidenum">
              <a:rPr lang="en-US" altLang="ja-JP" sz="1000" dirty="0">
                <a:solidFill>
                  <a:srgbClr val="94A3B8"/>
                </a:solidFill>
                <a:latin typeface="Arial" pitchFamily="34" charset="0"/>
                <a:ea typeface="Arial" pitchFamily="34" charset="-122"/>
                <a:cs typeface="Arial" pitchFamily="34" charset="-120"/>
              </a:rPr>
              <a:t>30</a:t>
            </a:fld>
            <a:endParaRPr lang="en-US" altLang="ja-JP"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5096" cy="237744"/>
          </a:xfrm>
          <a:prstGeom prst="rect">
            <a:avLst/>
          </a:prstGeom>
          <a:noFill/>
        </p:spPr>
        <p:txBody>
          <a:bodyPr wrap="square" lIns="45720" tIns="22860" rIns="45720" bIns="22860">
            <a:spAutoFit/>
          </a:bodyPr>
          <a:lstStyle/>
          <a:p>
            <a:r>
              <a:rPr sz="1200" b="1" i="0">
                <a:solidFill>
                  <a:srgbClr val="0284C7"/>
                </a:solidFill>
                <a:latin typeface="Arial"/>
              </a:rPr>
              <a:t>APPENDIX   A5</a:t>
            </a:r>
          </a:p>
        </p:txBody>
      </p:sp>
      <p:sp>
        <p:nvSpPr>
          <p:cNvPr id="3" name="TextBox 2"/>
          <p:cNvSpPr txBox="1"/>
          <p:nvPr/>
        </p:nvSpPr>
        <p:spPr>
          <a:xfrm>
            <a:off x="566928" y="566928"/>
            <a:ext cx="11055096" cy="566928"/>
          </a:xfrm>
          <a:prstGeom prst="rect">
            <a:avLst/>
          </a:prstGeom>
          <a:noFill/>
        </p:spPr>
        <p:txBody>
          <a:bodyPr wrap="square" lIns="45720" tIns="22860" rIns="45720" bIns="22860">
            <a:spAutoFit/>
          </a:bodyPr>
          <a:lstStyle/>
          <a:p>
            <a:r>
              <a:rPr sz="2600" b="1" i="0">
                <a:solidFill>
                  <a:srgbClr val="0F172A"/>
                </a:solidFill>
                <a:latin typeface="Arial"/>
              </a:rPr>
              <a:t>Mathematical Optimization in More Detail</a:t>
            </a:r>
          </a:p>
        </p:txBody>
      </p:sp>
      <p:sp>
        <p:nvSpPr>
          <p:cNvPr id="4" name="Rounded Rectangle 3"/>
          <p:cNvSpPr/>
          <p:nvPr/>
        </p:nvSpPr>
        <p:spPr>
          <a:xfrm>
            <a:off x="566928" y="1463040"/>
            <a:ext cx="5303520" cy="59436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04088" y="1463040"/>
            <a:ext cx="1600200" cy="594360"/>
          </a:xfrm>
          <a:prstGeom prst="rect">
            <a:avLst/>
          </a:prstGeom>
          <a:noFill/>
        </p:spPr>
        <p:txBody>
          <a:bodyPr wrap="square" lIns="45720" tIns="22860" rIns="45720" bIns="22860" anchor="ctr">
            <a:spAutoFit/>
          </a:bodyPr>
          <a:lstStyle/>
          <a:p>
            <a:r>
              <a:rPr sz="1500" b="1" i="0">
                <a:solidFill>
                  <a:srgbClr val="0284C7"/>
                </a:solidFill>
                <a:latin typeface="Arial"/>
              </a:rPr>
              <a:t>Variables</a:t>
            </a:r>
          </a:p>
        </p:txBody>
      </p:sp>
      <p:sp>
        <p:nvSpPr>
          <p:cNvPr id="6" name="TextBox 5"/>
          <p:cNvSpPr txBox="1"/>
          <p:nvPr/>
        </p:nvSpPr>
        <p:spPr>
          <a:xfrm>
            <a:off x="2304288" y="1463040"/>
            <a:ext cx="3474720" cy="594360"/>
          </a:xfrm>
          <a:prstGeom prst="rect">
            <a:avLst/>
          </a:prstGeom>
          <a:noFill/>
        </p:spPr>
        <p:txBody>
          <a:bodyPr wrap="square" lIns="45720" tIns="22860" rIns="45720" bIns="22860" anchor="ctr">
            <a:spAutoFit/>
          </a:bodyPr>
          <a:lstStyle/>
          <a:p>
            <a:r>
              <a:rPr sz="1400" b="0" i="0">
                <a:solidFill>
                  <a:srgbClr val="0F172A"/>
                </a:solidFill>
                <a:latin typeface="Arial"/>
              </a:rPr>
              <a:t>x = 0 or 1  →  integer</a:t>
            </a:r>
          </a:p>
        </p:txBody>
      </p:sp>
      <p:sp>
        <p:nvSpPr>
          <p:cNvPr id="7" name="Rounded Rectangle 6"/>
          <p:cNvSpPr/>
          <p:nvPr/>
        </p:nvSpPr>
        <p:spPr>
          <a:xfrm>
            <a:off x="566928" y="2148840"/>
            <a:ext cx="5303520" cy="59436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04088" y="2148840"/>
            <a:ext cx="1600200" cy="594360"/>
          </a:xfrm>
          <a:prstGeom prst="rect">
            <a:avLst/>
          </a:prstGeom>
          <a:noFill/>
        </p:spPr>
        <p:txBody>
          <a:bodyPr wrap="square" lIns="45720" tIns="22860" rIns="45720" bIns="22860" anchor="ctr">
            <a:spAutoFit/>
          </a:bodyPr>
          <a:lstStyle/>
          <a:p>
            <a:r>
              <a:rPr sz="1500" b="1" i="0">
                <a:solidFill>
                  <a:srgbClr val="0284C7"/>
                </a:solidFill>
                <a:latin typeface="Arial"/>
              </a:rPr>
              <a:t>Constraints</a:t>
            </a:r>
          </a:p>
        </p:txBody>
      </p:sp>
      <p:sp>
        <p:nvSpPr>
          <p:cNvPr id="9" name="TextBox 8"/>
          <p:cNvSpPr txBox="1"/>
          <p:nvPr/>
        </p:nvSpPr>
        <p:spPr>
          <a:xfrm>
            <a:off x="2304288" y="2148840"/>
            <a:ext cx="3474720" cy="594360"/>
          </a:xfrm>
          <a:prstGeom prst="rect">
            <a:avLst/>
          </a:prstGeom>
          <a:noFill/>
        </p:spPr>
        <p:txBody>
          <a:bodyPr wrap="square" lIns="45720" tIns="22860" rIns="45720" bIns="22860" anchor="ctr">
            <a:spAutoFit/>
          </a:bodyPr>
          <a:lstStyle/>
          <a:p>
            <a:r>
              <a:rPr sz="1400" b="0" i="0">
                <a:solidFill>
                  <a:srgbClr val="0F172A"/>
                </a:solidFill>
                <a:latin typeface="Arial"/>
              </a:rPr>
              <a:t>sums of x  ≤, =  numbers  →  linear</a:t>
            </a:r>
          </a:p>
        </p:txBody>
      </p:sp>
      <p:sp>
        <p:nvSpPr>
          <p:cNvPr id="10" name="Rounded Rectangle 9"/>
          <p:cNvSpPr/>
          <p:nvPr/>
        </p:nvSpPr>
        <p:spPr>
          <a:xfrm>
            <a:off x="566928" y="2834640"/>
            <a:ext cx="5303520" cy="59436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2834640"/>
            <a:ext cx="1600200" cy="594360"/>
          </a:xfrm>
          <a:prstGeom prst="rect">
            <a:avLst/>
          </a:prstGeom>
          <a:noFill/>
        </p:spPr>
        <p:txBody>
          <a:bodyPr wrap="square" lIns="45720" tIns="22860" rIns="45720" bIns="22860" anchor="ctr">
            <a:spAutoFit/>
          </a:bodyPr>
          <a:lstStyle/>
          <a:p>
            <a:r>
              <a:rPr sz="1500" b="1" i="0">
                <a:solidFill>
                  <a:srgbClr val="0284C7"/>
                </a:solidFill>
                <a:latin typeface="Arial"/>
              </a:rPr>
              <a:t>Objective</a:t>
            </a:r>
          </a:p>
        </p:txBody>
      </p:sp>
      <p:sp>
        <p:nvSpPr>
          <p:cNvPr id="12" name="TextBox 11"/>
          <p:cNvSpPr txBox="1"/>
          <p:nvPr/>
        </p:nvSpPr>
        <p:spPr>
          <a:xfrm>
            <a:off x="2304288" y="2834640"/>
            <a:ext cx="3474720" cy="594360"/>
          </a:xfrm>
          <a:prstGeom prst="rect">
            <a:avLst/>
          </a:prstGeom>
          <a:noFill/>
        </p:spPr>
        <p:txBody>
          <a:bodyPr wrap="square" lIns="45720" tIns="22860" rIns="45720" bIns="22860" anchor="ctr">
            <a:spAutoFit/>
          </a:bodyPr>
          <a:lstStyle/>
          <a:p>
            <a:r>
              <a:rPr sz="1400" b="0" i="0">
                <a:solidFill>
                  <a:srgbClr val="0F172A"/>
                </a:solidFill>
                <a:latin typeface="Arial"/>
              </a:rPr>
              <a:t>sum of x with weights  →  linear</a:t>
            </a:r>
          </a:p>
        </p:txBody>
      </p:sp>
      <p:sp>
        <p:nvSpPr>
          <p:cNvPr id="13" name="Rounded Rectangle 12"/>
          <p:cNvSpPr/>
          <p:nvPr/>
        </p:nvSpPr>
        <p:spPr>
          <a:xfrm>
            <a:off x="566928" y="3566160"/>
            <a:ext cx="5303520" cy="594360"/>
          </a:xfrm>
          <a:prstGeom prst="roundRect">
            <a:avLst>
              <a:gd name="adj" fmla="val 8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66928" y="3566160"/>
            <a:ext cx="5303520" cy="594360"/>
          </a:xfrm>
          <a:prstGeom prst="rect">
            <a:avLst/>
          </a:prstGeom>
          <a:noFill/>
        </p:spPr>
        <p:txBody>
          <a:bodyPr wrap="square" lIns="45720" tIns="22860" rIns="45720" bIns="22860" anchor="ctr">
            <a:spAutoFit/>
          </a:bodyPr>
          <a:lstStyle/>
          <a:p>
            <a:pPr algn="ctr"/>
            <a:r>
              <a:rPr sz="1600" b="1" i="0">
                <a:solidFill>
                  <a:srgbClr val="0C4A6E"/>
                </a:solidFill>
                <a:latin typeface="Arial"/>
              </a:rPr>
              <a:t>Mixed-Integer Linear Programming (MILP)</a:t>
            </a:r>
          </a:p>
        </p:txBody>
      </p:sp>
      <p:sp>
        <p:nvSpPr>
          <p:cNvPr id="15" name="TextBox 14"/>
          <p:cNvSpPr txBox="1"/>
          <p:nvPr/>
        </p:nvSpPr>
        <p:spPr>
          <a:xfrm>
            <a:off x="566928" y="4297680"/>
            <a:ext cx="5303520" cy="1371600"/>
          </a:xfrm>
          <a:prstGeom prst="rect">
            <a:avLst/>
          </a:prstGeom>
          <a:noFill/>
        </p:spPr>
        <p:txBody>
          <a:bodyPr wrap="square" lIns="45720" tIns="22860" rIns="45720" bIns="22860">
            <a:spAutoFit/>
          </a:bodyPr>
          <a:lstStyle/>
          <a:p>
            <a:r>
              <a:rPr sz="1200" b="0" i="0">
                <a:solidFill>
                  <a:srgbClr val="0F172A"/>
                </a:solidFill>
                <a:latin typeface="Arial"/>
              </a:rPr>
              <a:t>Solver: CBC (free) through PuLP (Python).</a:t>
            </a:r>
          </a:p>
          <a:p>
            <a:r>
              <a:rPr sz="1200" b="0" i="0">
                <a:solidFill>
                  <a:srgbClr val="0F172A"/>
                </a:solidFill>
                <a:latin typeface="Arial"/>
              </a:rPr>
              <a:t>Exact run: the solver proves that no better timetable exists (gap 0).</a:t>
            </a:r>
          </a:p>
          <a:p>
            <a:r>
              <a:rPr sz="1200" b="0" i="0">
                <a:solidFill>
                  <a:srgbClr val="0F172A"/>
                </a:solidFill>
                <a:latin typeface="Arial"/>
              </a:rPr>
              <a:t>Time-limited run: returns the best timetable found so far (not proven).</a:t>
            </a:r>
          </a:p>
        </p:txBody>
      </p:sp>
      <p:sp>
        <p:nvSpPr>
          <p:cNvPr id="16" name="TextBox 15"/>
          <p:cNvSpPr txBox="1"/>
          <p:nvPr/>
        </p:nvSpPr>
        <p:spPr>
          <a:xfrm>
            <a:off x="6400800" y="1371600"/>
            <a:ext cx="5221224" cy="320040"/>
          </a:xfrm>
          <a:prstGeom prst="rect">
            <a:avLst/>
          </a:prstGeom>
          <a:noFill/>
        </p:spPr>
        <p:txBody>
          <a:bodyPr wrap="square" lIns="45720" tIns="22860" rIns="45720" bIns="22860">
            <a:spAutoFit/>
          </a:bodyPr>
          <a:lstStyle/>
          <a:p>
            <a:r>
              <a:rPr sz="1300" b="1" i="0">
                <a:solidFill>
                  <a:srgbClr val="64748B"/>
                </a:solidFill>
                <a:latin typeface="Arial"/>
              </a:rPr>
              <a:t>Branch-and-bound (how the solver searches)</a:t>
            </a:r>
          </a:p>
        </p:txBody>
      </p:sp>
      <p:cxnSp>
        <p:nvCxnSpPr>
          <p:cNvPr id="17" name="Connector 16"/>
          <p:cNvCxnSpPr/>
          <p:nvPr/>
        </p:nvCxnSpPr>
        <p:spPr>
          <a:xfrm flipH="1">
            <a:off x="7658100" y="2468880"/>
            <a:ext cx="1028700" cy="548640"/>
          </a:xfrm>
          <a:prstGeom prst="line">
            <a:avLst/>
          </a:prstGeom>
          <a:ln w="1905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686800" y="2468880"/>
            <a:ext cx="1028700" cy="548640"/>
          </a:xfrm>
          <a:prstGeom prst="line">
            <a:avLst/>
          </a:prstGeom>
          <a:ln w="1905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6995160" y="3657600"/>
            <a:ext cx="662940" cy="548640"/>
          </a:xfrm>
          <a:prstGeom prst="line">
            <a:avLst/>
          </a:prstGeom>
          <a:ln w="1905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658100" y="3657600"/>
            <a:ext cx="662940" cy="548640"/>
          </a:xfrm>
          <a:prstGeom prst="line">
            <a:avLst/>
          </a:prstGeom>
          <a:ln w="1905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9646920" y="3657600"/>
            <a:ext cx="68580" cy="548640"/>
          </a:xfrm>
          <a:prstGeom prst="line">
            <a:avLst/>
          </a:prstGeom>
          <a:ln w="1905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715500" y="3657600"/>
            <a:ext cx="1257300" cy="548640"/>
          </a:xfrm>
          <a:prstGeom prst="line">
            <a:avLst/>
          </a:prstGeom>
          <a:ln w="19050">
            <a:solidFill>
              <a:srgbClr val="94A3B8"/>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863840" y="1828800"/>
            <a:ext cx="1645920" cy="640080"/>
          </a:xfrm>
          <a:prstGeom prst="roundRect">
            <a:avLst>
              <a:gd name="adj" fmla="val 8000"/>
            </a:avLst>
          </a:prstGeom>
          <a:solidFill>
            <a:srgbClr val="F8FAFC"/>
          </a:solidFill>
          <a:ln w="1587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863840" y="1828800"/>
            <a:ext cx="1645920" cy="640080"/>
          </a:xfrm>
          <a:prstGeom prst="rect">
            <a:avLst/>
          </a:prstGeom>
          <a:noFill/>
        </p:spPr>
        <p:txBody>
          <a:bodyPr wrap="square" lIns="45720" tIns="22860" rIns="45720" bIns="22860" anchor="ctr">
            <a:spAutoFit/>
          </a:bodyPr>
          <a:lstStyle/>
          <a:p>
            <a:pPr algn="ctr"/>
            <a:r>
              <a:rPr sz="1100" b="1" i="0">
                <a:solidFill>
                  <a:srgbClr val="0F172A"/>
                </a:solidFill>
                <a:latin typeface="Arial"/>
              </a:rPr>
              <a:t>Relaxed problem</a:t>
            </a:r>
          </a:p>
          <a:p>
            <a:pPr algn="ctr"/>
            <a:r>
              <a:rPr sz="1100" b="1" i="0">
                <a:solidFill>
                  <a:srgbClr val="0F172A"/>
                </a:solidFill>
                <a:latin typeface="Arial"/>
              </a:rPr>
              <a:t>(x may be 0.3)</a:t>
            </a:r>
          </a:p>
        </p:txBody>
      </p:sp>
      <p:sp>
        <p:nvSpPr>
          <p:cNvPr id="25" name="Rounded Rectangle 24"/>
          <p:cNvSpPr/>
          <p:nvPr/>
        </p:nvSpPr>
        <p:spPr>
          <a:xfrm>
            <a:off x="7063740" y="3017520"/>
            <a:ext cx="1188720" cy="640080"/>
          </a:xfrm>
          <a:prstGeom prst="roundRect">
            <a:avLst>
              <a:gd name="adj" fmla="val 8000"/>
            </a:avLst>
          </a:prstGeom>
          <a:solidFill>
            <a:srgbClr val="F8FAFC"/>
          </a:solidFill>
          <a:ln w="1587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063740" y="3017520"/>
            <a:ext cx="1188720" cy="640080"/>
          </a:xfrm>
          <a:prstGeom prst="rect">
            <a:avLst/>
          </a:prstGeom>
          <a:noFill/>
        </p:spPr>
        <p:txBody>
          <a:bodyPr wrap="square" lIns="45720" tIns="22860" rIns="45720" bIns="22860" anchor="ctr">
            <a:spAutoFit/>
          </a:bodyPr>
          <a:lstStyle/>
          <a:p>
            <a:pPr algn="ctr"/>
            <a:r>
              <a:rPr sz="1100" b="1" i="0">
                <a:solidFill>
                  <a:srgbClr val="0F172A"/>
                </a:solidFill>
                <a:latin typeface="Arial"/>
              </a:rPr>
              <a:t>fix x = 0</a:t>
            </a:r>
          </a:p>
        </p:txBody>
      </p:sp>
      <p:sp>
        <p:nvSpPr>
          <p:cNvPr id="27" name="Rounded Rectangle 26"/>
          <p:cNvSpPr/>
          <p:nvPr/>
        </p:nvSpPr>
        <p:spPr>
          <a:xfrm>
            <a:off x="9121140" y="3017520"/>
            <a:ext cx="1188720" cy="640080"/>
          </a:xfrm>
          <a:prstGeom prst="roundRect">
            <a:avLst>
              <a:gd name="adj" fmla="val 8000"/>
            </a:avLst>
          </a:prstGeom>
          <a:solidFill>
            <a:srgbClr val="F8FAFC"/>
          </a:solidFill>
          <a:ln w="1587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21140" y="3017520"/>
            <a:ext cx="1188720" cy="640080"/>
          </a:xfrm>
          <a:prstGeom prst="rect">
            <a:avLst/>
          </a:prstGeom>
          <a:noFill/>
        </p:spPr>
        <p:txBody>
          <a:bodyPr wrap="square" lIns="45720" tIns="22860" rIns="45720" bIns="22860" anchor="ctr">
            <a:spAutoFit/>
          </a:bodyPr>
          <a:lstStyle/>
          <a:p>
            <a:pPr algn="ctr"/>
            <a:r>
              <a:rPr sz="1100" b="1" i="0">
                <a:solidFill>
                  <a:srgbClr val="0F172A"/>
                </a:solidFill>
                <a:latin typeface="Arial"/>
              </a:rPr>
              <a:t>fix x = 1</a:t>
            </a:r>
          </a:p>
        </p:txBody>
      </p:sp>
      <p:sp>
        <p:nvSpPr>
          <p:cNvPr id="29" name="Rounded Rectangle 28"/>
          <p:cNvSpPr/>
          <p:nvPr/>
        </p:nvSpPr>
        <p:spPr>
          <a:xfrm>
            <a:off x="6400800" y="4206240"/>
            <a:ext cx="1188720" cy="640080"/>
          </a:xfrm>
          <a:prstGeom prst="roundRect">
            <a:avLst>
              <a:gd name="adj" fmla="val 8000"/>
            </a:avLst>
          </a:prstGeom>
          <a:solidFill>
            <a:srgbClr val="FFEDD5"/>
          </a:solidFill>
          <a:ln w="1587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00800" y="4206240"/>
            <a:ext cx="1188720" cy="640080"/>
          </a:xfrm>
          <a:prstGeom prst="rect">
            <a:avLst/>
          </a:prstGeom>
          <a:noFill/>
        </p:spPr>
        <p:txBody>
          <a:bodyPr wrap="square" lIns="45720" tIns="22860" rIns="45720" bIns="22860" anchor="ctr">
            <a:spAutoFit/>
          </a:bodyPr>
          <a:lstStyle/>
          <a:p>
            <a:pPr algn="ctr"/>
            <a:r>
              <a:rPr sz="1100" b="1" i="0">
                <a:solidFill>
                  <a:srgbClr val="B45309"/>
                </a:solidFill>
                <a:latin typeface="Arial"/>
              </a:rPr>
              <a:t>bound ≤ best</a:t>
            </a:r>
          </a:p>
          <a:p>
            <a:pPr algn="ctr"/>
            <a:r>
              <a:rPr sz="1100" b="1" i="0">
                <a:solidFill>
                  <a:srgbClr val="B45309"/>
                </a:solidFill>
                <a:latin typeface="Arial"/>
              </a:rPr>
              <a:t>→ stop</a:t>
            </a:r>
          </a:p>
        </p:txBody>
      </p:sp>
      <p:sp>
        <p:nvSpPr>
          <p:cNvPr id="31" name="Rounded Rectangle 30"/>
          <p:cNvSpPr/>
          <p:nvPr/>
        </p:nvSpPr>
        <p:spPr>
          <a:xfrm>
            <a:off x="7726680" y="4206240"/>
            <a:ext cx="1188720" cy="640080"/>
          </a:xfrm>
          <a:prstGeom prst="roundRect">
            <a:avLst>
              <a:gd name="adj" fmla="val 8000"/>
            </a:avLst>
          </a:prstGeom>
          <a:solidFill>
            <a:srgbClr val="F8FAFC"/>
          </a:solidFill>
          <a:ln w="1587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726680" y="4206240"/>
            <a:ext cx="1188720" cy="640080"/>
          </a:xfrm>
          <a:prstGeom prst="rect">
            <a:avLst/>
          </a:prstGeom>
          <a:noFill/>
        </p:spPr>
        <p:txBody>
          <a:bodyPr wrap="square" lIns="45720" tIns="22860" rIns="45720" bIns="22860" anchor="ctr">
            <a:spAutoFit/>
          </a:bodyPr>
          <a:lstStyle/>
          <a:p>
            <a:pPr algn="ctr"/>
            <a:r>
              <a:rPr sz="1100" b="1" i="0">
                <a:solidFill>
                  <a:srgbClr val="0F172A"/>
                </a:solidFill>
                <a:latin typeface="Arial"/>
              </a:rPr>
              <a:t>search on</a:t>
            </a:r>
          </a:p>
        </p:txBody>
      </p:sp>
      <p:sp>
        <p:nvSpPr>
          <p:cNvPr id="33" name="Rounded Rectangle 32"/>
          <p:cNvSpPr/>
          <p:nvPr/>
        </p:nvSpPr>
        <p:spPr>
          <a:xfrm>
            <a:off x="9052560" y="4206240"/>
            <a:ext cx="1188720" cy="640080"/>
          </a:xfrm>
          <a:prstGeom prst="roundRect">
            <a:avLst>
              <a:gd name="adj" fmla="val 8000"/>
            </a:avLst>
          </a:prstGeom>
          <a:solidFill>
            <a:srgbClr val="E0F2FE"/>
          </a:solidFill>
          <a:ln w="1587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052560" y="4206240"/>
            <a:ext cx="1188720" cy="640080"/>
          </a:xfrm>
          <a:prstGeom prst="rect">
            <a:avLst/>
          </a:prstGeom>
          <a:noFill/>
        </p:spPr>
        <p:txBody>
          <a:bodyPr wrap="square" lIns="45720" tIns="22860" rIns="45720" bIns="22860" anchor="ctr">
            <a:spAutoFit/>
          </a:bodyPr>
          <a:lstStyle/>
          <a:p>
            <a:pPr algn="ctr"/>
            <a:r>
              <a:rPr sz="1100" b="1" i="0">
                <a:solidFill>
                  <a:srgbClr val="0F172A"/>
                </a:solidFill>
                <a:latin typeface="Arial"/>
              </a:rPr>
              <a:t>new best</a:t>
            </a:r>
          </a:p>
          <a:p>
            <a:pPr algn="ctr"/>
            <a:r>
              <a:rPr sz="1100" b="1" i="0">
                <a:solidFill>
                  <a:srgbClr val="0F172A"/>
                </a:solidFill>
                <a:latin typeface="Arial"/>
              </a:rPr>
              <a:t>timetable</a:t>
            </a:r>
          </a:p>
        </p:txBody>
      </p:sp>
      <p:sp>
        <p:nvSpPr>
          <p:cNvPr id="35" name="Rounded Rectangle 34"/>
          <p:cNvSpPr/>
          <p:nvPr/>
        </p:nvSpPr>
        <p:spPr>
          <a:xfrm>
            <a:off x="10378440" y="4206240"/>
            <a:ext cx="1188720" cy="640080"/>
          </a:xfrm>
          <a:prstGeom prst="roundRect">
            <a:avLst>
              <a:gd name="adj" fmla="val 8000"/>
            </a:avLst>
          </a:prstGeom>
          <a:solidFill>
            <a:srgbClr val="FFEDD5"/>
          </a:solidFill>
          <a:ln w="1587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378440" y="4206240"/>
            <a:ext cx="1188720" cy="640080"/>
          </a:xfrm>
          <a:prstGeom prst="rect">
            <a:avLst/>
          </a:prstGeom>
          <a:noFill/>
        </p:spPr>
        <p:txBody>
          <a:bodyPr wrap="square" lIns="45720" tIns="22860" rIns="45720" bIns="22860" anchor="ctr">
            <a:spAutoFit/>
          </a:bodyPr>
          <a:lstStyle/>
          <a:p>
            <a:pPr algn="ctr"/>
            <a:r>
              <a:rPr sz="1100" b="1" i="0">
                <a:solidFill>
                  <a:srgbClr val="B45309"/>
                </a:solidFill>
                <a:latin typeface="Arial"/>
              </a:rPr>
              <a:t>bound ≤ best</a:t>
            </a:r>
          </a:p>
          <a:p>
            <a:pPr algn="ctr"/>
            <a:r>
              <a:rPr sz="1100" b="1" i="0">
                <a:solidFill>
                  <a:srgbClr val="B45309"/>
                </a:solidFill>
                <a:latin typeface="Arial"/>
              </a:rPr>
              <a:t>→ stop</a:t>
            </a:r>
          </a:p>
        </p:txBody>
      </p:sp>
      <p:sp>
        <p:nvSpPr>
          <p:cNvPr id="37" name="TextBox 36"/>
          <p:cNvSpPr txBox="1"/>
          <p:nvPr/>
        </p:nvSpPr>
        <p:spPr>
          <a:xfrm>
            <a:off x="6400800" y="5029200"/>
            <a:ext cx="5221224" cy="685800"/>
          </a:xfrm>
          <a:prstGeom prst="rect">
            <a:avLst/>
          </a:prstGeom>
          <a:noFill/>
        </p:spPr>
        <p:txBody>
          <a:bodyPr wrap="square" lIns="45720" tIns="22860" rIns="45720" bIns="22860">
            <a:spAutoFit/>
          </a:bodyPr>
          <a:lstStyle/>
          <a:p>
            <a:r>
              <a:rPr sz="1200" b="0" i="0">
                <a:solidFill>
                  <a:srgbClr val="64748B"/>
                </a:solidFill>
                <a:latin typeface="Arial"/>
              </a:rPr>
              <a:t>Branches that cannot beat the best timetable are cut. Proving “no better one exists” is often the slow part.</a:t>
            </a:r>
          </a:p>
        </p:txBody>
      </p:sp>
      <p:sp>
        <p:nvSpPr>
          <p:cNvPr id="38" name="TextBox 37"/>
          <p:cNvSpPr txBox="1"/>
          <p:nvPr/>
        </p:nvSpPr>
        <p:spPr>
          <a:xfrm>
            <a:off x="11164824" y="6492240"/>
            <a:ext cx="457200" cy="219456"/>
          </a:xfrm>
          <a:prstGeom prst="rect">
            <a:avLst/>
          </a:prstGeom>
          <a:noFill/>
          <a:ln/>
        </p:spPr>
        <p:txBody>
          <a:bodyPr wrap="square" lIns="0" tIns="0" rIns="0" bIns="0" rtlCol="0" anchor="ctr"/>
          <a:lstStyle/>
          <a:p>
            <a:pPr marL="0" indent="0" algn="r">
              <a:buNone/>
            </a:pPr>
            <a:fld id="{8B2C3E4A-5D6F-4A1B-9C2D-3E4F5A6B7C8D}" type="slidenum">
              <a:rPr lang="en-US" altLang="ja-JP" sz="1000" dirty="0">
                <a:solidFill>
                  <a:srgbClr val="94A3B8"/>
                </a:solidFill>
                <a:latin typeface="Arial" pitchFamily="34" charset="0"/>
                <a:ea typeface="Arial" pitchFamily="34" charset="-122"/>
                <a:cs typeface="Arial" pitchFamily="34" charset="-120"/>
              </a:rPr>
              <a:t>31</a:t>
            </a:fld>
            <a:endParaRPr lang="en-US" altLang="ja-JP"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5096" cy="237744"/>
          </a:xfrm>
          <a:prstGeom prst="rect">
            <a:avLst/>
          </a:prstGeom>
          <a:noFill/>
        </p:spPr>
        <p:txBody>
          <a:bodyPr wrap="square" lIns="45720" tIns="22860" rIns="45720" bIns="22860">
            <a:spAutoFit/>
          </a:bodyPr>
          <a:lstStyle/>
          <a:p>
            <a:r>
              <a:rPr sz="1200" b="1" i="0">
                <a:solidFill>
                  <a:srgbClr val="0284C7"/>
                </a:solidFill>
                <a:latin typeface="Arial"/>
              </a:rPr>
              <a:t>APPENDIX   A6</a:t>
            </a:r>
          </a:p>
        </p:txBody>
      </p:sp>
      <p:sp>
        <p:nvSpPr>
          <p:cNvPr id="3" name="TextBox 2"/>
          <p:cNvSpPr txBox="1"/>
          <p:nvPr/>
        </p:nvSpPr>
        <p:spPr>
          <a:xfrm>
            <a:off x="566928" y="566928"/>
            <a:ext cx="11055096" cy="566928"/>
          </a:xfrm>
          <a:prstGeom prst="rect">
            <a:avLst/>
          </a:prstGeom>
          <a:noFill/>
        </p:spPr>
        <p:txBody>
          <a:bodyPr wrap="square" lIns="45720" tIns="22860" rIns="45720" bIns="22860">
            <a:spAutoFit/>
          </a:bodyPr>
          <a:lstStyle/>
          <a:p>
            <a:r>
              <a:rPr sz="2600" b="1" i="0">
                <a:solidFill>
                  <a:srgbClr val="0F172A"/>
                </a:solidFill>
                <a:latin typeface="Arial"/>
              </a:rPr>
              <a:t>Variables and Constraints in Detail</a:t>
            </a:r>
          </a:p>
        </p:txBody>
      </p:sp>
      <p:sp>
        <p:nvSpPr>
          <p:cNvPr id="4" name="TextBox 3"/>
          <p:cNvSpPr txBox="1"/>
          <p:nvPr/>
        </p:nvSpPr>
        <p:spPr>
          <a:xfrm>
            <a:off x="566928" y="1097280"/>
            <a:ext cx="11055096" cy="274320"/>
          </a:xfrm>
          <a:prstGeom prst="rect">
            <a:avLst/>
          </a:prstGeom>
          <a:noFill/>
        </p:spPr>
        <p:txBody>
          <a:bodyPr wrap="square" lIns="45720" tIns="22860" rIns="45720" bIns="22860">
            <a:spAutoFit/>
          </a:bodyPr>
          <a:lstStyle/>
          <a:p>
            <a:r>
              <a:rPr sz="1300" b="0" i="0">
                <a:solidFill>
                  <a:srgbClr val="64748B"/>
                </a:solidFill>
                <a:latin typeface="Arial"/>
              </a:rPr>
              <a:t>x(s, r, t) = 1 if presentation s is in room r at time slot t, otherwise 0</a:t>
            </a:r>
          </a:p>
        </p:txBody>
      </p:sp>
      <p:graphicFrame>
        <p:nvGraphicFramePr>
          <p:cNvPr id="5" name="Table 4"/>
          <p:cNvGraphicFramePr>
            <a:graphicFrameLocks noGrp="1"/>
          </p:cNvGraphicFramePr>
          <p:nvPr/>
        </p:nvGraphicFramePr>
        <p:xfrm>
          <a:off x="566928" y="1554480"/>
          <a:ext cx="11055095" cy="4023360"/>
        </p:xfrm>
        <a:graphic>
          <a:graphicData uri="http://schemas.openxmlformats.org/drawingml/2006/table">
            <a:tbl>
              <a:tblPr>
                <a:tableStyleId>{2D5ABB26-0587-4C30-8999-92F81FD0307C}</a:tableStyleId>
              </a:tblPr>
              <a:tblGrid>
                <a:gridCol w="3537630">
                  <a:extLst>
                    <a:ext uri="{9D8B030D-6E8A-4147-A177-3AD203B41FA5}">
                      <a16:colId xmlns:a16="http://schemas.microsoft.com/office/drawing/2014/main" val="20000"/>
                    </a:ext>
                  </a:extLst>
                </a:gridCol>
                <a:gridCol w="5085344">
                  <a:extLst>
                    <a:ext uri="{9D8B030D-6E8A-4147-A177-3AD203B41FA5}">
                      <a16:colId xmlns:a16="http://schemas.microsoft.com/office/drawing/2014/main" val="20001"/>
                    </a:ext>
                  </a:extLst>
                </a:gridCol>
                <a:gridCol w="2432121">
                  <a:extLst>
                    <a:ext uri="{9D8B030D-6E8A-4147-A177-3AD203B41FA5}">
                      <a16:colId xmlns:a16="http://schemas.microsoft.com/office/drawing/2014/main" val="20002"/>
                    </a:ext>
                  </a:extLst>
                </a:gridCol>
              </a:tblGrid>
              <a:tr h="502920">
                <a:tc>
                  <a:txBody>
                    <a:bodyPr/>
                    <a:lstStyle/>
                    <a:p>
                      <a:r>
                        <a:rPr sz="1200" b="1">
                          <a:solidFill>
                            <a:srgbClr val="FFFFFF"/>
                          </a:solidFill>
                          <a:latin typeface="Arial"/>
                        </a:rPr>
                        <a:t>Rule</a:t>
                      </a:r>
                    </a:p>
                  </a:txBody>
                  <a:tcPr marL="64008" marR="64008" marT="27432" marB="27432" anchor="ctr">
                    <a:solidFill>
                      <a:srgbClr val="0F172A"/>
                    </a:solidFill>
                  </a:tcPr>
                </a:tc>
                <a:tc>
                  <a:txBody>
                    <a:bodyPr/>
                    <a:lstStyle/>
                    <a:p>
                      <a:r>
                        <a:rPr sz="1200" b="1">
                          <a:solidFill>
                            <a:srgbClr val="FFFFFF"/>
                          </a:solidFill>
                          <a:latin typeface="Arial"/>
                        </a:rPr>
                        <a:t>Formula</a:t>
                      </a:r>
                    </a:p>
                  </a:txBody>
                  <a:tcPr marL="64008" marR="64008" marT="27432" marB="27432" anchor="ctr">
                    <a:solidFill>
                      <a:srgbClr val="0F172A"/>
                    </a:solidFill>
                  </a:tcPr>
                </a:tc>
                <a:tc>
                  <a:txBody>
                    <a:bodyPr/>
                    <a:lstStyle/>
                    <a:p>
                      <a:r>
                        <a:rPr sz="1200" b="1">
                          <a:solidFill>
                            <a:srgbClr val="FFFFFF"/>
                          </a:solidFill>
                          <a:latin typeface="Arial"/>
                        </a:rPr>
                        <a:t>When</a:t>
                      </a:r>
                    </a:p>
                  </a:txBody>
                  <a:tcPr marL="64008" marR="64008" marT="27432" marB="27432" anchor="ctr">
                    <a:solidFill>
                      <a:srgbClr val="0F172A"/>
                    </a:solidFill>
                  </a:tcPr>
                </a:tc>
                <a:extLst>
                  <a:ext uri="{0D108BD9-81ED-4DB2-BD59-A6C34878D82A}">
                    <a16:rowId xmlns:a16="http://schemas.microsoft.com/office/drawing/2014/main" val="10000"/>
                  </a:ext>
                </a:extLst>
              </a:tr>
              <a:tr h="502920">
                <a:tc>
                  <a:txBody>
                    <a:bodyPr/>
                    <a:lstStyle/>
                    <a:p>
                      <a:r>
                        <a:rPr sz="1200" b="1">
                          <a:solidFill>
                            <a:srgbClr val="0F172A"/>
                          </a:solidFill>
                          <a:latin typeface="Arial"/>
                        </a:rPr>
                        <a:t>Each presentation exactly once</a:t>
                      </a:r>
                    </a:p>
                  </a:txBody>
                  <a:tcPr marL="64008" marR="64008" marT="27432" marB="27432" anchor="ctr">
                    <a:solidFill>
                      <a:srgbClr val="F8FAFC"/>
                    </a:solidFill>
                  </a:tcPr>
                </a:tc>
                <a:tc>
                  <a:txBody>
                    <a:bodyPr/>
                    <a:lstStyle/>
                    <a:p>
                      <a:r>
                        <a:rPr sz="1200" b="0">
                          <a:solidFill>
                            <a:srgbClr val="0F172A"/>
                          </a:solidFill>
                          <a:latin typeface="Arial"/>
                        </a:rPr>
                        <a:t>Σ_r Σ_t x(s, r, t) = 1      for every s</a:t>
                      </a:r>
                    </a:p>
                  </a:txBody>
                  <a:tcPr marL="64008" marR="64008" marT="27432" marB="27432" anchor="ctr">
                    <a:solidFill>
                      <a:srgbClr val="F8FAFC"/>
                    </a:solidFill>
                  </a:tcPr>
                </a:tc>
                <a:tc>
                  <a:txBody>
                    <a:bodyPr/>
                    <a:lstStyle/>
                    <a:p>
                      <a:r>
                        <a:rPr sz="1200" b="0">
                          <a:solidFill>
                            <a:srgbClr val="0F172A"/>
                          </a:solidFill>
                          <a:latin typeface="Arial"/>
                        </a:rPr>
                        <a:t>Always</a:t>
                      </a:r>
                    </a:p>
                  </a:txBody>
                  <a:tcPr marL="64008" marR="64008" marT="27432" marB="27432" anchor="ctr">
                    <a:solidFill>
                      <a:srgbClr val="F8FAFC"/>
                    </a:solidFill>
                  </a:tcPr>
                </a:tc>
                <a:extLst>
                  <a:ext uri="{0D108BD9-81ED-4DB2-BD59-A6C34878D82A}">
                    <a16:rowId xmlns:a16="http://schemas.microsoft.com/office/drawing/2014/main" val="10001"/>
                  </a:ext>
                </a:extLst>
              </a:tr>
              <a:tr h="502920">
                <a:tc>
                  <a:txBody>
                    <a:bodyPr/>
                    <a:lstStyle/>
                    <a:p>
                      <a:r>
                        <a:rPr sz="1200" b="1">
                          <a:solidFill>
                            <a:srgbClr val="0F172A"/>
                          </a:solidFill>
                          <a:latin typeface="Arial"/>
                        </a:rPr>
                        <a:t>At most one presentation per room and slot</a:t>
                      </a:r>
                    </a:p>
                  </a:txBody>
                  <a:tcPr marL="64008" marR="64008" marT="27432" marB="27432" anchor="ctr">
                    <a:solidFill>
                      <a:srgbClr val="FFFFFF"/>
                    </a:solidFill>
                  </a:tcPr>
                </a:tc>
                <a:tc>
                  <a:txBody>
                    <a:bodyPr/>
                    <a:lstStyle/>
                    <a:p>
                      <a:r>
                        <a:rPr sz="1200" b="0">
                          <a:solidFill>
                            <a:srgbClr val="0F172A"/>
                          </a:solidFill>
                          <a:latin typeface="Arial"/>
                        </a:rPr>
                        <a:t>Σ_s x(s, r, t) ≤ 1      for every r, t</a:t>
                      </a:r>
                    </a:p>
                  </a:txBody>
                  <a:tcPr marL="64008" marR="64008" marT="27432" marB="27432" anchor="ctr">
                    <a:solidFill>
                      <a:srgbClr val="FFFFFF"/>
                    </a:solidFill>
                  </a:tcPr>
                </a:tc>
                <a:tc>
                  <a:txBody>
                    <a:bodyPr/>
                    <a:lstStyle/>
                    <a:p>
                      <a:r>
                        <a:rPr sz="1200" b="0">
                          <a:solidFill>
                            <a:srgbClr val="0F172A"/>
                          </a:solidFill>
                          <a:latin typeface="Arial"/>
                        </a:rPr>
                        <a:t>Always</a:t>
                      </a:r>
                    </a:p>
                  </a:txBody>
                  <a:tcPr marL="64008" marR="64008" marT="27432" marB="27432" anchor="ctr">
                    <a:solidFill>
                      <a:srgbClr val="FFFFFF"/>
                    </a:solidFill>
                  </a:tcPr>
                </a:tc>
                <a:extLst>
                  <a:ext uri="{0D108BD9-81ED-4DB2-BD59-A6C34878D82A}">
                    <a16:rowId xmlns:a16="http://schemas.microsoft.com/office/drawing/2014/main" val="10002"/>
                  </a:ext>
                </a:extLst>
              </a:tr>
              <a:tr h="502920">
                <a:tc>
                  <a:txBody>
                    <a:bodyPr/>
                    <a:lstStyle/>
                    <a:p>
                      <a:r>
                        <a:rPr sz="1200" b="1">
                          <a:solidFill>
                            <a:srgbClr val="0F172A"/>
                          </a:solidFill>
                          <a:latin typeface="Arial"/>
                        </a:rPr>
                        <a:t>Room large enough</a:t>
                      </a:r>
                    </a:p>
                  </a:txBody>
                  <a:tcPr marL="64008" marR="64008" marT="27432" marB="27432" anchor="ctr">
                    <a:solidFill>
                      <a:srgbClr val="F8FAFC"/>
                    </a:solidFill>
                  </a:tcPr>
                </a:tc>
                <a:tc>
                  <a:txBody>
                    <a:bodyPr/>
                    <a:lstStyle/>
                    <a:p>
                      <a:r>
                        <a:rPr sz="1200" b="0">
                          <a:solidFill>
                            <a:srgbClr val="0F172A"/>
                          </a:solidFill>
                          <a:latin typeface="Arial"/>
                        </a:rPr>
                        <a:t>x(s, r, t) = 0  if  capacity(r) &lt; audience(s)</a:t>
                      </a:r>
                    </a:p>
                  </a:txBody>
                  <a:tcPr marL="64008" marR="64008" marT="27432" marB="27432" anchor="ctr">
                    <a:solidFill>
                      <a:srgbClr val="F8FAFC"/>
                    </a:solidFill>
                  </a:tcPr>
                </a:tc>
                <a:tc>
                  <a:txBody>
                    <a:bodyPr/>
                    <a:lstStyle/>
                    <a:p>
                      <a:r>
                        <a:rPr sz="1200" b="0">
                          <a:solidFill>
                            <a:srgbClr val="0F172A"/>
                          </a:solidFill>
                          <a:latin typeface="Arial"/>
                        </a:rPr>
                        <a:t>Always</a:t>
                      </a:r>
                    </a:p>
                  </a:txBody>
                  <a:tcPr marL="64008" marR="64008" marT="27432" marB="27432" anchor="ctr">
                    <a:solidFill>
                      <a:srgbClr val="F8FAFC"/>
                    </a:solidFill>
                  </a:tcPr>
                </a:tc>
                <a:extLst>
                  <a:ext uri="{0D108BD9-81ED-4DB2-BD59-A6C34878D82A}">
                    <a16:rowId xmlns:a16="http://schemas.microsoft.com/office/drawing/2014/main" val="10003"/>
                  </a:ext>
                </a:extLst>
              </a:tr>
              <a:tr h="502920">
                <a:tc>
                  <a:txBody>
                    <a:bodyPr/>
                    <a:lstStyle/>
                    <a:p>
                      <a:r>
                        <a:rPr sz="1200" b="1">
                          <a:solidFill>
                            <a:srgbClr val="0F172A"/>
                          </a:solidFill>
                          <a:latin typeface="Arial"/>
                        </a:rPr>
                        <a:t>Screen</a:t>
                      </a:r>
                    </a:p>
                  </a:txBody>
                  <a:tcPr marL="64008" marR="64008" marT="27432" marB="27432" anchor="ctr">
                    <a:solidFill>
                      <a:srgbClr val="FFFFFF"/>
                    </a:solidFill>
                  </a:tcPr>
                </a:tc>
                <a:tc>
                  <a:txBody>
                    <a:bodyPr/>
                    <a:lstStyle/>
                    <a:p>
                      <a:r>
                        <a:rPr sz="1200" b="0">
                          <a:solidFill>
                            <a:srgbClr val="0F172A"/>
                          </a:solidFill>
                          <a:latin typeface="Arial"/>
                        </a:rPr>
                        <a:t>x(s, r, t) = 0  if  s needs a screen and r has none</a:t>
                      </a:r>
                    </a:p>
                  </a:txBody>
                  <a:tcPr marL="64008" marR="64008" marT="27432" marB="27432" anchor="ctr">
                    <a:solidFill>
                      <a:srgbClr val="FFFFFF"/>
                    </a:solidFill>
                  </a:tcPr>
                </a:tc>
                <a:tc>
                  <a:txBody>
                    <a:bodyPr/>
                    <a:lstStyle/>
                    <a:p>
                      <a:r>
                        <a:rPr sz="1200" b="0">
                          <a:solidFill>
                            <a:srgbClr val="0F172A"/>
                          </a:solidFill>
                          <a:latin typeface="Arial"/>
                        </a:rPr>
                        <a:t>If Needs_Screen is filled</a:t>
                      </a:r>
                    </a:p>
                  </a:txBody>
                  <a:tcPr marL="64008" marR="64008" marT="27432" marB="27432" anchor="ctr">
                    <a:solidFill>
                      <a:srgbClr val="FFFFFF"/>
                    </a:solidFill>
                  </a:tcPr>
                </a:tc>
                <a:extLst>
                  <a:ext uri="{0D108BD9-81ED-4DB2-BD59-A6C34878D82A}">
                    <a16:rowId xmlns:a16="http://schemas.microsoft.com/office/drawing/2014/main" val="10004"/>
                  </a:ext>
                </a:extLst>
              </a:tr>
              <a:tr h="502920">
                <a:tc>
                  <a:txBody>
                    <a:bodyPr/>
                    <a:lstStyle/>
                    <a:p>
                      <a:r>
                        <a:rPr sz="1200" b="1">
                          <a:solidFill>
                            <a:srgbClr val="0F172A"/>
                          </a:solidFill>
                          <a:latin typeface="Arial"/>
                        </a:rPr>
                        <a:t>Unavailable slot</a:t>
                      </a:r>
                    </a:p>
                  </a:txBody>
                  <a:tcPr marL="64008" marR="64008" marT="27432" marB="27432" anchor="ctr">
                    <a:solidFill>
                      <a:srgbClr val="F8FAFC"/>
                    </a:solidFill>
                  </a:tcPr>
                </a:tc>
                <a:tc>
                  <a:txBody>
                    <a:bodyPr/>
                    <a:lstStyle/>
                    <a:p>
                      <a:r>
                        <a:rPr sz="1200" b="0">
                          <a:solidFill>
                            <a:srgbClr val="0F172A"/>
                          </a:solidFill>
                          <a:latin typeface="Arial"/>
                        </a:rPr>
                        <a:t>x(s, r, t) = 0  for t in NG(s)</a:t>
                      </a:r>
                    </a:p>
                  </a:txBody>
                  <a:tcPr marL="64008" marR="64008" marT="27432" marB="27432" anchor="ctr">
                    <a:solidFill>
                      <a:srgbClr val="F8FAFC"/>
                    </a:solidFill>
                  </a:tcPr>
                </a:tc>
                <a:tc>
                  <a:txBody>
                    <a:bodyPr/>
                    <a:lstStyle/>
                    <a:p>
                      <a:r>
                        <a:rPr sz="1200" b="0">
                          <a:solidFill>
                            <a:srgbClr val="0F172A"/>
                          </a:solidFill>
                          <a:latin typeface="Arial"/>
                        </a:rPr>
                        <a:t>If NG_TimeSlot_ID is filled</a:t>
                      </a:r>
                    </a:p>
                  </a:txBody>
                  <a:tcPr marL="64008" marR="64008" marT="27432" marB="27432" anchor="ctr">
                    <a:solidFill>
                      <a:srgbClr val="F8FAFC"/>
                    </a:solidFill>
                  </a:tcPr>
                </a:tc>
                <a:extLst>
                  <a:ext uri="{0D108BD9-81ED-4DB2-BD59-A6C34878D82A}">
                    <a16:rowId xmlns:a16="http://schemas.microsoft.com/office/drawing/2014/main" val="10005"/>
                  </a:ext>
                </a:extLst>
              </a:tr>
              <a:tr h="502920">
                <a:tc>
                  <a:txBody>
                    <a:bodyPr/>
                    <a:lstStyle/>
                    <a:p>
                      <a:r>
                        <a:rPr sz="1200" b="1">
                          <a:solidFill>
                            <a:srgbClr val="0F172A"/>
                          </a:solidFill>
                          <a:latin typeface="Arial"/>
                        </a:rPr>
                        <a:t>Same speaker</a:t>
                      </a:r>
                    </a:p>
                  </a:txBody>
                  <a:tcPr marL="64008" marR="64008" marT="27432" marB="27432" anchor="ctr">
                    <a:solidFill>
                      <a:srgbClr val="FFFFFF"/>
                    </a:solidFill>
                  </a:tcPr>
                </a:tc>
                <a:tc>
                  <a:txBody>
                    <a:bodyPr/>
                    <a:lstStyle/>
                    <a:p>
                      <a:r>
                        <a:rPr sz="1200" b="0">
                          <a:solidFill>
                            <a:srgbClr val="0F172A"/>
                          </a:solidFill>
                          <a:latin typeface="Arial"/>
                        </a:rPr>
                        <a:t>Σ_{s of speaker p} Σ_r x(s, r, t) ≤ 1      for every p, t</a:t>
                      </a:r>
                    </a:p>
                  </a:txBody>
                  <a:tcPr marL="64008" marR="64008" marT="27432" marB="27432" anchor="ctr">
                    <a:solidFill>
                      <a:srgbClr val="FFFFFF"/>
                    </a:solidFill>
                  </a:tcPr>
                </a:tc>
                <a:tc>
                  <a:txBody>
                    <a:bodyPr/>
                    <a:lstStyle/>
                    <a:p>
                      <a:r>
                        <a:rPr sz="1200" b="0">
                          <a:solidFill>
                            <a:srgbClr val="0F172A"/>
                          </a:solidFill>
                          <a:latin typeface="Arial"/>
                        </a:rPr>
                        <a:t>If Speaker is filled</a:t>
                      </a:r>
                    </a:p>
                  </a:txBody>
                  <a:tcPr marL="64008" marR="64008" marT="27432" marB="27432" anchor="ctr">
                    <a:solidFill>
                      <a:srgbClr val="FFFFFF"/>
                    </a:solidFill>
                  </a:tcPr>
                </a:tc>
                <a:extLst>
                  <a:ext uri="{0D108BD9-81ED-4DB2-BD59-A6C34878D82A}">
                    <a16:rowId xmlns:a16="http://schemas.microsoft.com/office/drawing/2014/main" val="10006"/>
                  </a:ext>
                </a:extLst>
              </a:tr>
              <a:tr h="502920">
                <a:tc>
                  <a:txBody>
                    <a:bodyPr/>
                    <a:lstStyle/>
                    <a:p>
                      <a:r>
                        <a:rPr sz="1200" b="1">
                          <a:solidFill>
                            <a:srgbClr val="0F172A"/>
                          </a:solidFill>
                          <a:latin typeface="Arial"/>
                        </a:rPr>
                        <a:t>Same length</a:t>
                      </a:r>
                    </a:p>
                  </a:txBody>
                  <a:tcPr marL="64008" marR="64008" marT="27432" marB="27432" anchor="ctr">
                    <a:solidFill>
                      <a:srgbClr val="F8FAFC"/>
                    </a:solidFill>
                  </a:tcPr>
                </a:tc>
                <a:tc>
                  <a:txBody>
                    <a:bodyPr/>
                    <a:lstStyle/>
                    <a:p>
                      <a:r>
                        <a:rPr sz="1200" b="0">
                          <a:solidFill>
                            <a:srgbClr val="0F172A"/>
                          </a:solidFill>
                          <a:latin typeface="Arial"/>
                        </a:rPr>
                        <a:t>1 presentation = 1 time slot</a:t>
                      </a:r>
                    </a:p>
                  </a:txBody>
                  <a:tcPr marL="64008" marR="64008" marT="27432" marB="27432" anchor="ctr">
                    <a:solidFill>
                      <a:srgbClr val="F8FAFC"/>
                    </a:solidFill>
                  </a:tcPr>
                </a:tc>
                <a:tc>
                  <a:txBody>
                    <a:bodyPr/>
                    <a:lstStyle/>
                    <a:p>
                      <a:r>
                        <a:rPr sz="1200" b="0">
                          <a:solidFill>
                            <a:srgbClr val="0F172A"/>
                          </a:solidFill>
                          <a:latin typeface="Arial"/>
                        </a:rPr>
                        <a:t>Model assumption</a:t>
                      </a:r>
                    </a:p>
                  </a:txBody>
                  <a:tcPr marL="64008" marR="64008" marT="27432" marB="27432" anchor="ctr">
                    <a:solidFill>
                      <a:srgbClr val="F8FAFC"/>
                    </a:solidFill>
                  </a:tcPr>
                </a:tc>
                <a:extLst>
                  <a:ext uri="{0D108BD9-81ED-4DB2-BD59-A6C34878D82A}">
                    <a16:rowId xmlns:a16="http://schemas.microsoft.com/office/drawing/2014/main" val="10007"/>
                  </a:ext>
                </a:extLst>
              </a:tr>
            </a:tbl>
          </a:graphicData>
        </a:graphic>
      </p:graphicFrame>
      <p:sp>
        <p:nvSpPr>
          <p:cNvPr id="6" name="TextBox 5"/>
          <p:cNvSpPr txBox="1"/>
          <p:nvPr/>
        </p:nvSpPr>
        <p:spPr>
          <a:xfrm>
            <a:off x="566928" y="5760720"/>
            <a:ext cx="11055096" cy="274320"/>
          </a:xfrm>
          <a:prstGeom prst="rect">
            <a:avLst/>
          </a:prstGeom>
          <a:noFill/>
        </p:spPr>
        <p:txBody>
          <a:bodyPr wrap="square" lIns="45720" tIns="22860" rIns="45720" bIns="22860">
            <a:spAutoFit/>
          </a:bodyPr>
          <a:lstStyle/>
          <a:p>
            <a:r>
              <a:rPr sz="1200" b="0" i="0">
                <a:solidFill>
                  <a:srgbClr val="64748B"/>
                </a:solidFill>
                <a:latin typeface="Arial"/>
              </a:rPr>
              <a:t>Variables that break an “x = 0” rule are not created at all, which keeps the model small.</a:t>
            </a:r>
          </a:p>
        </p:txBody>
      </p:sp>
      <p:sp>
        <p:nvSpPr>
          <p:cNvPr id="7" name="TextBox 6"/>
          <p:cNvSpPr txBox="1"/>
          <p:nvPr/>
        </p:nvSpPr>
        <p:spPr>
          <a:xfrm>
            <a:off x="11164824" y="6492240"/>
            <a:ext cx="457200" cy="219456"/>
          </a:xfrm>
          <a:prstGeom prst="rect">
            <a:avLst/>
          </a:prstGeom>
          <a:noFill/>
          <a:ln/>
        </p:spPr>
        <p:txBody>
          <a:bodyPr wrap="square" lIns="0" tIns="0" rIns="0" bIns="0" rtlCol="0" anchor="ctr"/>
          <a:lstStyle/>
          <a:p>
            <a:pPr marL="0" indent="0" algn="r">
              <a:buNone/>
            </a:pPr>
            <a:fld id="{8B2C3E4A-5D6F-4A1B-9C2D-3E4F5A6B7C8D}" type="slidenum">
              <a:rPr lang="en-US" altLang="ja-JP" sz="1000" dirty="0">
                <a:solidFill>
                  <a:srgbClr val="94A3B8"/>
                </a:solidFill>
                <a:latin typeface="Arial" pitchFamily="34" charset="0"/>
                <a:ea typeface="Arial" pitchFamily="34" charset="-122"/>
                <a:cs typeface="Arial" pitchFamily="34" charset="-120"/>
              </a:rPr>
              <a:t>32</a:t>
            </a:fld>
            <a:endParaRPr lang="en-US" altLang="ja-JP"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5096" cy="237744"/>
          </a:xfrm>
          <a:prstGeom prst="rect">
            <a:avLst/>
          </a:prstGeom>
          <a:noFill/>
        </p:spPr>
        <p:txBody>
          <a:bodyPr wrap="square" lIns="45720" tIns="22860" rIns="45720" bIns="22860">
            <a:spAutoFit/>
          </a:bodyPr>
          <a:lstStyle/>
          <a:p>
            <a:r>
              <a:rPr sz="1200" b="1" i="0">
                <a:solidFill>
                  <a:srgbClr val="0284C7"/>
                </a:solidFill>
                <a:latin typeface="Arial"/>
              </a:rPr>
              <a:t>APPENDIX   A7</a:t>
            </a:r>
          </a:p>
        </p:txBody>
      </p:sp>
      <p:sp>
        <p:nvSpPr>
          <p:cNvPr id="3" name="TextBox 2"/>
          <p:cNvSpPr txBox="1"/>
          <p:nvPr/>
        </p:nvSpPr>
        <p:spPr>
          <a:xfrm>
            <a:off x="566928" y="566928"/>
            <a:ext cx="11055096" cy="566928"/>
          </a:xfrm>
          <a:prstGeom prst="rect">
            <a:avLst/>
          </a:prstGeom>
          <a:noFill/>
        </p:spPr>
        <p:txBody>
          <a:bodyPr wrap="square" lIns="45720" tIns="22860" rIns="45720" bIns="22860">
            <a:spAutoFit/>
          </a:bodyPr>
          <a:lstStyle/>
          <a:p>
            <a:r>
              <a:rPr sz="2600" b="1" i="0">
                <a:solidFill>
                  <a:srgbClr val="0F172A"/>
                </a:solidFill>
                <a:latin typeface="Arial"/>
              </a:rPr>
              <a:t>Objective Function in Detail</a:t>
            </a:r>
          </a:p>
        </p:txBody>
      </p:sp>
      <p:pic>
        <p:nvPicPr>
          <p:cNvPr id="4" name="Picture 3" descr="f_ours.png"/>
          <p:cNvPicPr>
            <a:picLocks noChangeAspect="1"/>
          </p:cNvPicPr>
          <p:nvPr/>
        </p:nvPicPr>
        <p:blipFill>
          <a:blip r:embed="rId2"/>
          <a:stretch>
            <a:fillRect/>
          </a:stretch>
        </p:blipFill>
        <p:spPr>
          <a:xfrm>
            <a:off x="3004628" y="1188720"/>
            <a:ext cx="6179695" cy="685800"/>
          </a:xfrm>
          <a:prstGeom prst="rect">
            <a:avLst/>
          </a:prstGeom>
        </p:spPr>
      </p:pic>
      <p:graphicFrame>
        <p:nvGraphicFramePr>
          <p:cNvPr id="5" name="Table 4"/>
          <p:cNvGraphicFramePr>
            <a:graphicFrameLocks noGrp="1"/>
          </p:cNvGraphicFramePr>
          <p:nvPr/>
        </p:nvGraphicFramePr>
        <p:xfrm>
          <a:off x="566928" y="1965960"/>
          <a:ext cx="11055094" cy="2743200"/>
        </p:xfrm>
        <a:graphic>
          <a:graphicData uri="http://schemas.openxmlformats.org/drawingml/2006/table">
            <a:tbl>
              <a:tblPr>
                <a:tableStyleId>{2D5ABB26-0587-4C30-8999-92F81FD0307C}</a:tableStyleId>
              </a:tblPr>
              <a:tblGrid>
                <a:gridCol w="1906051">
                  <a:extLst>
                    <a:ext uri="{9D8B030D-6E8A-4147-A177-3AD203B41FA5}">
                      <a16:colId xmlns:a16="http://schemas.microsoft.com/office/drawing/2014/main" val="20000"/>
                    </a:ext>
                  </a:extLst>
                </a:gridCol>
                <a:gridCol w="4383917">
                  <a:extLst>
                    <a:ext uri="{9D8B030D-6E8A-4147-A177-3AD203B41FA5}">
                      <a16:colId xmlns:a16="http://schemas.microsoft.com/office/drawing/2014/main" val="20001"/>
                    </a:ext>
                  </a:extLst>
                </a:gridCol>
                <a:gridCol w="3240286">
                  <a:extLst>
                    <a:ext uri="{9D8B030D-6E8A-4147-A177-3AD203B41FA5}">
                      <a16:colId xmlns:a16="http://schemas.microsoft.com/office/drawing/2014/main" val="20002"/>
                    </a:ext>
                  </a:extLst>
                </a:gridCol>
                <a:gridCol w="1524840">
                  <a:extLst>
                    <a:ext uri="{9D8B030D-6E8A-4147-A177-3AD203B41FA5}">
                      <a16:colId xmlns:a16="http://schemas.microsoft.com/office/drawing/2014/main" val="20003"/>
                    </a:ext>
                  </a:extLst>
                </a:gridCol>
              </a:tblGrid>
              <a:tr h="548640">
                <a:tc>
                  <a:txBody>
                    <a:bodyPr/>
                    <a:lstStyle/>
                    <a:p>
                      <a:r>
                        <a:rPr sz="1100" b="1">
                          <a:solidFill>
                            <a:srgbClr val="FFFFFF"/>
                          </a:solidFill>
                          <a:latin typeface="Arial"/>
                        </a:rPr>
                        <a:t>Term</a:t>
                      </a:r>
                    </a:p>
                  </a:txBody>
                  <a:tcPr marL="64008" marR="64008" marT="27432" marB="27432" anchor="ctr">
                    <a:solidFill>
                      <a:srgbClr val="0F172A"/>
                    </a:solidFill>
                  </a:tcPr>
                </a:tc>
                <a:tc>
                  <a:txBody>
                    <a:bodyPr/>
                    <a:lstStyle/>
                    <a:p>
                      <a:r>
                        <a:rPr sz="1100" b="1">
                          <a:solidFill>
                            <a:srgbClr val="FFFFFF"/>
                          </a:solidFill>
                          <a:latin typeface="Arial"/>
                        </a:rPr>
                        <a:t>What is counted</a:t>
                      </a:r>
                    </a:p>
                  </a:txBody>
                  <a:tcPr marL="64008" marR="64008" marT="27432" marB="27432" anchor="ctr">
                    <a:solidFill>
                      <a:srgbClr val="0F172A"/>
                    </a:solidFill>
                  </a:tcPr>
                </a:tc>
                <a:tc>
                  <a:txBody>
                    <a:bodyPr/>
                    <a:lstStyle/>
                    <a:p>
                      <a:r>
                        <a:rPr sz="1100" b="1">
                          <a:solidFill>
                            <a:srgbClr val="FFFFFF"/>
                          </a:solidFill>
                          <a:latin typeface="Arial"/>
                        </a:rPr>
                        <a:t>Scale N (the range it can move)</a:t>
                      </a:r>
                    </a:p>
                  </a:txBody>
                  <a:tcPr marL="64008" marR="64008" marT="27432" marB="27432" anchor="ctr">
                    <a:solidFill>
                      <a:srgbClr val="0F172A"/>
                    </a:solidFill>
                  </a:tcPr>
                </a:tc>
                <a:tc>
                  <a:txBody>
                    <a:bodyPr/>
                    <a:lstStyle/>
                    <a:p>
                      <a:r>
                        <a:rPr sz="1100" b="1">
                          <a:solidFill>
                            <a:srgbClr val="FFFFFF"/>
                          </a:solidFill>
                          <a:latin typeface="Arial"/>
                        </a:rPr>
                        <a:t>N: Test 1 / Test 2</a:t>
                      </a:r>
                    </a:p>
                  </a:txBody>
                  <a:tcPr marL="64008" marR="64008" marT="27432" marB="27432" anchor="ctr">
                    <a:solidFill>
                      <a:srgbClr val="0F172A"/>
                    </a:solidFill>
                  </a:tcPr>
                </a:tc>
                <a:extLst>
                  <a:ext uri="{0D108BD9-81ED-4DB2-BD59-A6C34878D82A}">
                    <a16:rowId xmlns:a16="http://schemas.microsoft.com/office/drawing/2014/main" val="10000"/>
                  </a:ext>
                </a:extLst>
              </a:tr>
              <a:tr h="548640">
                <a:tc>
                  <a:txBody>
                    <a:bodyPr/>
                    <a:lstStyle/>
                    <a:p>
                      <a:r>
                        <a:rPr sz="1100" b="1">
                          <a:solidFill>
                            <a:srgbClr val="0F172A"/>
                          </a:solidFill>
                          <a:latin typeface="Arial"/>
                        </a:rPr>
                        <a:t>A  continuity  ↑</a:t>
                      </a:r>
                    </a:p>
                  </a:txBody>
                  <a:tcPr marL="64008" marR="64008" marT="27432" marB="27432" anchor="ctr">
                    <a:solidFill>
                      <a:srgbClr val="F8FAFC"/>
                    </a:solidFill>
                  </a:tcPr>
                </a:tc>
                <a:tc>
                  <a:txBody>
                    <a:bodyPr/>
                    <a:lstStyle/>
                    <a:p>
                      <a:r>
                        <a:rPr sz="1100" b="0">
                          <a:solidFill>
                            <a:srgbClr val="0F172A"/>
                          </a:solidFill>
                          <a:latin typeface="Arial"/>
                        </a:rPr>
                        <a:t>+1 when the same topic is in the same room in two neighbouring slots (same day)</a:t>
                      </a:r>
                    </a:p>
                  </a:txBody>
                  <a:tcPr marL="64008" marR="64008" marT="27432" marB="27432" anchor="ctr">
                    <a:solidFill>
                      <a:srgbClr val="F8FAFC"/>
                    </a:solidFill>
                  </a:tcPr>
                </a:tc>
                <a:tc>
                  <a:txBody>
                    <a:bodyPr/>
                    <a:lstStyle/>
                    <a:p>
                      <a:r>
                        <a:rPr sz="1100" b="0">
                          <a:solidFill>
                            <a:srgbClr val="0F172A"/>
                          </a:solidFill>
                          <a:latin typeface="Arial"/>
                        </a:rPr>
                        <a:t>N_A = talks − topics</a:t>
                      </a:r>
                    </a:p>
                  </a:txBody>
                  <a:tcPr marL="64008" marR="64008" marT="27432" marB="27432" anchor="ctr">
                    <a:solidFill>
                      <a:srgbClr val="F8FAFC"/>
                    </a:solidFill>
                  </a:tcPr>
                </a:tc>
                <a:tc>
                  <a:txBody>
                    <a:bodyPr/>
                    <a:lstStyle/>
                    <a:p>
                      <a:r>
                        <a:rPr sz="1100" b="0">
                          <a:solidFill>
                            <a:srgbClr val="0F172A"/>
                          </a:solidFill>
                          <a:latin typeface="Arial"/>
                        </a:rPr>
                        <a:t>33 / 81</a:t>
                      </a:r>
                    </a:p>
                  </a:txBody>
                  <a:tcPr marL="64008" marR="64008" marT="27432" marB="27432" anchor="ctr">
                    <a:solidFill>
                      <a:srgbClr val="F8FAFC"/>
                    </a:solidFill>
                  </a:tcPr>
                </a:tc>
                <a:extLst>
                  <a:ext uri="{0D108BD9-81ED-4DB2-BD59-A6C34878D82A}">
                    <a16:rowId xmlns:a16="http://schemas.microsoft.com/office/drawing/2014/main" val="10001"/>
                  </a:ext>
                </a:extLst>
              </a:tr>
              <a:tr h="548640">
                <a:tc>
                  <a:txBody>
                    <a:bodyPr/>
                    <a:lstStyle/>
                    <a:p>
                      <a:r>
                        <a:rPr sz="1100" b="1">
                          <a:solidFill>
                            <a:srgbClr val="0F172A"/>
                          </a:solidFill>
                          <a:latin typeface="Arial"/>
                        </a:rPr>
                        <a:t>B1  cross-topic  ↓</a:t>
                      </a:r>
                    </a:p>
                  </a:txBody>
                  <a:tcPr marL="64008" marR="64008" marT="27432" marB="27432" anchor="ctr">
                    <a:solidFill>
                      <a:srgbClr val="FFFFFF"/>
                    </a:solidFill>
                  </a:tcPr>
                </a:tc>
                <a:tc>
                  <a:txBody>
                    <a:bodyPr/>
                    <a:lstStyle/>
                    <a:p>
                      <a:r>
                        <a:rPr sz="1100" b="0">
                          <a:solidFill>
                            <a:srgbClr val="0F172A"/>
                          </a:solidFill>
                          <a:latin typeface="Arial"/>
                        </a:rPr>
                        <a:t>+Level (1–3) for each pair of similar topics in the same slot</a:t>
                      </a:r>
                    </a:p>
                  </a:txBody>
                  <a:tcPr marL="64008" marR="64008" marT="27432" marB="27432" anchor="ctr">
                    <a:solidFill>
                      <a:srgbClr val="FFFFFF"/>
                    </a:solidFill>
                  </a:tcPr>
                </a:tc>
                <a:tc>
                  <a:txBody>
                    <a:bodyPr/>
                    <a:lstStyle/>
                    <a:p>
                      <a:r>
                        <a:rPr sz="1100" b="0">
                          <a:solidFill>
                            <a:srgbClr val="0F172A"/>
                          </a:solidFill>
                          <a:latin typeface="Arial"/>
                        </a:rPr>
                        <a:t>N_B = slots × ΣLevel + 3 × (talks − topics)</a:t>
                      </a:r>
                    </a:p>
                  </a:txBody>
                  <a:tcPr marL="64008" marR="64008" marT="27432" marB="27432" anchor="ctr">
                    <a:solidFill>
                      <a:srgbClr val="FFFFFF"/>
                    </a:solidFill>
                  </a:tcPr>
                </a:tc>
                <a:tc>
                  <a:txBody>
                    <a:bodyPr/>
                    <a:lstStyle/>
                    <a:p>
                      <a:r>
                        <a:rPr sz="1100" b="0">
                          <a:solidFill>
                            <a:srgbClr val="0F172A"/>
                          </a:solidFill>
                          <a:latin typeface="Arial"/>
                        </a:rPr>
                        <a:t>139 / 651</a:t>
                      </a:r>
                    </a:p>
                  </a:txBody>
                  <a:tcPr marL="64008" marR="64008" marT="27432" marB="27432" anchor="ctr">
                    <a:solidFill>
                      <a:srgbClr val="FFFFFF"/>
                    </a:solidFill>
                  </a:tcPr>
                </a:tc>
                <a:extLst>
                  <a:ext uri="{0D108BD9-81ED-4DB2-BD59-A6C34878D82A}">
                    <a16:rowId xmlns:a16="http://schemas.microsoft.com/office/drawing/2014/main" val="10002"/>
                  </a:ext>
                </a:extLst>
              </a:tr>
              <a:tr h="548640">
                <a:tc>
                  <a:txBody>
                    <a:bodyPr/>
                    <a:lstStyle/>
                    <a:p>
                      <a:r>
                        <a:rPr sz="1100" b="1">
                          <a:solidFill>
                            <a:srgbClr val="0F172A"/>
                          </a:solidFill>
                          <a:latin typeface="Arial"/>
                        </a:rPr>
                        <a:t>B2  same topic  ↓</a:t>
                      </a:r>
                    </a:p>
                  </a:txBody>
                  <a:tcPr marL="64008" marR="64008" marT="27432" marB="27432" anchor="ctr">
                    <a:solidFill>
                      <a:srgbClr val="F8FAFC"/>
                    </a:solidFill>
                  </a:tcPr>
                </a:tc>
                <a:tc>
                  <a:txBody>
                    <a:bodyPr/>
                    <a:lstStyle/>
                    <a:p>
                      <a:r>
                        <a:rPr sz="1100" b="0">
                          <a:solidFill>
                            <a:srgbClr val="0F172A"/>
                          </a:solidFill>
                          <a:latin typeface="Arial"/>
                        </a:rPr>
                        <a:t>+3 for each extra talk of the same topic in the same slot</a:t>
                      </a:r>
                    </a:p>
                  </a:txBody>
                  <a:tcPr marL="64008" marR="64008" marT="27432" marB="27432" anchor="ctr">
                    <a:solidFill>
                      <a:srgbClr val="F8FAFC"/>
                    </a:solidFill>
                  </a:tcPr>
                </a:tc>
                <a:tc>
                  <a:txBody>
                    <a:bodyPr/>
                    <a:lstStyle/>
                    <a:p>
                      <a:r>
                        <a:rPr sz="1100" b="0">
                          <a:solidFill>
                            <a:srgbClr val="0F172A"/>
                          </a:solidFill>
                          <a:latin typeface="Arial"/>
                        </a:rPr>
                        <a:t>(included in N_B)</a:t>
                      </a:r>
                    </a:p>
                  </a:txBody>
                  <a:tcPr marL="64008" marR="64008" marT="27432" marB="27432" anchor="ctr">
                    <a:solidFill>
                      <a:srgbClr val="F8FAFC"/>
                    </a:solidFill>
                  </a:tcPr>
                </a:tc>
                <a:tc>
                  <a:txBody>
                    <a:bodyPr/>
                    <a:lstStyle/>
                    <a:p>
                      <a:r>
                        <a:rPr sz="1100" b="0">
                          <a:solidFill>
                            <a:srgbClr val="0F172A"/>
                          </a:solidFill>
                          <a:latin typeface="Arial"/>
                        </a:rPr>
                        <a:t>—</a:t>
                      </a:r>
                    </a:p>
                  </a:txBody>
                  <a:tcPr marL="64008" marR="64008" marT="27432" marB="27432" anchor="ctr">
                    <a:solidFill>
                      <a:srgbClr val="F8FAFC"/>
                    </a:solidFill>
                  </a:tcPr>
                </a:tc>
                <a:extLst>
                  <a:ext uri="{0D108BD9-81ED-4DB2-BD59-A6C34878D82A}">
                    <a16:rowId xmlns:a16="http://schemas.microsoft.com/office/drawing/2014/main" val="10003"/>
                  </a:ext>
                </a:extLst>
              </a:tr>
              <a:tr h="548640">
                <a:tc>
                  <a:txBody>
                    <a:bodyPr/>
                    <a:lstStyle/>
                    <a:p>
                      <a:r>
                        <a:rPr sz="1100" b="1">
                          <a:solidFill>
                            <a:srgbClr val="0F172A"/>
                          </a:solidFill>
                          <a:latin typeface="Arial"/>
                        </a:rPr>
                        <a:t>C  empty seats  ↓</a:t>
                      </a:r>
                    </a:p>
                  </a:txBody>
                  <a:tcPr marL="64008" marR="64008" marT="27432" marB="27432" anchor="ctr">
                    <a:solidFill>
                      <a:srgbClr val="FFFFFF"/>
                    </a:solidFill>
                  </a:tcPr>
                </a:tc>
                <a:tc>
                  <a:txBody>
                    <a:bodyPr/>
                    <a:lstStyle/>
                    <a:p>
                      <a:r>
                        <a:rPr sz="1100" b="0">
                          <a:solidFill>
                            <a:srgbClr val="0F172A"/>
                          </a:solidFill>
                          <a:latin typeface="Arial"/>
                        </a:rPr>
                        <a:t>capacity − expected audience, summed over all talks</a:t>
                      </a:r>
                    </a:p>
                  </a:txBody>
                  <a:tcPr marL="64008" marR="64008" marT="27432" marB="27432" anchor="ctr">
                    <a:solidFill>
                      <a:srgbClr val="FFFFFF"/>
                    </a:solidFill>
                  </a:tcPr>
                </a:tc>
                <a:tc>
                  <a:txBody>
                    <a:bodyPr/>
                    <a:lstStyle/>
                    <a:p>
                      <a:r>
                        <a:rPr sz="1100" b="0">
                          <a:solidFill>
                            <a:srgbClr val="0F172A"/>
                          </a:solidFill>
                          <a:latin typeface="Arial"/>
                        </a:rPr>
                        <a:t>N_C = Σ (largest − smallest usable room)</a:t>
                      </a:r>
                    </a:p>
                  </a:txBody>
                  <a:tcPr marL="64008" marR="64008" marT="27432" marB="27432" anchor="ctr">
                    <a:solidFill>
                      <a:srgbClr val="FFFFFF"/>
                    </a:solidFill>
                  </a:tcPr>
                </a:tc>
                <a:tc>
                  <a:txBody>
                    <a:bodyPr/>
                    <a:lstStyle/>
                    <a:p>
                      <a:r>
                        <a:rPr sz="1100" b="0">
                          <a:solidFill>
                            <a:srgbClr val="0F172A"/>
                          </a:solidFill>
                          <a:latin typeface="Arial"/>
                        </a:rPr>
                        <a:t>4,910 / 2,760</a:t>
                      </a:r>
                    </a:p>
                  </a:txBody>
                  <a:tcPr marL="64008" marR="64008" marT="27432" marB="27432" anchor="ctr">
                    <a:solidFill>
                      <a:srgbClr val="FFFFFF"/>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566928" y="4846320"/>
            <a:ext cx="11055096" cy="365760"/>
          </a:xfrm>
          <a:prstGeom prst="rect">
            <a:avLst/>
          </a:prstGeom>
          <a:noFill/>
        </p:spPr>
        <p:txBody>
          <a:bodyPr wrap="square" lIns="45720" tIns="22860" rIns="45720" bIns="22860">
            <a:spAutoFit/>
          </a:bodyPr>
          <a:lstStyle/>
          <a:p>
            <a:r>
              <a:rPr sz="1200" b="0" i="0">
                <a:solidFill>
                  <a:srgbClr val="0F172A"/>
                </a:solidFill>
                <a:latin typeface="Arial"/>
              </a:rPr>
              <a:t>Why divide by N: the raw sizes differ (empty seats ≈ 1,000, continuity ≈ 20). After ÷N each term is 0–1, so w1 : w2 : w3 means what it says.</a:t>
            </a:r>
          </a:p>
        </p:txBody>
      </p:sp>
      <p:sp>
        <p:nvSpPr>
          <p:cNvPr id="7" name="Rounded Rectangle 6"/>
          <p:cNvSpPr/>
          <p:nvPr/>
        </p:nvSpPr>
        <p:spPr>
          <a:xfrm>
            <a:off x="566928" y="5394960"/>
            <a:ext cx="11055096" cy="731520"/>
          </a:xfrm>
          <a:prstGeom prst="roundRect">
            <a:avLst>
              <a:gd name="adj" fmla="val 8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5394960"/>
            <a:ext cx="11055096" cy="731520"/>
          </a:xfrm>
          <a:prstGeom prst="rect">
            <a:avLst/>
          </a:prstGeom>
          <a:noFill/>
        </p:spPr>
        <p:txBody>
          <a:bodyPr wrap="square" lIns="45720" tIns="22860" rIns="45720" bIns="22860" anchor="ctr">
            <a:spAutoFit/>
          </a:bodyPr>
          <a:lstStyle/>
          <a:p>
            <a:pPr algn="ctr"/>
            <a:r>
              <a:rPr sz="1200" b="1" i="0">
                <a:solidFill>
                  <a:srgbClr val="B45309"/>
                </a:solidFill>
                <a:latin typeface="Arial"/>
              </a:rPr>
              <a:t>Known issue: B1 counts whether two topics meet in a slot, not how many talks meet.</a:t>
            </a:r>
          </a:p>
          <a:p>
            <a:pPr algn="ctr"/>
            <a:r>
              <a:rPr sz="1200" b="1" i="0">
                <a:solidFill>
                  <a:srgbClr val="B45309"/>
                </a:solidFill>
                <a:latin typeface="Arial"/>
              </a:rPr>
              <a:t>With weight only on B, one topic can be packed into one slot (Test 1). A fix is planned.</a:t>
            </a:r>
          </a:p>
        </p:txBody>
      </p:sp>
      <p:sp>
        <p:nvSpPr>
          <p:cNvPr id="9" name="TextBox 8"/>
          <p:cNvSpPr txBox="1"/>
          <p:nvPr/>
        </p:nvSpPr>
        <p:spPr>
          <a:xfrm>
            <a:off x="11164824" y="6492240"/>
            <a:ext cx="457200" cy="219456"/>
          </a:xfrm>
          <a:prstGeom prst="rect">
            <a:avLst/>
          </a:prstGeom>
          <a:noFill/>
          <a:ln/>
        </p:spPr>
        <p:txBody>
          <a:bodyPr wrap="square" lIns="0" tIns="0" rIns="0" bIns="0" rtlCol="0" anchor="ctr"/>
          <a:lstStyle/>
          <a:p>
            <a:pPr marL="0" indent="0" algn="r">
              <a:buNone/>
            </a:pPr>
            <a:fld id="{8B2C3E4A-5D6F-4A1B-9C2D-3E4F5A6B7C8D}" type="slidenum">
              <a:rPr lang="en-US" altLang="ja-JP" sz="1000" dirty="0">
                <a:solidFill>
                  <a:srgbClr val="94A3B8"/>
                </a:solidFill>
                <a:latin typeface="Arial" pitchFamily="34" charset="0"/>
                <a:ea typeface="Arial" pitchFamily="34" charset="-122"/>
                <a:cs typeface="Arial" pitchFamily="34" charset="-120"/>
              </a:rPr>
              <a:t>33</a:t>
            </a:fld>
            <a:endParaRPr lang="en-US" altLang="ja-JP"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5096" cy="237744"/>
          </a:xfrm>
          <a:prstGeom prst="rect">
            <a:avLst/>
          </a:prstGeom>
          <a:noFill/>
        </p:spPr>
        <p:txBody>
          <a:bodyPr wrap="square" lIns="45720" tIns="22860" rIns="45720" bIns="22860">
            <a:spAutoFit/>
          </a:bodyPr>
          <a:lstStyle/>
          <a:p>
            <a:r>
              <a:rPr sz="1200" b="1" i="0">
                <a:solidFill>
                  <a:srgbClr val="0284C7"/>
                </a:solidFill>
                <a:latin typeface="Arial"/>
              </a:rPr>
              <a:t>APPENDIX   A8</a:t>
            </a:r>
          </a:p>
        </p:txBody>
      </p:sp>
      <p:sp>
        <p:nvSpPr>
          <p:cNvPr id="3" name="TextBox 2"/>
          <p:cNvSpPr txBox="1"/>
          <p:nvPr/>
        </p:nvSpPr>
        <p:spPr>
          <a:xfrm>
            <a:off x="566928" y="566928"/>
            <a:ext cx="11055096" cy="566928"/>
          </a:xfrm>
          <a:prstGeom prst="rect">
            <a:avLst/>
          </a:prstGeom>
          <a:noFill/>
        </p:spPr>
        <p:txBody>
          <a:bodyPr wrap="square" lIns="45720" tIns="22860" rIns="45720" bIns="22860">
            <a:spAutoFit/>
          </a:bodyPr>
          <a:lstStyle/>
          <a:p>
            <a:r>
              <a:rPr sz="2600" b="1" i="0">
                <a:solidFill>
                  <a:srgbClr val="0F172A"/>
                </a:solidFill>
                <a:latin typeface="Arial"/>
              </a:rPr>
              <a:t>Test 1: Input Data (Same as the Abstract)</a:t>
            </a:r>
          </a:p>
        </p:txBody>
      </p:sp>
      <p:sp>
        <p:nvSpPr>
          <p:cNvPr id="4" name="Rounded Rectangle 3"/>
          <p:cNvSpPr/>
          <p:nvPr/>
        </p:nvSpPr>
        <p:spPr>
          <a:xfrm>
            <a:off x="566928" y="1280160"/>
            <a:ext cx="2651760" cy="77724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280160"/>
            <a:ext cx="2651760" cy="457200"/>
          </a:xfrm>
          <a:prstGeom prst="rect">
            <a:avLst/>
          </a:prstGeom>
          <a:noFill/>
        </p:spPr>
        <p:txBody>
          <a:bodyPr wrap="square" lIns="45720" tIns="22860" rIns="45720" bIns="22860" anchor="ctr">
            <a:spAutoFit/>
          </a:bodyPr>
          <a:lstStyle/>
          <a:p>
            <a:pPr algn="ctr"/>
            <a:r>
              <a:rPr sz="2600" b="1" i="0">
                <a:solidFill>
                  <a:srgbClr val="0284C7"/>
                </a:solidFill>
                <a:latin typeface="Arial"/>
              </a:rPr>
              <a:t>40</a:t>
            </a:r>
          </a:p>
        </p:txBody>
      </p:sp>
      <p:sp>
        <p:nvSpPr>
          <p:cNvPr id="6" name="TextBox 5"/>
          <p:cNvSpPr txBox="1"/>
          <p:nvPr/>
        </p:nvSpPr>
        <p:spPr>
          <a:xfrm>
            <a:off x="566928" y="1691640"/>
            <a:ext cx="2651760" cy="320040"/>
          </a:xfrm>
          <a:prstGeom prst="rect">
            <a:avLst/>
          </a:prstGeom>
          <a:noFill/>
        </p:spPr>
        <p:txBody>
          <a:bodyPr wrap="square" lIns="45720" tIns="22860" rIns="45720" bIns="22860">
            <a:spAutoFit/>
          </a:bodyPr>
          <a:lstStyle/>
          <a:p>
            <a:pPr algn="ctr"/>
            <a:r>
              <a:rPr sz="1100" b="1" i="0">
                <a:solidFill>
                  <a:srgbClr val="64748B"/>
                </a:solidFill>
                <a:latin typeface="Arial"/>
              </a:rPr>
              <a:t>talks</a:t>
            </a:r>
          </a:p>
        </p:txBody>
      </p:sp>
      <p:sp>
        <p:nvSpPr>
          <p:cNvPr id="7" name="Rounded Rectangle 6"/>
          <p:cNvSpPr/>
          <p:nvPr/>
        </p:nvSpPr>
        <p:spPr>
          <a:xfrm>
            <a:off x="3355848" y="1280160"/>
            <a:ext cx="2651760" cy="77724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55848" y="1280160"/>
            <a:ext cx="2651760" cy="457200"/>
          </a:xfrm>
          <a:prstGeom prst="rect">
            <a:avLst/>
          </a:prstGeom>
          <a:noFill/>
        </p:spPr>
        <p:txBody>
          <a:bodyPr wrap="square" lIns="45720" tIns="22860" rIns="45720" bIns="22860" anchor="ctr">
            <a:spAutoFit/>
          </a:bodyPr>
          <a:lstStyle/>
          <a:p>
            <a:pPr algn="ctr"/>
            <a:r>
              <a:rPr sz="2600" b="1" i="0">
                <a:solidFill>
                  <a:srgbClr val="0284C7"/>
                </a:solidFill>
                <a:latin typeface="Arial"/>
              </a:rPr>
              <a:t>10</a:t>
            </a:r>
          </a:p>
        </p:txBody>
      </p:sp>
      <p:sp>
        <p:nvSpPr>
          <p:cNvPr id="9" name="TextBox 8"/>
          <p:cNvSpPr txBox="1"/>
          <p:nvPr/>
        </p:nvSpPr>
        <p:spPr>
          <a:xfrm>
            <a:off x="3355848" y="1691640"/>
            <a:ext cx="2651760" cy="320040"/>
          </a:xfrm>
          <a:prstGeom prst="rect">
            <a:avLst/>
          </a:prstGeom>
          <a:noFill/>
        </p:spPr>
        <p:txBody>
          <a:bodyPr wrap="square" lIns="45720" tIns="22860" rIns="45720" bIns="22860">
            <a:spAutoFit/>
          </a:bodyPr>
          <a:lstStyle/>
          <a:p>
            <a:pPr algn="ctr"/>
            <a:r>
              <a:rPr sz="1100" b="1" i="0">
                <a:solidFill>
                  <a:srgbClr val="64748B"/>
                </a:solidFill>
                <a:latin typeface="Arial"/>
              </a:rPr>
              <a:t>rooms</a:t>
            </a:r>
          </a:p>
        </p:txBody>
      </p:sp>
      <p:sp>
        <p:nvSpPr>
          <p:cNvPr id="10" name="Rounded Rectangle 9"/>
          <p:cNvSpPr/>
          <p:nvPr/>
        </p:nvSpPr>
        <p:spPr>
          <a:xfrm>
            <a:off x="6144768" y="1280160"/>
            <a:ext cx="2651760" cy="77724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144768" y="1280160"/>
            <a:ext cx="2651760" cy="457200"/>
          </a:xfrm>
          <a:prstGeom prst="rect">
            <a:avLst/>
          </a:prstGeom>
          <a:noFill/>
        </p:spPr>
        <p:txBody>
          <a:bodyPr wrap="square" lIns="45720" tIns="22860" rIns="45720" bIns="22860" anchor="ctr">
            <a:spAutoFit/>
          </a:bodyPr>
          <a:lstStyle/>
          <a:p>
            <a:pPr algn="ctr"/>
            <a:r>
              <a:rPr sz="2600" b="1" i="0">
                <a:solidFill>
                  <a:srgbClr val="0284C7"/>
                </a:solidFill>
                <a:latin typeface="Arial"/>
              </a:rPr>
              <a:t>5</a:t>
            </a:r>
          </a:p>
        </p:txBody>
      </p:sp>
      <p:sp>
        <p:nvSpPr>
          <p:cNvPr id="12" name="TextBox 11"/>
          <p:cNvSpPr txBox="1"/>
          <p:nvPr/>
        </p:nvSpPr>
        <p:spPr>
          <a:xfrm>
            <a:off x="6144768" y="1691640"/>
            <a:ext cx="2651760" cy="320040"/>
          </a:xfrm>
          <a:prstGeom prst="rect">
            <a:avLst/>
          </a:prstGeom>
          <a:noFill/>
        </p:spPr>
        <p:txBody>
          <a:bodyPr wrap="square" lIns="45720" tIns="22860" rIns="45720" bIns="22860">
            <a:spAutoFit/>
          </a:bodyPr>
          <a:lstStyle/>
          <a:p>
            <a:pPr algn="ctr"/>
            <a:r>
              <a:rPr sz="1100" b="1" i="0">
                <a:solidFill>
                  <a:srgbClr val="64748B"/>
                </a:solidFill>
                <a:latin typeface="Arial"/>
              </a:rPr>
              <a:t>slots (Day 1: 3, Day 2: 2)</a:t>
            </a:r>
          </a:p>
        </p:txBody>
      </p:sp>
      <p:sp>
        <p:nvSpPr>
          <p:cNvPr id="13" name="Rounded Rectangle 12"/>
          <p:cNvSpPr/>
          <p:nvPr/>
        </p:nvSpPr>
        <p:spPr>
          <a:xfrm>
            <a:off x="8933688" y="1280160"/>
            <a:ext cx="2651760" cy="77724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933688" y="1280160"/>
            <a:ext cx="2651760" cy="457200"/>
          </a:xfrm>
          <a:prstGeom prst="rect">
            <a:avLst/>
          </a:prstGeom>
          <a:noFill/>
        </p:spPr>
        <p:txBody>
          <a:bodyPr wrap="square" lIns="45720" tIns="22860" rIns="45720" bIns="22860" anchor="ctr">
            <a:spAutoFit/>
          </a:bodyPr>
          <a:lstStyle/>
          <a:p>
            <a:pPr algn="ctr"/>
            <a:r>
              <a:rPr sz="2600" b="1" i="0">
                <a:solidFill>
                  <a:srgbClr val="0284C7"/>
                </a:solidFill>
                <a:latin typeface="Arial"/>
              </a:rPr>
              <a:t>7</a:t>
            </a:r>
          </a:p>
        </p:txBody>
      </p:sp>
      <p:sp>
        <p:nvSpPr>
          <p:cNvPr id="15" name="TextBox 14"/>
          <p:cNvSpPr txBox="1"/>
          <p:nvPr/>
        </p:nvSpPr>
        <p:spPr>
          <a:xfrm>
            <a:off x="8933688" y="1691640"/>
            <a:ext cx="2651760" cy="320040"/>
          </a:xfrm>
          <a:prstGeom prst="rect">
            <a:avLst/>
          </a:prstGeom>
          <a:noFill/>
        </p:spPr>
        <p:txBody>
          <a:bodyPr wrap="square" lIns="45720" tIns="22860" rIns="45720" bIns="22860">
            <a:spAutoFit/>
          </a:bodyPr>
          <a:lstStyle/>
          <a:p>
            <a:pPr algn="ctr"/>
            <a:r>
              <a:rPr sz="1100" b="1" i="0">
                <a:solidFill>
                  <a:srgbClr val="64748B"/>
                </a:solidFill>
                <a:latin typeface="Arial"/>
              </a:rPr>
              <a:t>topics</a:t>
            </a:r>
          </a:p>
        </p:txBody>
      </p:sp>
      <p:graphicFrame>
        <p:nvGraphicFramePr>
          <p:cNvPr id="16" name="Table 15"/>
          <p:cNvGraphicFramePr>
            <a:graphicFrameLocks noGrp="1"/>
          </p:cNvGraphicFramePr>
          <p:nvPr/>
        </p:nvGraphicFramePr>
        <p:xfrm>
          <a:off x="566928" y="2240280"/>
          <a:ext cx="5394958" cy="3145536"/>
        </p:xfrm>
        <a:graphic>
          <a:graphicData uri="http://schemas.openxmlformats.org/drawingml/2006/table">
            <a:tbl>
              <a:tblPr>
                <a:tableStyleId>{2D5ABB26-0587-4C30-8999-92F81FD0307C}</a:tableStyleId>
              </a:tblPr>
              <a:tblGrid>
                <a:gridCol w="2295727">
                  <a:extLst>
                    <a:ext uri="{9D8B030D-6E8A-4147-A177-3AD203B41FA5}">
                      <a16:colId xmlns:a16="http://schemas.microsoft.com/office/drawing/2014/main" val="20000"/>
                    </a:ext>
                  </a:extLst>
                </a:gridCol>
                <a:gridCol w="1721795">
                  <a:extLst>
                    <a:ext uri="{9D8B030D-6E8A-4147-A177-3AD203B41FA5}">
                      <a16:colId xmlns:a16="http://schemas.microsoft.com/office/drawing/2014/main" val="20001"/>
                    </a:ext>
                  </a:extLst>
                </a:gridCol>
                <a:gridCol w="1377436">
                  <a:extLst>
                    <a:ext uri="{9D8B030D-6E8A-4147-A177-3AD203B41FA5}">
                      <a16:colId xmlns:a16="http://schemas.microsoft.com/office/drawing/2014/main" val="20002"/>
                    </a:ext>
                  </a:extLst>
                </a:gridCol>
              </a:tblGrid>
              <a:tr h="393192">
                <a:tc>
                  <a:txBody>
                    <a:bodyPr/>
                    <a:lstStyle/>
                    <a:p>
                      <a:r>
                        <a:rPr sz="1100" b="1">
                          <a:solidFill>
                            <a:srgbClr val="FFFFFF"/>
                          </a:solidFill>
                          <a:latin typeface="Arial"/>
                        </a:rPr>
                        <a:t>Room</a:t>
                      </a:r>
                    </a:p>
                  </a:txBody>
                  <a:tcPr marL="64008" marR="64008" marT="27432" marB="27432" anchor="ctr">
                    <a:solidFill>
                      <a:srgbClr val="0F172A"/>
                    </a:solidFill>
                  </a:tcPr>
                </a:tc>
                <a:tc>
                  <a:txBody>
                    <a:bodyPr/>
                    <a:lstStyle/>
                    <a:p>
                      <a:r>
                        <a:rPr sz="1100" b="1">
                          <a:solidFill>
                            <a:srgbClr val="FFFFFF"/>
                          </a:solidFill>
                          <a:latin typeface="Arial"/>
                        </a:rPr>
                        <a:t>Capacity</a:t>
                      </a:r>
                    </a:p>
                  </a:txBody>
                  <a:tcPr marL="64008" marR="64008" marT="27432" marB="27432" anchor="ctr">
                    <a:solidFill>
                      <a:srgbClr val="0F172A"/>
                    </a:solidFill>
                  </a:tcPr>
                </a:tc>
                <a:tc>
                  <a:txBody>
                    <a:bodyPr/>
                    <a:lstStyle/>
                    <a:p>
                      <a:r>
                        <a:rPr sz="1100" b="1">
                          <a:solidFill>
                            <a:srgbClr val="FFFFFF"/>
                          </a:solidFill>
                          <a:latin typeface="Arial"/>
                        </a:rPr>
                        <a:t>Screen</a:t>
                      </a:r>
                    </a:p>
                  </a:txBody>
                  <a:tcPr marL="64008" marR="64008" marT="27432" marB="27432" anchor="ctr">
                    <a:solidFill>
                      <a:srgbClr val="0F172A"/>
                    </a:solidFill>
                  </a:tcPr>
                </a:tc>
                <a:extLst>
                  <a:ext uri="{0D108BD9-81ED-4DB2-BD59-A6C34878D82A}">
                    <a16:rowId xmlns:a16="http://schemas.microsoft.com/office/drawing/2014/main" val="10000"/>
                  </a:ext>
                </a:extLst>
              </a:tr>
              <a:tr h="393192">
                <a:tc>
                  <a:txBody>
                    <a:bodyPr/>
                    <a:lstStyle/>
                    <a:p>
                      <a:r>
                        <a:rPr sz="1100" b="1">
                          <a:solidFill>
                            <a:srgbClr val="0F172A"/>
                          </a:solidFill>
                          <a:latin typeface="Arial"/>
                        </a:rPr>
                        <a:t>R01</a:t>
                      </a:r>
                    </a:p>
                  </a:txBody>
                  <a:tcPr marL="64008" marR="64008" marT="27432" marB="27432" anchor="ctr">
                    <a:solidFill>
                      <a:srgbClr val="F8FAFC"/>
                    </a:solidFill>
                  </a:tcPr>
                </a:tc>
                <a:tc>
                  <a:txBody>
                    <a:bodyPr/>
                    <a:lstStyle/>
                    <a:p>
                      <a:r>
                        <a:rPr sz="1100" b="0">
                          <a:solidFill>
                            <a:srgbClr val="0F172A"/>
                          </a:solidFill>
                          <a:latin typeface="Arial"/>
                        </a:rPr>
                        <a:t>200</a:t>
                      </a:r>
                    </a:p>
                  </a:txBody>
                  <a:tcPr marL="64008" marR="64008" marT="27432" marB="27432" anchor="ctr">
                    <a:solidFill>
                      <a:srgbClr val="F8FAFC"/>
                    </a:solidFill>
                  </a:tcPr>
                </a:tc>
                <a:tc>
                  <a:txBody>
                    <a:bodyPr/>
                    <a:lstStyle/>
                    <a:p>
                      <a:r>
                        <a:rPr sz="1100" b="0">
                          <a:solidFill>
                            <a:srgbClr val="0F172A"/>
                          </a:solidFill>
                          <a:latin typeface="Arial"/>
                        </a:rPr>
                        <a:t>yes</a:t>
                      </a:r>
                    </a:p>
                  </a:txBody>
                  <a:tcPr marL="64008" marR="64008" marT="27432" marB="27432" anchor="ctr">
                    <a:solidFill>
                      <a:srgbClr val="F8FAFC"/>
                    </a:solidFill>
                  </a:tcPr>
                </a:tc>
                <a:extLst>
                  <a:ext uri="{0D108BD9-81ED-4DB2-BD59-A6C34878D82A}">
                    <a16:rowId xmlns:a16="http://schemas.microsoft.com/office/drawing/2014/main" val="10001"/>
                  </a:ext>
                </a:extLst>
              </a:tr>
              <a:tr h="393192">
                <a:tc>
                  <a:txBody>
                    <a:bodyPr/>
                    <a:lstStyle/>
                    <a:p>
                      <a:r>
                        <a:rPr sz="1100" b="1">
                          <a:solidFill>
                            <a:srgbClr val="0F172A"/>
                          </a:solidFill>
                          <a:latin typeface="Arial"/>
                        </a:rPr>
                        <a:t>R02, R03</a:t>
                      </a:r>
                    </a:p>
                  </a:txBody>
                  <a:tcPr marL="64008" marR="64008" marT="27432" marB="27432" anchor="ctr">
                    <a:solidFill>
                      <a:srgbClr val="FFFFFF"/>
                    </a:solidFill>
                  </a:tcPr>
                </a:tc>
                <a:tc>
                  <a:txBody>
                    <a:bodyPr/>
                    <a:lstStyle/>
                    <a:p>
                      <a:r>
                        <a:rPr sz="1100" b="0">
                          <a:solidFill>
                            <a:srgbClr val="0F172A"/>
                          </a:solidFill>
                          <a:latin typeface="Arial"/>
                        </a:rPr>
                        <a:t>150</a:t>
                      </a:r>
                    </a:p>
                  </a:txBody>
                  <a:tcPr marL="64008" marR="64008" marT="27432" marB="27432" anchor="ctr">
                    <a:solidFill>
                      <a:srgbClr val="FFFFFF"/>
                    </a:solidFill>
                  </a:tcPr>
                </a:tc>
                <a:tc>
                  <a:txBody>
                    <a:bodyPr/>
                    <a:lstStyle/>
                    <a:p>
                      <a:r>
                        <a:rPr sz="1100" b="0">
                          <a:solidFill>
                            <a:srgbClr val="0F172A"/>
                          </a:solidFill>
                          <a:latin typeface="Arial"/>
                        </a:rPr>
                        <a:t>yes</a:t>
                      </a:r>
                    </a:p>
                  </a:txBody>
                  <a:tcPr marL="64008" marR="64008" marT="27432" marB="27432" anchor="ctr">
                    <a:solidFill>
                      <a:srgbClr val="FFFFFF"/>
                    </a:solidFill>
                  </a:tcPr>
                </a:tc>
                <a:extLst>
                  <a:ext uri="{0D108BD9-81ED-4DB2-BD59-A6C34878D82A}">
                    <a16:rowId xmlns:a16="http://schemas.microsoft.com/office/drawing/2014/main" val="10002"/>
                  </a:ext>
                </a:extLst>
              </a:tr>
              <a:tr h="393192">
                <a:tc>
                  <a:txBody>
                    <a:bodyPr/>
                    <a:lstStyle/>
                    <a:p>
                      <a:r>
                        <a:rPr sz="1100" b="1">
                          <a:solidFill>
                            <a:srgbClr val="0F172A"/>
                          </a:solidFill>
                          <a:latin typeface="Arial"/>
                        </a:rPr>
                        <a:t>R04</a:t>
                      </a:r>
                    </a:p>
                  </a:txBody>
                  <a:tcPr marL="64008" marR="64008" marT="27432" marB="27432" anchor="ctr">
                    <a:solidFill>
                      <a:srgbClr val="F8FAFC"/>
                    </a:solidFill>
                  </a:tcPr>
                </a:tc>
                <a:tc>
                  <a:txBody>
                    <a:bodyPr/>
                    <a:lstStyle/>
                    <a:p>
                      <a:r>
                        <a:rPr sz="1100" b="0">
                          <a:solidFill>
                            <a:srgbClr val="0F172A"/>
                          </a:solidFill>
                          <a:latin typeface="Arial"/>
                        </a:rPr>
                        <a:t>100</a:t>
                      </a:r>
                    </a:p>
                  </a:txBody>
                  <a:tcPr marL="64008" marR="64008" marT="27432" marB="27432" anchor="ctr">
                    <a:solidFill>
                      <a:srgbClr val="F8FAFC"/>
                    </a:solidFill>
                  </a:tcPr>
                </a:tc>
                <a:tc>
                  <a:txBody>
                    <a:bodyPr/>
                    <a:lstStyle/>
                    <a:p>
                      <a:r>
                        <a:rPr sz="1100" b="0">
                          <a:solidFill>
                            <a:srgbClr val="0F172A"/>
                          </a:solidFill>
                          <a:latin typeface="Arial"/>
                        </a:rPr>
                        <a:t>yes</a:t>
                      </a:r>
                    </a:p>
                  </a:txBody>
                  <a:tcPr marL="64008" marR="64008" marT="27432" marB="27432" anchor="ctr">
                    <a:solidFill>
                      <a:srgbClr val="F8FAFC"/>
                    </a:solidFill>
                  </a:tcPr>
                </a:tc>
                <a:extLst>
                  <a:ext uri="{0D108BD9-81ED-4DB2-BD59-A6C34878D82A}">
                    <a16:rowId xmlns:a16="http://schemas.microsoft.com/office/drawing/2014/main" val="10003"/>
                  </a:ext>
                </a:extLst>
              </a:tr>
              <a:tr h="393192">
                <a:tc>
                  <a:txBody>
                    <a:bodyPr/>
                    <a:lstStyle/>
                    <a:p>
                      <a:r>
                        <a:rPr sz="1100" b="1">
                          <a:solidFill>
                            <a:srgbClr val="0F172A"/>
                          </a:solidFill>
                          <a:latin typeface="Arial"/>
                        </a:rPr>
                        <a:t>R05, R06</a:t>
                      </a:r>
                    </a:p>
                  </a:txBody>
                  <a:tcPr marL="64008" marR="64008" marT="27432" marB="27432" anchor="ctr">
                    <a:solidFill>
                      <a:srgbClr val="FFFFFF"/>
                    </a:solidFill>
                  </a:tcPr>
                </a:tc>
                <a:tc>
                  <a:txBody>
                    <a:bodyPr/>
                    <a:lstStyle/>
                    <a:p>
                      <a:r>
                        <a:rPr sz="1100" b="0">
                          <a:solidFill>
                            <a:srgbClr val="0F172A"/>
                          </a:solidFill>
                          <a:latin typeface="Arial"/>
                        </a:rPr>
                        <a:t>80</a:t>
                      </a:r>
                    </a:p>
                  </a:txBody>
                  <a:tcPr marL="64008" marR="64008" marT="27432" marB="27432" anchor="ctr">
                    <a:solidFill>
                      <a:srgbClr val="FFFFFF"/>
                    </a:solidFill>
                  </a:tcPr>
                </a:tc>
                <a:tc>
                  <a:txBody>
                    <a:bodyPr/>
                    <a:lstStyle/>
                    <a:p>
                      <a:r>
                        <a:rPr sz="1100" b="0">
                          <a:solidFill>
                            <a:srgbClr val="0F172A"/>
                          </a:solidFill>
                          <a:latin typeface="Arial"/>
                        </a:rPr>
                        <a:t>yes</a:t>
                      </a:r>
                    </a:p>
                  </a:txBody>
                  <a:tcPr marL="64008" marR="64008" marT="27432" marB="27432" anchor="ctr">
                    <a:solidFill>
                      <a:srgbClr val="FFFFFF"/>
                    </a:solidFill>
                  </a:tcPr>
                </a:tc>
                <a:extLst>
                  <a:ext uri="{0D108BD9-81ED-4DB2-BD59-A6C34878D82A}">
                    <a16:rowId xmlns:a16="http://schemas.microsoft.com/office/drawing/2014/main" val="10004"/>
                  </a:ext>
                </a:extLst>
              </a:tr>
              <a:tr h="393192">
                <a:tc>
                  <a:txBody>
                    <a:bodyPr/>
                    <a:lstStyle/>
                    <a:p>
                      <a:r>
                        <a:rPr sz="1100" b="1">
                          <a:solidFill>
                            <a:srgbClr val="0F172A"/>
                          </a:solidFill>
                          <a:latin typeface="Arial"/>
                        </a:rPr>
                        <a:t>R07</a:t>
                      </a:r>
                    </a:p>
                  </a:txBody>
                  <a:tcPr marL="64008" marR="64008" marT="27432" marB="27432" anchor="ctr">
                    <a:solidFill>
                      <a:srgbClr val="F8FAFC"/>
                    </a:solidFill>
                  </a:tcPr>
                </a:tc>
                <a:tc>
                  <a:txBody>
                    <a:bodyPr/>
                    <a:lstStyle/>
                    <a:p>
                      <a:r>
                        <a:rPr sz="1100" b="0">
                          <a:solidFill>
                            <a:srgbClr val="0F172A"/>
                          </a:solidFill>
                          <a:latin typeface="Arial"/>
                        </a:rPr>
                        <a:t>40</a:t>
                      </a:r>
                    </a:p>
                  </a:txBody>
                  <a:tcPr marL="64008" marR="64008" marT="27432" marB="27432" anchor="ctr">
                    <a:solidFill>
                      <a:srgbClr val="F8FAFC"/>
                    </a:solidFill>
                  </a:tcPr>
                </a:tc>
                <a:tc>
                  <a:txBody>
                    <a:bodyPr/>
                    <a:lstStyle/>
                    <a:p>
                      <a:r>
                        <a:rPr sz="1100" b="0">
                          <a:solidFill>
                            <a:srgbClr val="0F172A"/>
                          </a:solidFill>
                          <a:latin typeface="Arial"/>
                        </a:rPr>
                        <a:t>yes</a:t>
                      </a:r>
                    </a:p>
                  </a:txBody>
                  <a:tcPr marL="64008" marR="64008" marT="27432" marB="27432" anchor="ctr">
                    <a:solidFill>
                      <a:srgbClr val="F8FAFC"/>
                    </a:solidFill>
                  </a:tcPr>
                </a:tc>
                <a:extLst>
                  <a:ext uri="{0D108BD9-81ED-4DB2-BD59-A6C34878D82A}">
                    <a16:rowId xmlns:a16="http://schemas.microsoft.com/office/drawing/2014/main" val="10005"/>
                  </a:ext>
                </a:extLst>
              </a:tr>
              <a:tr h="393192">
                <a:tc>
                  <a:txBody>
                    <a:bodyPr/>
                    <a:lstStyle/>
                    <a:p>
                      <a:r>
                        <a:rPr sz="1100" b="1">
                          <a:solidFill>
                            <a:srgbClr val="0F172A"/>
                          </a:solidFill>
                          <a:latin typeface="Arial"/>
                        </a:rPr>
                        <a:t>R08</a:t>
                      </a:r>
                    </a:p>
                  </a:txBody>
                  <a:tcPr marL="64008" marR="64008" marT="27432" marB="27432" anchor="ctr">
                    <a:solidFill>
                      <a:srgbClr val="FFFFFF"/>
                    </a:solidFill>
                  </a:tcPr>
                </a:tc>
                <a:tc>
                  <a:txBody>
                    <a:bodyPr/>
                    <a:lstStyle/>
                    <a:p>
                      <a:r>
                        <a:rPr sz="1100" b="0">
                          <a:solidFill>
                            <a:srgbClr val="0F172A"/>
                          </a:solidFill>
                          <a:latin typeface="Arial"/>
                        </a:rPr>
                        <a:t>40</a:t>
                      </a:r>
                    </a:p>
                  </a:txBody>
                  <a:tcPr marL="64008" marR="64008" marT="27432" marB="27432" anchor="ctr">
                    <a:solidFill>
                      <a:srgbClr val="FFFFFF"/>
                    </a:solidFill>
                  </a:tcPr>
                </a:tc>
                <a:tc>
                  <a:txBody>
                    <a:bodyPr/>
                    <a:lstStyle/>
                    <a:p>
                      <a:r>
                        <a:rPr sz="1100" b="0">
                          <a:solidFill>
                            <a:srgbClr val="0F172A"/>
                          </a:solidFill>
                          <a:latin typeface="Arial"/>
                        </a:rPr>
                        <a:t>no</a:t>
                      </a:r>
                    </a:p>
                  </a:txBody>
                  <a:tcPr marL="64008" marR="64008" marT="27432" marB="27432" anchor="ctr">
                    <a:solidFill>
                      <a:srgbClr val="FFFFFF"/>
                    </a:solidFill>
                  </a:tcPr>
                </a:tc>
                <a:extLst>
                  <a:ext uri="{0D108BD9-81ED-4DB2-BD59-A6C34878D82A}">
                    <a16:rowId xmlns:a16="http://schemas.microsoft.com/office/drawing/2014/main" val="10006"/>
                  </a:ext>
                </a:extLst>
              </a:tr>
              <a:tr h="393192">
                <a:tc>
                  <a:txBody>
                    <a:bodyPr/>
                    <a:lstStyle/>
                    <a:p>
                      <a:r>
                        <a:rPr sz="1100" b="1">
                          <a:solidFill>
                            <a:srgbClr val="0F172A"/>
                          </a:solidFill>
                          <a:latin typeface="Arial"/>
                        </a:rPr>
                        <a:t>R09, R10</a:t>
                      </a:r>
                    </a:p>
                  </a:txBody>
                  <a:tcPr marL="64008" marR="64008" marT="27432" marB="27432" anchor="ctr">
                    <a:solidFill>
                      <a:srgbClr val="F8FAFC"/>
                    </a:solidFill>
                  </a:tcPr>
                </a:tc>
                <a:tc>
                  <a:txBody>
                    <a:bodyPr/>
                    <a:lstStyle/>
                    <a:p>
                      <a:r>
                        <a:rPr sz="1100" b="0">
                          <a:solidFill>
                            <a:srgbClr val="0F172A"/>
                          </a:solidFill>
                          <a:latin typeface="Arial"/>
                        </a:rPr>
                        <a:t>30</a:t>
                      </a:r>
                    </a:p>
                  </a:txBody>
                  <a:tcPr marL="64008" marR="64008" marT="27432" marB="27432" anchor="ctr">
                    <a:solidFill>
                      <a:srgbClr val="F8FAFC"/>
                    </a:solidFill>
                  </a:tcPr>
                </a:tc>
                <a:tc>
                  <a:txBody>
                    <a:bodyPr/>
                    <a:lstStyle/>
                    <a:p>
                      <a:r>
                        <a:rPr sz="1100" b="0">
                          <a:solidFill>
                            <a:srgbClr val="0F172A"/>
                          </a:solidFill>
                          <a:latin typeface="Arial"/>
                        </a:rPr>
                        <a:t>no</a:t>
                      </a:r>
                    </a:p>
                  </a:txBody>
                  <a:tcPr marL="64008" marR="64008" marT="27432" marB="27432" anchor="ctr">
                    <a:solidFill>
                      <a:srgbClr val="F8FAFC"/>
                    </a:solidFill>
                  </a:tcPr>
                </a:tc>
                <a:extLst>
                  <a:ext uri="{0D108BD9-81ED-4DB2-BD59-A6C34878D82A}">
                    <a16:rowId xmlns:a16="http://schemas.microsoft.com/office/drawing/2014/main" val="10007"/>
                  </a:ext>
                </a:extLst>
              </a:tr>
            </a:tbl>
          </a:graphicData>
        </a:graphic>
      </p:graphicFrame>
      <p:graphicFrame>
        <p:nvGraphicFramePr>
          <p:cNvPr id="17" name="Table 16"/>
          <p:cNvGraphicFramePr>
            <a:graphicFrameLocks noGrp="1"/>
          </p:cNvGraphicFramePr>
          <p:nvPr/>
        </p:nvGraphicFramePr>
        <p:xfrm>
          <a:off x="6144768" y="2240280"/>
          <a:ext cx="5477256" cy="3145536"/>
        </p:xfrm>
        <a:graphic>
          <a:graphicData uri="http://schemas.openxmlformats.org/drawingml/2006/table">
            <a:tbl>
              <a:tblPr>
                <a:tableStyleId>{2D5ABB26-0587-4C30-8999-92F81FD0307C}</a:tableStyleId>
              </a:tblPr>
              <a:tblGrid>
                <a:gridCol w="4107942">
                  <a:extLst>
                    <a:ext uri="{9D8B030D-6E8A-4147-A177-3AD203B41FA5}">
                      <a16:colId xmlns:a16="http://schemas.microsoft.com/office/drawing/2014/main" val="20000"/>
                    </a:ext>
                  </a:extLst>
                </a:gridCol>
                <a:gridCol w="1369314">
                  <a:extLst>
                    <a:ext uri="{9D8B030D-6E8A-4147-A177-3AD203B41FA5}">
                      <a16:colId xmlns:a16="http://schemas.microsoft.com/office/drawing/2014/main" val="20001"/>
                    </a:ext>
                  </a:extLst>
                </a:gridCol>
              </a:tblGrid>
              <a:tr h="393192">
                <a:tc>
                  <a:txBody>
                    <a:bodyPr/>
                    <a:lstStyle/>
                    <a:p>
                      <a:r>
                        <a:rPr sz="1100" b="1">
                          <a:solidFill>
                            <a:srgbClr val="FFFFFF"/>
                          </a:solidFill>
                          <a:latin typeface="Arial"/>
                        </a:rPr>
                        <a:t>Topic</a:t>
                      </a:r>
                    </a:p>
                  </a:txBody>
                  <a:tcPr marL="64008" marR="64008" marT="27432" marB="27432" anchor="ctr">
                    <a:solidFill>
                      <a:srgbClr val="0F172A"/>
                    </a:solidFill>
                  </a:tcPr>
                </a:tc>
                <a:tc>
                  <a:txBody>
                    <a:bodyPr/>
                    <a:lstStyle/>
                    <a:p>
                      <a:r>
                        <a:rPr sz="1100" b="1">
                          <a:solidFill>
                            <a:srgbClr val="FFFFFF"/>
                          </a:solidFill>
                          <a:latin typeface="Arial"/>
                        </a:rPr>
                        <a:t>Talks</a:t>
                      </a:r>
                    </a:p>
                  </a:txBody>
                  <a:tcPr marL="64008" marR="64008" marT="27432" marB="27432" anchor="ctr">
                    <a:solidFill>
                      <a:srgbClr val="0F172A"/>
                    </a:solidFill>
                  </a:tcPr>
                </a:tc>
                <a:extLst>
                  <a:ext uri="{0D108BD9-81ED-4DB2-BD59-A6C34878D82A}">
                    <a16:rowId xmlns:a16="http://schemas.microsoft.com/office/drawing/2014/main" val="10000"/>
                  </a:ext>
                </a:extLst>
              </a:tr>
              <a:tr h="393192">
                <a:tc>
                  <a:txBody>
                    <a:bodyPr/>
                    <a:lstStyle/>
                    <a:p>
                      <a:r>
                        <a:rPr sz="1100" b="1">
                          <a:solidFill>
                            <a:srgbClr val="0F172A"/>
                          </a:solidFill>
                          <a:latin typeface="Arial"/>
                        </a:rPr>
                        <a:t>Mathematical Physics</a:t>
                      </a:r>
                    </a:p>
                  </a:txBody>
                  <a:tcPr marL="64008" marR="64008" marT="27432" marB="27432" anchor="ctr">
                    <a:solidFill>
                      <a:srgbClr val="F8FAFC"/>
                    </a:solidFill>
                  </a:tcPr>
                </a:tc>
                <a:tc>
                  <a:txBody>
                    <a:bodyPr/>
                    <a:lstStyle/>
                    <a:p>
                      <a:r>
                        <a:rPr sz="1100" b="0">
                          <a:solidFill>
                            <a:srgbClr val="0F172A"/>
                          </a:solidFill>
                          <a:latin typeface="Arial"/>
                        </a:rPr>
                        <a:t>9</a:t>
                      </a:r>
                    </a:p>
                  </a:txBody>
                  <a:tcPr marL="64008" marR="64008" marT="27432" marB="27432" anchor="ctr">
                    <a:solidFill>
                      <a:srgbClr val="F8FAFC"/>
                    </a:solidFill>
                  </a:tcPr>
                </a:tc>
                <a:extLst>
                  <a:ext uri="{0D108BD9-81ED-4DB2-BD59-A6C34878D82A}">
                    <a16:rowId xmlns:a16="http://schemas.microsoft.com/office/drawing/2014/main" val="10001"/>
                  </a:ext>
                </a:extLst>
              </a:tr>
              <a:tr h="393192">
                <a:tc>
                  <a:txBody>
                    <a:bodyPr/>
                    <a:lstStyle/>
                    <a:p>
                      <a:r>
                        <a:rPr sz="1100" b="1">
                          <a:solidFill>
                            <a:srgbClr val="0F172A"/>
                          </a:solidFill>
                          <a:latin typeface="Arial"/>
                        </a:rPr>
                        <a:t>Cosmology</a:t>
                      </a:r>
                    </a:p>
                  </a:txBody>
                  <a:tcPr marL="64008" marR="64008" marT="27432" marB="27432" anchor="ctr">
                    <a:solidFill>
                      <a:srgbClr val="FFFFFF"/>
                    </a:solidFill>
                  </a:tcPr>
                </a:tc>
                <a:tc>
                  <a:txBody>
                    <a:bodyPr/>
                    <a:lstStyle/>
                    <a:p>
                      <a:r>
                        <a:rPr sz="1100" b="0">
                          <a:solidFill>
                            <a:srgbClr val="0F172A"/>
                          </a:solidFill>
                          <a:latin typeface="Arial"/>
                        </a:rPr>
                        <a:t>7</a:t>
                      </a:r>
                    </a:p>
                  </a:txBody>
                  <a:tcPr marL="64008" marR="64008" marT="27432" marB="27432" anchor="ctr">
                    <a:solidFill>
                      <a:srgbClr val="FFFFFF"/>
                    </a:solidFill>
                  </a:tcPr>
                </a:tc>
                <a:extLst>
                  <a:ext uri="{0D108BD9-81ED-4DB2-BD59-A6C34878D82A}">
                    <a16:rowId xmlns:a16="http://schemas.microsoft.com/office/drawing/2014/main" val="10002"/>
                  </a:ext>
                </a:extLst>
              </a:tr>
              <a:tr h="393192">
                <a:tc>
                  <a:txBody>
                    <a:bodyPr/>
                    <a:lstStyle/>
                    <a:p>
                      <a:r>
                        <a:rPr sz="1100" b="1">
                          <a:solidFill>
                            <a:srgbClr val="0F172A"/>
                          </a:solidFill>
                          <a:latin typeface="Arial"/>
                        </a:rPr>
                        <a:t>Quantum Information</a:t>
                      </a:r>
                    </a:p>
                  </a:txBody>
                  <a:tcPr marL="64008" marR="64008" marT="27432" marB="27432" anchor="ctr">
                    <a:solidFill>
                      <a:srgbClr val="F8FAFC"/>
                    </a:solidFill>
                  </a:tcPr>
                </a:tc>
                <a:tc>
                  <a:txBody>
                    <a:bodyPr/>
                    <a:lstStyle/>
                    <a:p>
                      <a:r>
                        <a:rPr sz="1100" b="0">
                          <a:solidFill>
                            <a:srgbClr val="0F172A"/>
                          </a:solidFill>
                          <a:latin typeface="Arial"/>
                        </a:rPr>
                        <a:t>7</a:t>
                      </a:r>
                    </a:p>
                  </a:txBody>
                  <a:tcPr marL="64008" marR="64008" marT="27432" marB="27432" anchor="ctr">
                    <a:solidFill>
                      <a:srgbClr val="F8FAFC"/>
                    </a:solidFill>
                  </a:tcPr>
                </a:tc>
                <a:extLst>
                  <a:ext uri="{0D108BD9-81ED-4DB2-BD59-A6C34878D82A}">
                    <a16:rowId xmlns:a16="http://schemas.microsoft.com/office/drawing/2014/main" val="10003"/>
                  </a:ext>
                </a:extLst>
              </a:tr>
              <a:tr h="393192">
                <a:tc>
                  <a:txBody>
                    <a:bodyPr/>
                    <a:lstStyle/>
                    <a:p>
                      <a:r>
                        <a:rPr sz="1100" b="1">
                          <a:solidFill>
                            <a:srgbClr val="0F172A"/>
                          </a:solidFill>
                          <a:latin typeface="Arial"/>
                        </a:rPr>
                        <a:t>Biophysics</a:t>
                      </a:r>
                    </a:p>
                  </a:txBody>
                  <a:tcPr marL="64008" marR="64008" marT="27432" marB="27432" anchor="ctr">
                    <a:solidFill>
                      <a:srgbClr val="FFFFFF"/>
                    </a:solidFill>
                  </a:tcPr>
                </a:tc>
                <a:tc>
                  <a:txBody>
                    <a:bodyPr/>
                    <a:lstStyle/>
                    <a:p>
                      <a:r>
                        <a:rPr sz="1100" b="0">
                          <a:solidFill>
                            <a:srgbClr val="0F172A"/>
                          </a:solidFill>
                          <a:latin typeface="Arial"/>
                        </a:rPr>
                        <a:t>5</a:t>
                      </a:r>
                    </a:p>
                  </a:txBody>
                  <a:tcPr marL="64008" marR="64008" marT="27432" marB="27432" anchor="ctr">
                    <a:solidFill>
                      <a:srgbClr val="FFFFFF"/>
                    </a:solidFill>
                  </a:tcPr>
                </a:tc>
                <a:extLst>
                  <a:ext uri="{0D108BD9-81ED-4DB2-BD59-A6C34878D82A}">
                    <a16:rowId xmlns:a16="http://schemas.microsoft.com/office/drawing/2014/main" val="10004"/>
                  </a:ext>
                </a:extLst>
              </a:tr>
              <a:tr h="393192">
                <a:tc>
                  <a:txBody>
                    <a:bodyPr/>
                    <a:lstStyle/>
                    <a:p>
                      <a:r>
                        <a:rPr sz="1100" b="1">
                          <a:solidFill>
                            <a:srgbClr val="0F172A"/>
                          </a:solidFill>
                          <a:latin typeface="Arial"/>
                        </a:rPr>
                        <a:t>Particle Physics</a:t>
                      </a:r>
                    </a:p>
                  </a:txBody>
                  <a:tcPr marL="64008" marR="64008" marT="27432" marB="27432" anchor="ctr">
                    <a:solidFill>
                      <a:srgbClr val="F8FAFC"/>
                    </a:solidFill>
                  </a:tcPr>
                </a:tc>
                <a:tc>
                  <a:txBody>
                    <a:bodyPr/>
                    <a:lstStyle/>
                    <a:p>
                      <a:r>
                        <a:rPr sz="1100" b="0">
                          <a:solidFill>
                            <a:srgbClr val="0F172A"/>
                          </a:solidFill>
                          <a:latin typeface="Arial"/>
                        </a:rPr>
                        <a:t>5</a:t>
                      </a:r>
                    </a:p>
                  </a:txBody>
                  <a:tcPr marL="64008" marR="64008" marT="27432" marB="27432" anchor="ctr">
                    <a:solidFill>
                      <a:srgbClr val="F8FAFC"/>
                    </a:solidFill>
                  </a:tcPr>
                </a:tc>
                <a:extLst>
                  <a:ext uri="{0D108BD9-81ED-4DB2-BD59-A6C34878D82A}">
                    <a16:rowId xmlns:a16="http://schemas.microsoft.com/office/drawing/2014/main" val="10005"/>
                  </a:ext>
                </a:extLst>
              </a:tr>
              <a:tr h="393192">
                <a:tc>
                  <a:txBody>
                    <a:bodyPr/>
                    <a:lstStyle/>
                    <a:p>
                      <a:r>
                        <a:rPr sz="1100" b="1">
                          <a:solidFill>
                            <a:srgbClr val="0F172A"/>
                          </a:solidFill>
                          <a:latin typeface="Arial"/>
                        </a:rPr>
                        <a:t>Semiconductors</a:t>
                      </a:r>
                    </a:p>
                  </a:txBody>
                  <a:tcPr marL="64008" marR="64008" marT="27432" marB="27432" anchor="ctr">
                    <a:solidFill>
                      <a:srgbClr val="FFFFFF"/>
                    </a:solidFill>
                  </a:tcPr>
                </a:tc>
                <a:tc>
                  <a:txBody>
                    <a:bodyPr/>
                    <a:lstStyle/>
                    <a:p>
                      <a:r>
                        <a:rPr sz="1100" b="0">
                          <a:solidFill>
                            <a:srgbClr val="0F172A"/>
                          </a:solidFill>
                          <a:latin typeface="Arial"/>
                        </a:rPr>
                        <a:t>4</a:t>
                      </a:r>
                    </a:p>
                  </a:txBody>
                  <a:tcPr marL="64008" marR="64008" marT="27432" marB="27432" anchor="ctr">
                    <a:solidFill>
                      <a:srgbClr val="FFFFFF"/>
                    </a:solidFill>
                  </a:tcPr>
                </a:tc>
                <a:extLst>
                  <a:ext uri="{0D108BD9-81ED-4DB2-BD59-A6C34878D82A}">
                    <a16:rowId xmlns:a16="http://schemas.microsoft.com/office/drawing/2014/main" val="10006"/>
                  </a:ext>
                </a:extLst>
              </a:tr>
              <a:tr h="393192">
                <a:tc>
                  <a:txBody>
                    <a:bodyPr/>
                    <a:lstStyle/>
                    <a:p>
                      <a:r>
                        <a:rPr sz="1100" b="1">
                          <a:solidFill>
                            <a:srgbClr val="0F172A"/>
                          </a:solidFill>
                          <a:latin typeface="Arial"/>
                        </a:rPr>
                        <a:t>Electromagnetism</a:t>
                      </a:r>
                    </a:p>
                  </a:txBody>
                  <a:tcPr marL="64008" marR="64008" marT="27432" marB="27432" anchor="ctr">
                    <a:solidFill>
                      <a:srgbClr val="F8FAFC"/>
                    </a:solidFill>
                  </a:tcPr>
                </a:tc>
                <a:tc>
                  <a:txBody>
                    <a:bodyPr/>
                    <a:lstStyle/>
                    <a:p>
                      <a:r>
                        <a:rPr sz="1100" b="0">
                          <a:solidFill>
                            <a:srgbClr val="0F172A"/>
                          </a:solidFill>
                          <a:latin typeface="Arial"/>
                        </a:rPr>
                        <a:t>3</a:t>
                      </a:r>
                    </a:p>
                  </a:txBody>
                  <a:tcPr marL="64008" marR="64008" marT="27432" marB="27432" anchor="ctr">
                    <a:solidFill>
                      <a:srgbClr val="F8FAFC"/>
                    </a:solidFill>
                  </a:tcPr>
                </a:tc>
                <a:extLst>
                  <a:ext uri="{0D108BD9-81ED-4DB2-BD59-A6C34878D82A}">
                    <a16:rowId xmlns:a16="http://schemas.microsoft.com/office/drawing/2014/main" val="10007"/>
                  </a:ext>
                </a:extLst>
              </a:tr>
            </a:tbl>
          </a:graphicData>
        </a:graphic>
      </p:graphicFrame>
      <p:sp>
        <p:nvSpPr>
          <p:cNvPr id="18" name="TextBox 17"/>
          <p:cNvSpPr txBox="1"/>
          <p:nvPr/>
        </p:nvSpPr>
        <p:spPr>
          <a:xfrm>
            <a:off x="566928" y="5486400"/>
            <a:ext cx="11055096" cy="640080"/>
          </a:xfrm>
          <a:prstGeom prst="rect">
            <a:avLst/>
          </a:prstGeom>
          <a:noFill/>
        </p:spPr>
        <p:txBody>
          <a:bodyPr wrap="square" lIns="45720" tIns="22860" rIns="45720" bIns="22860">
            <a:spAutoFit/>
          </a:bodyPr>
          <a:lstStyle/>
          <a:p>
            <a:r>
              <a:rPr sz="1100" b="0" i="0">
                <a:solidFill>
                  <a:srgbClr val="0F172A"/>
                </a:solidFill>
                <a:latin typeface="Arial"/>
              </a:rPr>
              <a:t>Similar topics (Level): Particle–Cosmology 3, Particle–Math. Phys. 2, Bio–Quantum Info. 2, Semicond.–EM 1</a:t>
            </a:r>
          </a:p>
          <a:p>
            <a:r>
              <a:rPr sz="1100" b="0" i="0">
                <a:solidFill>
                  <a:srgbClr val="0F172A"/>
                </a:solidFill>
                <a:latin typeface="Arial"/>
              </a:rPr>
              <a:t>Audience 20–150 people per talk · 20 talks need a screen · 3 talks have an unavailable slot (P32: T05, P33: T01, P36: T01)</a:t>
            </a:r>
          </a:p>
        </p:txBody>
      </p:sp>
      <p:sp>
        <p:nvSpPr>
          <p:cNvPr id="19" name="TextBox 18"/>
          <p:cNvSpPr txBox="1"/>
          <p:nvPr/>
        </p:nvSpPr>
        <p:spPr>
          <a:xfrm>
            <a:off x="11164824" y="6492240"/>
            <a:ext cx="457200" cy="219456"/>
          </a:xfrm>
          <a:prstGeom prst="rect">
            <a:avLst/>
          </a:prstGeom>
          <a:noFill/>
          <a:ln/>
        </p:spPr>
        <p:txBody>
          <a:bodyPr wrap="square" lIns="0" tIns="0" rIns="0" bIns="0" rtlCol="0" anchor="ctr"/>
          <a:lstStyle/>
          <a:p>
            <a:pPr marL="0" indent="0" algn="r">
              <a:buNone/>
            </a:pPr>
            <a:fld id="{8B2C3E4A-5D6F-4A1B-9C2D-3E4F5A6B7C8D}" type="slidenum">
              <a:rPr lang="en-US" altLang="ja-JP" sz="1000" dirty="0">
                <a:solidFill>
                  <a:srgbClr val="94A3B8"/>
                </a:solidFill>
                <a:latin typeface="Arial" pitchFamily="34" charset="0"/>
                <a:ea typeface="Arial" pitchFamily="34" charset="-122"/>
                <a:cs typeface="Arial" pitchFamily="34" charset="-120"/>
              </a:rPr>
              <a:t>34</a:t>
            </a:fld>
            <a:endParaRPr lang="en-US" altLang="ja-JP"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5096" cy="237744"/>
          </a:xfrm>
          <a:prstGeom prst="rect">
            <a:avLst/>
          </a:prstGeom>
          <a:noFill/>
        </p:spPr>
        <p:txBody>
          <a:bodyPr wrap="square" lIns="45720" tIns="22860" rIns="45720" bIns="22860">
            <a:spAutoFit/>
          </a:bodyPr>
          <a:lstStyle/>
          <a:p>
            <a:r>
              <a:rPr sz="1200" b="1" i="0">
                <a:solidFill>
                  <a:srgbClr val="0284C7"/>
                </a:solidFill>
                <a:latin typeface="Arial"/>
              </a:rPr>
              <a:t>APPENDIX   A9</a:t>
            </a:r>
          </a:p>
        </p:txBody>
      </p:sp>
      <p:sp>
        <p:nvSpPr>
          <p:cNvPr id="3" name="TextBox 2"/>
          <p:cNvSpPr txBox="1"/>
          <p:nvPr/>
        </p:nvSpPr>
        <p:spPr>
          <a:xfrm>
            <a:off x="566928" y="566928"/>
            <a:ext cx="11055096" cy="566928"/>
          </a:xfrm>
          <a:prstGeom prst="rect">
            <a:avLst/>
          </a:prstGeom>
          <a:noFill/>
        </p:spPr>
        <p:txBody>
          <a:bodyPr wrap="square" lIns="45720" tIns="22860" rIns="45720" bIns="22860">
            <a:spAutoFit/>
          </a:bodyPr>
          <a:lstStyle/>
          <a:p>
            <a:r>
              <a:rPr sz="2600" b="1" i="0">
                <a:solidFill>
                  <a:srgbClr val="0F172A"/>
                </a:solidFill>
                <a:latin typeface="Arial"/>
              </a:rPr>
              <a:t>Test 1: Detailed Results</a:t>
            </a:r>
          </a:p>
        </p:txBody>
      </p:sp>
      <p:sp>
        <p:nvSpPr>
          <p:cNvPr id="4" name="TextBox 3"/>
          <p:cNvSpPr txBox="1"/>
          <p:nvPr/>
        </p:nvSpPr>
        <p:spPr>
          <a:xfrm>
            <a:off x="566928" y="1097280"/>
            <a:ext cx="11055096" cy="274320"/>
          </a:xfrm>
          <a:prstGeom prst="rect">
            <a:avLst/>
          </a:prstGeom>
          <a:noFill/>
        </p:spPr>
        <p:txBody>
          <a:bodyPr wrap="square" lIns="45720" tIns="22860" rIns="45720" bIns="22860">
            <a:spAutoFit/>
          </a:bodyPr>
          <a:lstStyle/>
          <a:p>
            <a:r>
              <a:rPr sz="1300" b="0" i="0">
                <a:solidFill>
                  <a:srgbClr val="64748B"/>
                </a:solidFill>
                <a:latin typeface="Arial"/>
              </a:rPr>
              <a:t>Exact solutions (gap 0, no time limit) · MacBook Air M4 · bundled CBC 2.10.13 · 3 runs each, same timetable every run</a:t>
            </a:r>
          </a:p>
        </p:txBody>
      </p:sp>
      <p:pic>
        <p:nvPicPr>
          <p:cNvPr id="5" name="Picture 4" descr="fig_weights_en.png"/>
          <p:cNvPicPr>
            <a:picLocks noChangeAspect="1"/>
          </p:cNvPicPr>
          <p:nvPr/>
        </p:nvPicPr>
        <p:blipFill>
          <a:blip r:embed="rId2"/>
          <a:stretch>
            <a:fillRect/>
          </a:stretch>
        </p:blipFill>
        <p:spPr>
          <a:xfrm>
            <a:off x="566928" y="1463040"/>
            <a:ext cx="11055096" cy="2212848"/>
          </a:xfrm>
          <a:prstGeom prst="rect">
            <a:avLst/>
          </a:prstGeom>
        </p:spPr>
      </p:pic>
      <p:graphicFrame>
        <p:nvGraphicFramePr>
          <p:cNvPr id="6" name="Table 5"/>
          <p:cNvGraphicFramePr>
            <a:graphicFrameLocks noGrp="1"/>
          </p:cNvGraphicFramePr>
          <p:nvPr/>
        </p:nvGraphicFramePr>
        <p:xfrm>
          <a:off x="566928" y="3749040"/>
          <a:ext cx="11055092" cy="1965960"/>
        </p:xfrm>
        <a:graphic>
          <a:graphicData uri="http://schemas.openxmlformats.org/drawingml/2006/table">
            <a:tbl>
              <a:tblPr>
                <a:tableStyleId>{2D5ABB26-0587-4C30-8999-92F81FD0307C}</a:tableStyleId>
              </a:tblPr>
              <a:tblGrid>
                <a:gridCol w="2211019">
                  <a:extLst>
                    <a:ext uri="{9D8B030D-6E8A-4147-A177-3AD203B41FA5}">
                      <a16:colId xmlns:a16="http://schemas.microsoft.com/office/drawing/2014/main" val="20000"/>
                    </a:ext>
                  </a:extLst>
                </a:gridCol>
                <a:gridCol w="1005008">
                  <a:extLst>
                    <a:ext uri="{9D8B030D-6E8A-4147-A177-3AD203B41FA5}">
                      <a16:colId xmlns:a16="http://schemas.microsoft.com/office/drawing/2014/main" val="20001"/>
                    </a:ext>
                  </a:extLst>
                </a:gridCol>
                <a:gridCol w="1206010">
                  <a:extLst>
                    <a:ext uri="{9D8B030D-6E8A-4147-A177-3AD203B41FA5}">
                      <a16:colId xmlns:a16="http://schemas.microsoft.com/office/drawing/2014/main" val="20002"/>
                    </a:ext>
                  </a:extLst>
                </a:gridCol>
                <a:gridCol w="1005008">
                  <a:extLst>
                    <a:ext uri="{9D8B030D-6E8A-4147-A177-3AD203B41FA5}">
                      <a16:colId xmlns:a16="http://schemas.microsoft.com/office/drawing/2014/main" val="20003"/>
                    </a:ext>
                  </a:extLst>
                </a:gridCol>
                <a:gridCol w="1105509">
                  <a:extLst>
                    <a:ext uri="{9D8B030D-6E8A-4147-A177-3AD203B41FA5}">
                      <a16:colId xmlns:a16="http://schemas.microsoft.com/office/drawing/2014/main" val="20004"/>
                    </a:ext>
                  </a:extLst>
                </a:gridCol>
                <a:gridCol w="1105509">
                  <a:extLst>
                    <a:ext uri="{9D8B030D-6E8A-4147-A177-3AD203B41FA5}">
                      <a16:colId xmlns:a16="http://schemas.microsoft.com/office/drawing/2014/main" val="20005"/>
                    </a:ext>
                  </a:extLst>
                </a:gridCol>
                <a:gridCol w="1306511">
                  <a:extLst>
                    <a:ext uri="{9D8B030D-6E8A-4147-A177-3AD203B41FA5}">
                      <a16:colId xmlns:a16="http://schemas.microsoft.com/office/drawing/2014/main" val="20006"/>
                    </a:ext>
                  </a:extLst>
                </a:gridCol>
                <a:gridCol w="2110518">
                  <a:extLst>
                    <a:ext uri="{9D8B030D-6E8A-4147-A177-3AD203B41FA5}">
                      <a16:colId xmlns:a16="http://schemas.microsoft.com/office/drawing/2014/main" val="20007"/>
                    </a:ext>
                  </a:extLst>
                </a:gridCol>
              </a:tblGrid>
              <a:tr h="393192">
                <a:tc>
                  <a:txBody>
                    <a:bodyPr/>
                    <a:lstStyle/>
                    <a:p>
                      <a:r>
                        <a:rPr sz="1100" b="1">
                          <a:solidFill>
                            <a:srgbClr val="FFFFFF"/>
                          </a:solidFill>
                          <a:latin typeface="Arial"/>
                        </a:rPr>
                        <a:t>Weights (A, B, C)</a:t>
                      </a:r>
                    </a:p>
                  </a:txBody>
                  <a:tcPr marL="64008" marR="64008" marT="27432" marB="27432" anchor="ctr">
                    <a:solidFill>
                      <a:srgbClr val="0F172A"/>
                    </a:solidFill>
                  </a:tcPr>
                </a:tc>
                <a:tc>
                  <a:txBody>
                    <a:bodyPr/>
                    <a:lstStyle/>
                    <a:p>
                      <a:r>
                        <a:rPr sz="1100" b="1">
                          <a:solidFill>
                            <a:srgbClr val="FFFFFF"/>
                          </a:solidFill>
                          <a:latin typeface="Arial"/>
                        </a:rPr>
                        <a:t>Score</a:t>
                      </a:r>
                    </a:p>
                  </a:txBody>
                  <a:tcPr marL="64008" marR="64008" marT="27432" marB="27432" anchor="ctr">
                    <a:solidFill>
                      <a:srgbClr val="0F172A"/>
                    </a:solidFill>
                  </a:tcPr>
                </a:tc>
                <a:tc>
                  <a:txBody>
                    <a:bodyPr/>
                    <a:lstStyle/>
                    <a:p>
                      <a:r>
                        <a:rPr sz="1100" b="1">
                          <a:solidFill>
                            <a:srgbClr val="FFFFFF"/>
                          </a:solidFill>
                          <a:latin typeface="Arial"/>
                        </a:rPr>
                        <a:t>A continuity</a:t>
                      </a:r>
                    </a:p>
                  </a:txBody>
                  <a:tcPr marL="64008" marR="64008" marT="27432" marB="27432" anchor="ctr">
                    <a:solidFill>
                      <a:srgbClr val="0F172A"/>
                    </a:solidFill>
                  </a:tcPr>
                </a:tc>
                <a:tc>
                  <a:txBody>
                    <a:bodyPr/>
                    <a:lstStyle/>
                    <a:p>
                      <a:r>
                        <a:rPr sz="1100" b="1">
                          <a:solidFill>
                            <a:srgbClr val="FFFFFF"/>
                          </a:solidFill>
                          <a:latin typeface="Arial"/>
                        </a:rPr>
                        <a:t>B1 pairs</a:t>
                      </a:r>
                    </a:p>
                  </a:txBody>
                  <a:tcPr marL="64008" marR="64008" marT="27432" marB="27432" anchor="ctr">
                    <a:solidFill>
                      <a:srgbClr val="0F172A"/>
                    </a:solidFill>
                  </a:tcPr>
                </a:tc>
                <a:tc>
                  <a:txBody>
                    <a:bodyPr/>
                    <a:lstStyle/>
                    <a:p>
                      <a:r>
                        <a:rPr sz="1100" b="1">
                          <a:solidFill>
                            <a:srgbClr val="FFFFFF"/>
                          </a:solidFill>
                          <a:latin typeface="Arial"/>
                        </a:rPr>
                        <a:t>B2 overlaps</a:t>
                      </a:r>
                    </a:p>
                  </a:txBody>
                  <a:tcPr marL="64008" marR="64008" marT="27432" marB="27432" anchor="ctr">
                    <a:solidFill>
                      <a:srgbClr val="0F172A"/>
                    </a:solidFill>
                  </a:tcPr>
                </a:tc>
                <a:tc>
                  <a:txBody>
                    <a:bodyPr/>
                    <a:lstStyle/>
                    <a:p>
                      <a:r>
                        <a:rPr sz="1100" b="1">
                          <a:solidFill>
                            <a:srgbClr val="FFFFFF"/>
                          </a:solidFill>
                          <a:latin typeface="Arial"/>
                        </a:rPr>
                        <a:t>B penalty</a:t>
                      </a:r>
                    </a:p>
                  </a:txBody>
                  <a:tcPr marL="64008" marR="64008" marT="27432" marB="27432" anchor="ctr">
                    <a:solidFill>
                      <a:srgbClr val="0F172A"/>
                    </a:solidFill>
                  </a:tcPr>
                </a:tc>
                <a:tc>
                  <a:txBody>
                    <a:bodyPr/>
                    <a:lstStyle/>
                    <a:p>
                      <a:r>
                        <a:rPr sz="1100" b="1">
                          <a:solidFill>
                            <a:srgbClr val="FFFFFF"/>
                          </a:solidFill>
                          <a:latin typeface="Arial"/>
                        </a:rPr>
                        <a:t>C empty seats</a:t>
                      </a:r>
                    </a:p>
                  </a:txBody>
                  <a:tcPr marL="64008" marR="64008" marT="27432" marB="27432" anchor="ctr">
                    <a:solidFill>
                      <a:srgbClr val="0F172A"/>
                    </a:solidFill>
                  </a:tcPr>
                </a:tc>
                <a:tc>
                  <a:txBody>
                    <a:bodyPr/>
                    <a:lstStyle/>
                    <a:p>
                      <a:r>
                        <a:rPr sz="1100" b="1">
                          <a:solidFill>
                            <a:srgbClr val="FFFFFF"/>
                          </a:solidFill>
                          <a:latin typeface="Arial"/>
                        </a:rPr>
                        <a:t>Time (s), 3 runs</a:t>
                      </a:r>
                    </a:p>
                  </a:txBody>
                  <a:tcPr marL="64008" marR="64008" marT="27432" marB="27432" anchor="ctr">
                    <a:solidFill>
                      <a:srgbClr val="0F172A"/>
                    </a:solidFill>
                  </a:tcPr>
                </a:tc>
                <a:extLst>
                  <a:ext uri="{0D108BD9-81ED-4DB2-BD59-A6C34878D82A}">
                    <a16:rowId xmlns:a16="http://schemas.microsoft.com/office/drawing/2014/main" val="10000"/>
                  </a:ext>
                </a:extLst>
              </a:tr>
              <a:tr h="393192">
                <a:tc>
                  <a:txBody>
                    <a:bodyPr/>
                    <a:lstStyle/>
                    <a:p>
                      <a:r>
                        <a:rPr sz="1100" b="1">
                          <a:solidFill>
                            <a:srgbClr val="0F172A"/>
                          </a:solidFill>
                          <a:latin typeface="Arial"/>
                        </a:rPr>
                        <a:t>① Equal (1, 1, 1)</a:t>
                      </a:r>
                    </a:p>
                  </a:txBody>
                  <a:tcPr marL="64008" marR="64008" marT="27432" marB="27432" anchor="ctr">
                    <a:solidFill>
                      <a:srgbClr val="F8FAFC"/>
                    </a:solidFill>
                  </a:tcPr>
                </a:tc>
                <a:tc>
                  <a:txBody>
                    <a:bodyPr/>
                    <a:lstStyle/>
                    <a:p>
                      <a:r>
                        <a:rPr sz="1100" b="0">
                          <a:solidFill>
                            <a:srgbClr val="0F172A"/>
                          </a:solidFill>
                          <a:latin typeface="Arial"/>
                        </a:rPr>
                        <a:t>−3.24</a:t>
                      </a:r>
                    </a:p>
                  </a:txBody>
                  <a:tcPr marL="64008" marR="64008" marT="27432" marB="27432" anchor="ctr">
                    <a:solidFill>
                      <a:srgbClr val="F8FAFC"/>
                    </a:solidFill>
                  </a:tcPr>
                </a:tc>
                <a:tc>
                  <a:txBody>
                    <a:bodyPr/>
                    <a:lstStyle/>
                    <a:p>
                      <a:r>
                        <a:rPr sz="1100" b="0">
                          <a:solidFill>
                            <a:srgbClr val="0F172A"/>
                          </a:solidFill>
                          <a:latin typeface="Arial"/>
                        </a:rPr>
                        <a:t>21</a:t>
                      </a:r>
                    </a:p>
                  </a:txBody>
                  <a:tcPr marL="64008" marR="64008" marT="27432" marB="27432" anchor="ctr">
                    <a:solidFill>
                      <a:srgbClr val="F8FAFC"/>
                    </a:solidFill>
                  </a:tcPr>
                </a:tc>
                <a:tc>
                  <a:txBody>
                    <a:bodyPr/>
                    <a:lstStyle/>
                    <a:p>
                      <a:r>
                        <a:rPr sz="1100" b="0">
                          <a:solidFill>
                            <a:srgbClr val="0F172A"/>
                          </a:solidFill>
                          <a:latin typeface="Arial"/>
                        </a:rPr>
                        <a:t>9</a:t>
                      </a:r>
                    </a:p>
                  </a:txBody>
                  <a:tcPr marL="64008" marR="64008" marT="27432" marB="27432" anchor="ctr">
                    <a:solidFill>
                      <a:srgbClr val="F8FAFC"/>
                    </a:solidFill>
                  </a:tcPr>
                </a:tc>
                <a:tc>
                  <a:txBody>
                    <a:bodyPr/>
                    <a:lstStyle/>
                    <a:p>
                      <a:r>
                        <a:rPr sz="1100" b="0">
                          <a:solidFill>
                            <a:srgbClr val="0F172A"/>
                          </a:solidFill>
                          <a:latin typeface="Arial"/>
                        </a:rPr>
                        <a:t>13</a:t>
                      </a:r>
                    </a:p>
                  </a:txBody>
                  <a:tcPr marL="64008" marR="64008" marT="27432" marB="27432" anchor="ctr">
                    <a:solidFill>
                      <a:srgbClr val="F8FAFC"/>
                    </a:solidFill>
                  </a:tcPr>
                </a:tc>
                <a:tc>
                  <a:txBody>
                    <a:bodyPr/>
                    <a:lstStyle/>
                    <a:p>
                      <a:r>
                        <a:rPr sz="1100" b="0">
                          <a:solidFill>
                            <a:srgbClr val="0F172A"/>
                          </a:solidFill>
                          <a:latin typeface="Arial"/>
                        </a:rPr>
                        <a:t>57</a:t>
                      </a:r>
                    </a:p>
                  </a:txBody>
                  <a:tcPr marL="64008" marR="64008" marT="27432" marB="27432" anchor="ctr">
                    <a:solidFill>
                      <a:srgbClr val="F8FAFC"/>
                    </a:solidFill>
                  </a:tcPr>
                </a:tc>
                <a:tc>
                  <a:txBody>
                    <a:bodyPr/>
                    <a:lstStyle/>
                    <a:p>
                      <a:r>
                        <a:rPr sz="1100" b="0">
                          <a:solidFill>
                            <a:srgbClr val="0F172A"/>
                          </a:solidFill>
                          <a:latin typeface="Arial"/>
                        </a:rPr>
                        <a:t>1,270</a:t>
                      </a:r>
                    </a:p>
                  </a:txBody>
                  <a:tcPr marL="64008" marR="64008" marT="27432" marB="27432" anchor="ctr">
                    <a:solidFill>
                      <a:srgbClr val="F8FAFC"/>
                    </a:solidFill>
                  </a:tcPr>
                </a:tc>
                <a:tc>
                  <a:txBody>
                    <a:bodyPr/>
                    <a:lstStyle/>
                    <a:p>
                      <a:r>
                        <a:rPr sz="1100" b="0">
                          <a:solidFill>
                            <a:srgbClr val="0F172A"/>
                          </a:solidFill>
                          <a:latin typeface="Arial"/>
                        </a:rPr>
                        <a:t>1,455 / 1,425 / 1,360</a:t>
                      </a:r>
                    </a:p>
                  </a:txBody>
                  <a:tcPr marL="64008" marR="64008" marT="27432" marB="27432" anchor="ctr">
                    <a:solidFill>
                      <a:srgbClr val="F8FAFC"/>
                    </a:solidFill>
                  </a:tcPr>
                </a:tc>
                <a:extLst>
                  <a:ext uri="{0D108BD9-81ED-4DB2-BD59-A6C34878D82A}">
                    <a16:rowId xmlns:a16="http://schemas.microsoft.com/office/drawing/2014/main" val="10001"/>
                  </a:ext>
                </a:extLst>
              </a:tr>
              <a:tr h="393192">
                <a:tc>
                  <a:txBody>
                    <a:bodyPr/>
                    <a:lstStyle/>
                    <a:p>
                      <a:r>
                        <a:rPr sz="1100" b="1">
                          <a:solidFill>
                            <a:srgbClr val="0F172A"/>
                          </a:solidFill>
                          <a:latin typeface="Arial"/>
                        </a:rPr>
                        <a:t>② A only (1, 0, 0)</a:t>
                      </a:r>
                    </a:p>
                  </a:txBody>
                  <a:tcPr marL="64008" marR="64008" marT="27432" marB="27432" anchor="ctr">
                    <a:solidFill>
                      <a:srgbClr val="FFFFFF"/>
                    </a:solidFill>
                  </a:tcPr>
                </a:tc>
                <a:tc>
                  <a:txBody>
                    <a:bodyPr/>
                    <a:lstStyle/>
                    <a:p>
                      <a:r>
                        <a:rPr sz="1100" b="0">
                          <a:solidFill>
                            <a:srgbClr val="0F172A"/>
                          </a:solidFill>
                          <a:latin typeface="Arial"/>
                        </a:rPr>
                        <a:t>69.70</a:t>
                      </a:r>
                    </a:p>
                  </a:txBody>
                  <a:tcPr marL="64008" marR="64008" marT="27432" marB="27432" anchor="ctr">
                    <a:solidFill>
                      <a:srgbClr val="FFFFFF"/>
                    </a:solidFill>
                  </a:tcPr>
                </a:tc>
                <a:tc>
                  <a:txBody>
                    <a:bodyPr/>
                    <a:lstStyle/>
                    <a:p>
                      <a:r>
                        <a:rPr sz="1100" b="0">
                          <a:solidFill>
                            <a:srgbClr val="0F172A"/>
                          </a:solidFill>
                          <a:latin typeface="Arial"/>
                        </a:rPr>
                        <a:t>23</a:t>
                      </a:r>
                    </a:p>
                  </a:txBody>
                  <a:tcPr marL="64008" marR="64008" marT="27432" marB="27432" anchor="ctr">
                    <a:solidFill>
                      <a:srgbClr val="FFFFFF"/>
                    </a:solidFill>
                  </a:tcPr>
                </a:tc>
                <a:tc>
                  <a:txBody>
                    <a:bodyPr/>
                    <a:lstStyle/>
                    <a:p>
                      <a:r>
                        <a:rPr sz="1100" b="0">
                          <a:solidFill>
                            <a:srgbClr val="0F172A"/>
                          </a:solidFill>
                          <a:latin typeface="Arial"/>
                        </a:rPr>
                        <a:t>7</a:t>
                      </a:r>
                    </a:p>
                  </a:txBody>
                  <a:tcPr marL="64008" marR="64008" marT="27432" marB="27432" anchor="ctr">
                    <a:solidFill>
                      <a:srgbClr val="FFFFFF"/>
                    </a:solidFill>
                  </a:tcPr>
                </a:tc>
                <a:tc>
                  <a:txBody>
                    <a:bodyPr/>
                    <a:lstStyle/>
                    <a:p>
                      <a:r>
                        <a:rPr sz="1100" b="0">
                          <a:solidFill>
                            <a:srgbClr val="0F172A"/>
                          </a:solidFill>
                          <a:latin typeface="Arial"/>
                        </a:rPr>
                        <a:t>16</a:t>
                      </a:r>
                    </a:p>
                  </a:txBody>
                  <a:tcPr marL="64008" marR="64008" marT="27432" marB="27432" anchor="ctr">
                    <a:solidFill>
                      <a:srgbClr val="FFFFFF"/>
                    </a:solidFill>
                  </a:tcPr>
                </a:tc>
                <a:tc>
                  <a:txBody>
                    <a:bodyPr/>
                    <a:lstStyle/>
                    <a:p>
                      <a:r>
                        <a:rPr sz="1100" b="0">
                          <a:solidFill>
                            <a:srgbClr val="0F172A"/>
                          </a:solidFill>
                          <a:latin typeface="Arial"/>
                        </a:rPr>
                        <a:t>65</a:t>
                      </a:r>
                    </a:p>
                  </a:txBody>
                  <a:tcPr marL="64008" marR="64008" marT="27432" marB="27432" anchor="ctr">
                    <a:solidFill>
                      <a:srgbClr val="FFFFFF"/>
                    </a:solidFill>
                  </a:tcPr>
                </a:tc>
                <a:tc>
                  <a:txBody>
                    <a:bodyPr/>
                    <a:lstStyle/>
                    <a:p>
                      <a:r>
                        <a:rPr sz="1100" b="0">
                          <a:solidFill>
                            <a:srgbClr val="0F172A"/>
                          </a:solidFill>
                          <a:latin typeface="Arial"/>
                        </a:rPr>
                        <a:t>1,620</a:t>
                      </a:r>
                    </a:p>
                  </a:txBody>
                  <a:tcPr marL="64008" marR="64008" marT="27432" marB="27432" anchor="ctr">
                    <a:solidFill>
                      <a:srgbClr val="FFFFFF"/>
                    </a:solidFill>
                  </a:tcPr>
                </a:tc>
                <a:tc>
                  <a:txBody>
                    <a:bodyPr/>
                    <a:lstStyle/>
                    <a:p>
                      <a:r>
                        <a:rPr sz="1100" b="0">
                          <a:solidFill>
                            <a:srgbClr val="0F172A"/>
                          </a:solidFill>
                          <a:latin typeface="Arial"/>
                        </a:rPr>
                        <a:t>148 / 157 / 161</a:t>
                      </a:r>
                    </a:p>
                  </a:txBody>
                  <a:tcPr marL="64008" marR="64008" marT="27432" marB="27432" anchor="ctr">
                    <a:solidFill>
                      <a:srgbClr val="FFFFFF"/>
                    </a:solidFill>
                  </a:tcPr>
                </a:tc>
                <a:extLst>
                  <a:ext uri="{0D108BD9-81ED-4DB2-BD59-A6C34878D82A}">
                    <a16:rowId xmlns:a16="http://schemas.microsoft.com/office/drawing/2014/main" val="10002"/>
                  </a:ext>
                </a:extLst>
              </a:tr>
              <a:tr h="393192">
                <a:tc>
                  <a:txBody>
                    <a:bodyPr/>
                    <a:lstStyle/>
                    <a:p>
                      <a:r>
                        <a:rPr sz="1100" b="1">
                          <a:solidFill>
                            <a:srgbClr val="0F172A"/>
                          </a:solidFill>
                          <a:latin typeface="Arial"/>
                        </a:rPr>
                        <a:t>③ B only (0, 1, 0)</a:t>
                      </a:r>
                    </a:p>
                  </a:txBody>
                  <a:tcPr marL="64008" marR="64008" marT="27432" marB="27432" anchor="ctr">
                    <a:solidFill>
                      <a:srgbClr val="F8FAFC"/>
                    </a:solidFill>
                  </a:tcPr>
                </a:tc>
                <a:tc>
                  <a:txBody>
                    <a:bodyPr/>
                    <a:lstStyle/>
                    <a:p>
                      <a:r>
                        <a:rPr sz="1100" b="0">
                          <a:solidFill>
                            <a:srgbClr val="0F172A"/>
                          </a:solidFill>
                          <a:latin typeface="Arial"/>
                        </a:rPr>
                        <a:t>−38.13</a:t>
                      </a:r>
                    </a:p>
                  </a:txBody>
                  <a:tcPr marL="64008" marR="64008" marT="27432" marB="27432" anchor="ctr">
                    <a:solidFill>
                      <a:srgbClr val="F8FAFC"/>
                    </a:solidFill>
                  </a:tcPr>
                </a:tc>
                <a:tc>
                  <a:txBody>
                    <a:bodyPr/>
                    <a:lstStyle/>
                    <a:p>
                      <a:r>
                        <a:rPr sz="1100" b="0">
                          <a:solidFill>
                            <a:srgbClr val="0F172A"/>
                          </a:solidFill>
                          <a:latin typeface="Arial"/>
                        </a:rPr>
                        <a:t>3</a:t>
                      </a:r>
                    </a:p>
                  </a:txBody>
                  <a:tcPr marL="64008" marR="64008" marT="27432" marB="27432" anchor="ctr">
                    <a:solidFill>
                      <a:srgbClr val="F8FAFC"/>
                    </a:solidFill>
                  </a:tcPr>
                </a:tc>
                <a:tc>
                  <a:txBody>
                    <a:bodyPr/>
                    <a:lstStyle/>
                    <a:p>
                      <a:r>
                        <a:rPr sz="1100" b="0">
                          <a:solidFill>
                            <a:srgbClr val="0F172A"/>
                          </a:solidFill>
                          <a:latin typeface="Arial"/>
                        </a:rPr>
                        <a:t>9</a:t>
                      </a:r>
                    </a:p>
                  </a:txBody>
                  <a:tcPr marL="64008" marR="64008" marT="27432" marB="27432" anchor="ctr">
                    <a:solidFill>
                      <a:srgbClr val="F8FAFC"/>
                    </a:solidFill>
                  </a:tcPr>
                </a:tc>
                <a:tc>
                  <a:txBody>
                    <a:bodyPr/>
                    <a:lstStyle/>
                    <a:p>
                      <a:r>
                        <a:rPr sz="1100" b="0">
                          <a:solidFill>
                            <a:srgbClr val="0F172A"/>
                          </a:solidFill>
                          <a:latin typeface="Arial"/>
                        </a:rPr>
                        <a:t>12</a:t>
                      </a:r>
                    </a:p>
                  </a:txBody>
                  <a:tcPr marL="64008" marR="64008" marT="27432" marB="27432" anchor="ctr">
                    <a:solidFill>
                      <a:srgbClr val="F8FAFC"/>
                    </a:solidFill>
                  </a:tcPr>
                </a:tc>
                <a:tc>
                  <a:txBody>
                    <a:bodyPr/>
                    <a:lstStyle/>
                    <a:p>
                      <a:r>
                        <a:rPr sz="1100" b="0">
                          <a:solidFill>
                            <a:srgbClr val="0F172A"/>
                          </a:solidFill>
                          <a:latin typeface="Arial"/>
                        </a:rPr>
                        <a:t>53</a:t>
                      </a:r>
                    </a:p>
                  </a:txBody>
                  <a:tcPr marL="64008" marR="64008" marT="27432" marB="27432" anchor="ctr">
                    <a:solidFill>
                      <a:srgbClr val="F8FAFC"/>
                    </a:solidFill>
                  </a:tcPr>
                </a:tc>
                <a:tc>
                  <a:txBody>
                    <a:bodyPr/>
                    <a:lstStyle/>
                    <a:p>
                      <a:r>
                        <a:rPr sz="1100" b="0">
                          <a:solidFill>
                            <a:srgbClr val="0F172A"/>
                          </a:solidFill>
                          <a:latin typeface="Arial"/>
                        </a:rPr>
                        <a:t>1,500</a:t>
                      </a:r>
                    </a:p>
                  </a:txBody>
                  <a:tcPr marL="64008" marR="64008" marT="27432" marB="27432" anchor="ctr">
                    <a:solidFill>
                      <a:srgbClr val="F8FAFC"/>
                    </a:solidFill>
                  </a:tcPr>
                </a:tc>
                <a:tc>
                  <a:txBody>
                    <a:bodyPr/>
                    <a:lstStyle/>
                    <a:p>
                      <a:r>
                        <a:rPr sz="1100" b="0">
                          <a:solidFill>
                            <a:srgbClr val="0F172A"/>
                          </a:solidFill>
                          <a:latin typeface="Arial"/>
                        </a:rPr>
                        <a:t>0.21 × 3</a:t>
                      </a:r>
                    </a:p>
                  </a:txBody>
                  <a:tcPr marL="64008" marR="64008" marT="27432" marB="27432" anchor="ctr">
                    <a:solidFill>
                      <a:srgbClr val="F8FAFC"/>
                    </a:solidFill>
                  </a:tcPr>
                </a:tc>
                <a:extLst>
                  <a:ext uri="{0D108BD9-81ED-4DB2-BD59-A6C34878D82A}">
                    <a16:rowId xmlns:a16="http://schemas.microsoft.com/office/drawing/2014/main" val="10003"/>
                  </a:ext>
                </a:extLst>
              </a:tr>
              <a:tr h="393192">
                <a:tc>
                  <a:txBody>
                    <a:bodyPr/>
                    <a:lstStyle/>
                    <a:p>
                      <a:r>
                        <a:rPr sz="1100" b="1">
                          <a:solidFill>
                            <a:srgbClr val="0F172A"/>
                          </a:solidFill>
                          <a:latin typeface="Arial"/>
                        </a:rPr>
                        <a:t>④ C only (0, 0, 1)</a:t>
                      </a:r>
                    </a:p>
                  </a:txBody>
                  <a:tcPr marL="64008" marR="64008" marT="27432" marB="27432" anchor="ctr">
                    <a:solidFill>
                      <a:srgbClr val="FFFFFF"/>
                    </a:solidFill>
                  </a:tcPr>
                </a:tc>
                <a:tc>
                  <a:txBody>
                    <a:bodyPr/>
                    <a:lstStyle/>
                    <a:p>
                      <a:r>
                        <a:rPr sz="1100" b="0">
                          <a:solidFill>
                            <a:srgbClr val="0F172A"/>
                          </a:solidFill>
                          <a:latin typeface="Arial"/>
                        </a:rPr>
                        <a:t>−25.87</a:t>
                      </a:r>
                    </a:p>
                  </a:txBody>
                  <a:tcPr marL="64008" marR="64008" marT="27432" marB="27432" anchor="ctr">
                    <a:solidFill>
                      <a:srgbClr val="FFFFFF"/>
                    </a:solidFill>
                  </a:tcPr>
                </a:tc>
                <a:tc>
                  <a:txBody>
                    <a:bodyPr/>
                    <a:lstStyle/>
                    <a:p>
                      <a:r>
                        <a:rPr sz="1100" b="0">
                          <a:solidFill>
                            <a:srgbClr val="0F172A"/>
                          </a:solidFill>
                          <a:latin typeface="Arial"/>
                        </a:rPr>
                        <a:t>3</a:t>
                      </a:r>
                    </a:p>
                  </a:txBody>
                  <a:tcPr marL="64008" marR="64008" marT="27432" marB="27432" anchor="ctr">
                    <a:solidFill>
                      <a:srgbClr val="FFFFFF"/>
                    </a:solidFill>
                  </a:tcPr>
                </a:tc>
                <a:tc>
                  <a:txBody>
                    <a:bodyPr/>
                    <a:lstStyle/>
                    <a:p>
                      <a:r>
                        <a:rPr sz="1100" b="0">
                          <a:solidFill>
                            <a:srgbClr val="0F172A"/>
                          </a:solidFill>
                          <a:latin typeface="Arial"/>
                        </a:rPr>
                        <a:t>10</a:t>
                      </a:r>
                    </a:p>
                  </a:txBody>
                  <a:tcPr marL="64008" marR="64008" marT="27432" marB="27432" anchor="ctr">
                    <a:solidFill>
                      <a:srgbClr val="FFFFFF"/>
                    </a:solidFill>
                  </a:tcPr>
                </a:tc>
                <a:tc>
                  <a:txBody>
                    <a:bodyPr/>
                    <a:lstStyle/>
                    <a:p>
                      <a:r>
                        <a:rPr sz="1100" b="0">
                          <a:solidFill>
                            <a:srgbClr val="0F172A"/>
                          </a:solidFill>
                          <a:latin typeface="Arial"/>
                        </a:rPr>
                        <a:t>15</a:t>
                      </a:r>
                    </a:p>
                  </a:txBody>
                  <a:tcPr marL="64008" marR="64008" marT="27432" marB="27432" anchor="ctr">
                    <a:solidFill>
                      <a:srgbClr val="FFFFFF"/>
                    </a:solidFill>
                  </a:tcPr>
                </a:tc>
                <a:tc>
                  <a:txBody>
                    <a:bodyPr/>
                    <a:lstStyle/>
                    <a:p>
                      <a:r>
                        <a:rPr sz="1100" b="0">
                          <a:solidFill>
                            <a:srgbClr val="0F172A"/>
                          </a:solidFill>
                          <a:latin typeface="Arial"/>
                        </a:rPr>
                        <a:t>67</a:t>
                      </a:r>
                    </a:p>
                  </a:txBody>
                  <a:tcPr marL="64008" marR="64008" marT="27432" marB="27432" anchor="ctr">
                    <a:solidFill>
                      <a:srgbClr val="FFFFFF"/>
                    </a:solidFill>
                  </a:tcPr>
                </a:tc>
                <a:tc>
                  <a:txBody>
                    <a:bodyPr/>
                    <a:lstStyle/>
                    <a:p>
                      <a:r>
                        <a:rPr sz="1100" b="0">
                          <a:solidFill>
                            <a:srgbClr val="0F172A"/>
                          </a:solidFill>
                          <a:latin typeface="Arial"/>
                        </a:rPr>
                        <a:t>1,270</a:t>
                      </a:r>
                    </a:p>
                  </a:txBody>
                  <a:tcPr marL="64008" marR="64008" marT="27432" marB="27432" anchor="ctr">
                    <a:solidFill>
                      <a:srgbClr val="FFFFFF"/>
                    </a:solidFill>
                  </a:tcPr>
                </a:tc>
                <a:tc>
                  <a:txBody>
                    <a:bodyPr/>
                    <a:lstStyle/>
                    <a:p>
                      <a:r>
                        <a:rPr sz="1100" b="0">
                          <a:solidFill>
                            <a:srgbClr val="0F172A"/>
                          </a:solidFill>
                          <a:latin typeface="Arial"/>
                        </a:rPr>
                        <a:t>0.02 × 3</a:t>
                      </a:r>
                    </a:p>
                  </a:txBody>
                  <a:tcPr marL="64008" marR="64008" marT="27432" marB="27432" anchor="ctr">
                    <a:solidFill>
                      <a:srgbClr val="FFFFFF"/>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566928" y="5852160"/>
            <a:ext cx="11055096" cy="274320"/>
          </a:xfrm>
          <a:prstGeom prst="rect">
            <a:avLst/>
          </a:prstGeom>
          <a:noFill/>
        </p:spPr>
        <p:txBody>
          <a:bodyPr wrap="square" lIns="45720" tIns="22860" rIns="45720" bIns="22860">
            <a:spAutoFit/>
          </a:bodyPr>
          <a:lstStyle/>
          <a:p>
            <a:r>
              <a:rPr sz="1200" b="0" i="0">
                <a:solidFill>
                  <a:srgbClr val="64748B"/>
                </a:solidFill>
                <a:latin typeface="Arial"/>
              </a:rPr>
              <a:t>B penalty = Σ Level (B1) + 3 × B2.  The score of each run uses its own weights, so scores are not compared across rows.</a:t>
            </a:r>
          </a:p>
        </p:txBody>
      </p:sp>
      <p:sp>
        <p:nvSpPr>
          <p:cNvPr id="8" name="TextBox 7"/>
          <p:cNvSpPr txBox="1"/>
          <p:nvPr/>
        </p:nvSpPr>
        <p:spPr>
          <a:xfrm>
            <a:off x="11164824" y="6492240"/>
            <a:ext cx="457200" cy="219456"/>
          </a:xfrm>
          <a:prstGeom prst="rect">
            <a:avLst/>
          </a:prstGeom>
          <a:noFill/>
          <a:ln/>
        </p:spPr>
        <p:txBody>
          <a:bodyPr wrap="square" lIns="0" tIns="0" rIns="0" bIns="0" rtlCol="0" anchor="ctr"/>
          <a:lstStyle/>
          <a:p>
            <a:pPr marL="0" indent="0" algn="r">
              <a:buNone/>
            </a:pPr>
            <a:fld id="{8B2C3E4A-5D6F-4A1B-9C2D-3E4F5A6B7C8D}" type="slidenum">
              <a:rPr lang="en-US" altLang="ja-JP" sz="1000" dirty="0">
                <a:solidFill>
                  <a:srgbClr val="94A3B8"/>
                </a:solidFill>
                <a:latin typeface="Arial" pitchFamily="34" charset="0"/>
                <a:ea typeface="Arial" pitchFamily="34" charset="-122"/>
                <a:cs typeface="Arial" pitchFamily="34" charset="-120"/>
              </a:rPr>
              <a:t>35</a:t>
            </a:fld>
            <a:endParaRPr lang="en-US" altLang="ja-JP"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5096" cy="237744"/>
          </a:xfrm>
          <a:prstGeom prst="rect">
            <a:avLst/>
          </a:prstGeom>
          <a:noFill/>
        </p:spPr>
        <p:txBody>
          <a:bodyPr wrap="square" lIns="45720" tIns="22860" rIns="45720" bIns="22860">
            <a:spAutoFit/>
          </a:bodyPr>
          <a:lstStyle/>
          <a:p>
            <a:r>
              <a:rPr sz="1200" b="1" i="0">
                <a:solidFill>
                  <a:srgbClr val="0284C7"/>
                </a:solidFill>
                <a:latin typeface="Arial"/>
              </a:rPr>
              <a:t>APPENDIX   A10</a:t>
            </a:r>
          </a:p>
        </p:txBody>
      </p:sp>
      <p:sp>
        <p:nvSpPr>
          <p:cNvPr id="3" name="TextBox 2"/>
          <p:cNvSpPr txBox="1"/>
          <p:nvPr/>
        </p:nvSpPr>
        <p:spPr>
          <a:xfrm>
            <a:off x="566928" y="566928"/>
            <a:ext cx="11055096" cy="566928"/>
          </a:xfrm>
          <a:prstGeom prst="rect">
            <a:avLst/>
          </a:prstGeom>
          <a:noFill/>
        </p:spPr>
        <p:txBody>
          <a:bodyPr wrap="square" lIns="45720" tIns="22860" rIns="45720" bIns="22860">
            <a:spAutoFit/>
          </a:bodyPr>
          <a:lstStyle/>
          <a:p>
            <a:r>
              <a:rPr sz="2600" b="1" i="0">
                <a:solidFill>
                  <a:srgbClr val="0F172A"/>
                </a:solidFill>
                <a:latin typeface="Arial"/>
              </a:rPr>
              <a:t>Test 2: Data Based on a Real Conference</a:t>
            </a:r>
          </a:p>
        </p:txBody>
      </p:sp>
      <p:sp>
        <p:nvSpPr>
          <p:cNvPr id="4" name="TextBox 3"/>
          <p:cNvSpPr txBox="1"/>
          <p:nvPr/>
        </p:nvSpPr>
        <p:spPr>
          <a:xfrm>
            <a:off x="566928" y="1097280"/>
            <a:ext cx="11055096" cy="274320"/>
          </a:xfrm>
          <a:prstGeom prst="rect">
            <a:avLst/>
          </a:prstGeom>
          <a:noFill/>
        </p:spPr>
        <p:txBody>
          <a:bodyPr wrap="square" lIns="45720" tIns="22860" rIns="45720" bIns="22860">
            <a:spAutoFit/>
          </a:bodyPr>
          <a:lstStyle/>
          <a:p>
            <a:r>
              <a:rPr sz="1300" b="0" i="0">
                <a:solidFill>
                  <a:srgbClr val="64748B"/>
                </a:solidFill>
                <a:latin typeface="Arial"/>
              </a:rPr>
              <a:t>Based on the public program of a physics conference (name, dates and venue withheld)</a:t>
            </a:r>
          </a:p>
        </p:txBody>
      </p:sp>
      <p:graphicFrame>
        <p:nvGraphicFramePr>
          <p:cNvPr id="5" name="Table 4"/>
          <p:cNvGraphicFramePr>
            <a:graphicFrameLocks noGrp="1"/>
          </p:cNvGraphicFramePr>
          <p:nvPr/>
        </p:nvGraphicFramePr>
        <p:xfrm>
          <a:off x="566928" y="1463040"/>
          <a:ext cx="11055095" cy="4389120"/>
        </p:xfrm>
        <a:graphic>
          <a:graphicData uri="http://schemas.openxmlformats.org/drawingml/2006/table">
            <a:tbl>
              <a:tblPr>
                <a:tableStyleId>{2D5ABB26-0587-4C30-8999-92F81FD0307C}</a:tableStyleId>
              </a:tblPr>
              <a:tblGrid>
                <a:gridCol w="1842516">
                  <a:extLst>
                    <a:ext uri="{9D8B030D-6E8A-4147-A177-3AD203B41FA5}">
                      <a16:colId xmlns:a16="http://schemas.microsoft.com/office/drawing/2014/main" val="20000"/>
                    </a:ext>
                  </a:extLst>
                </a:gridCol>
                <a:gridCol w="3915346">
                  <a:extLst>
                    <a:ext uri="{9D8B030D-6E8A-4147-A177-3AD203B41FA5}">
                      <a16:colId xmlns:a16="http://schemas.microsoft.com/office/drawing/2014/main" val="20001"/>
                    </a:ext>
                  </a:extLst>
                </a:gridCol>
                <a:gridCol w="5297233">
                  <a:extLst>
                    <a:ext uri="{9D8B030D-6E8A-4147-A177-3AD203B41FA5}">
                      <a16:colId xmlns:a16="http://schemas.microsoft.com/office/drawing/2014/main" val="20002"/>
                    </a:ext>
                  </a:extLst>
                </a:gridCol>
              </a:tblGrid>
              <a:tr h="548640">
                <a:tc>
                  <a:txBody>
                    <a:bodyPr/>
                    <a:lstStyle/>
                    <a:p>
                      <a:r>
                        <a:rPr sz="1100" b="1">
                          <a:solidFill>
                            <a:srgbClr val="FFFFFF"/>
                          </a:solidFill>
                          <a:latin typeface="Arial"/>
                        </a:rPr>
                        <a:t>Item</a:t>
                      </a:r>
                    </a:p>
                  </a:txBody>
                  <a:tcPr marL="64008" marR="64008" marT="27432" marB="27432" anchor="ctr">
                    <a:solidFill>
                      <a:srgbClr val="0F172A"/>
                    </a:solidFill>
                  </a:tcPr>
                </a:tc>
                <a:tc>
                  <a:txBody>
                    <a:bodyPr/>
                    <a:lstStyle/>
                    <a:p>
                      <a:r>
                        <a:rPr sz="1100" b="1">
                          <a:solidFill>
                            <a:srgbClr val="FFFFFF"/>
                          </a:solidFill>
                          <a:latin typeface="Arial"/>
                        </a:rPr>
                        <a:t>Content</a:t>
                      </a:r>
                    </a:p>
                  </a:txBody>
                  <a:tcPr marL="64008" marR="64008" marT="27432" marB="27432" anchor="ctr">
                    <a:solidFill>
                      <a:srgbClr val="0F172A"/>
                    </a:solidFill>
                  </a:tcPr>
                </a:tc>
                <a:tc>
                  <a:txBody>
                    <a:bodyPr/>
                    <a:lstStyle/>
                    <a:p>
                      <a:r>
                        <a:rPr sz="1100" b="1">
                          <a:solidFill>
                            <a:srgbClr val="FFFFFF"/>
                          </a:solidFill>
                          <a:latin typeface="Arial"/>
                        </a:rPr>
                        <a:t>Grounds</a:t>
                      </a:r>
                    </a:p>
                  </a:txBody>
                  <a:tcPr marL="64008" marR="64008" marT="27432" marB="27432" anchor="ctr">
                    <a:solidFill>
                      <a:srgbClr val="0F172A"/>
                    </a:solidFill>
                  </a:tcPr>
                </a:tc>
                <a:extLst>
                  <a:ext uri="{0D108BD9-81ED-4DB2-BD59-A6C34878D82A}">
                    <a16:rowId xmlns:a16="http://schemas.microsoft.com/office/drawing/2014/main" val="10000"/>
                  </a:ext>
                </a:extLst>
              </a:tr>
              <a:tr h="548640">
                <a:tc>
                  <a:txBody>
                    <a:bodyPr/>
                    <a:lstStyle/>
                    <a:p>
                      <a:r>
                        <a:rPr sz="1100" b="1">
                          <a:solidFill>
                            <a:srgbClr val="0F172A"/>
                          </a:solidFill>
                          <a:latin typeface="Arial"/>
                        </a:rPr>
                        <a:t>Presentations</a:t>
                      </a:r>
                    </a:p>
                  </a:txBody>
                  <a:tcPr marL="64008" marR="64008" marT="27432" marB="27432" anchor="ctr">
                    <a:solidFill>
                      <a:srgbClr val="F8FAFC"/>
                    </a:solidFill>
                  </a:tcPr>
                </a:tc>
                <a:tc>
                  <a:txBody>
                    <a:bodyPr/>
                    <a:lstStyle/>
                    <a:p>
                      <a:r>
                        <a:rPr sz="1100" b="0">
                          <a:solidFill>
                            <a:srgbClr val="0F172A"/>
                          </a:solidFill>
                          <a:latin typeface="Arial"/>
                        </a:rPr>
                        <a:t>89 parallel oral presentations (16 sessions)</a:t>
                      </a:r>
                    </a:p>
                  </a:txBody>
                  <a:tcPr marL="64008" marR="64008" marT="27432" marB="27432" anchor="ctr">
                    <a:solidFill>
                      <a:srgbClr val="F8FAFC"/>
                    </a:solidFill>
                  </a:tcPr>
                </a:tc>
                <a:tc>
                  <a:txBody>
                    <a:bodyPr/>
                    <a:lstStyle/>
                    <a:p>
                      <a:r>
                        <a:rPr sz="1100" b="0">
                          <a:solidFill>
                            <a:srgbClr val="0F172A"/>
                          </a:solidFill>
                          <a:latin typeface="Arial"/>
                        </a:rPr>
                        <a:t>Excluded: special sessions incl. invited talks (different length, separate venue), plenaries, posters</a:t>
                      </a:r>
                    </a:p>
                  </a:txBody>
                  <a:tcPr marL="64008" marR="64008" marT="27432" marB="27432" anchor="ctr">
                    <a:solidFill>
                      <a:srgbClr val="F8FAFC"/>
                    </a:solidFill>
                  </a:tcPr>
                </a:tc>
                <a:extLst>
                  <a:ext uri="{0D108BD9-81ED-4DB2-BD59-A6C34878D82A}">
                    <a16:rowId xmlns:a16="http://schemas.microsoft.com/office/drawing/2014/main" val="10001"/>
                  </a:ext>
                </a:extLst>
              </a:tr>
              <a:tr h="548640">
                <a:tc>
                  <a:txBody>
                    <a:bodyPr/>
                    <a:lstStyle/>
                    <a:p>
                      <a:r>
                        <a:rPr sz="1100" b="1">
                          <a:solidFill>
                            <a:srgbClr val="0F172A"/>
                          </a:solidFill>
                          <a:latin typeface="Arial"/>
                        </a:rPr>
                        <a:t>Rooms / slots</a:t>
                      </a:r>
                    </a:p>
                  </a:txBody>
                  <a:tcPr marL="64008" marR="64008" marT="27432" marB="27432" anchor="ctr">
                    <a:solidFill>
                      <a:srgbClr val="FFFFFF"/>
                    </a:solidFill>
                  </a:tcPr>
                </a:tc>
                <a:tc>
                  <a:txBody>
                    <a:bodyPr/>
                    <a:lstStyle/>
                    <a:p>
                      <a:r>
                        <a:rPr sz="1100" b="0">
                          <a:solidFill>
                            <a:srgbClr val="0F172A"/>
                          </a:solidFill>
                          <a:latin typeface="Arial"/>
                        </a:rPr>
                        <a:t>4 rooms, 20 min × 6 slots × 4 blocks = 24 slots</a:t>
                      </a:r>
                    </a:p>
                  </a:txBody>
                  <a:tcPr marL="64008" marR="64008" marT="27432" marB="27432" anchor="ctr">
                    <a:solidFill>
                      <a:srgbClr val="FFFFFF"/>
                    </a:solidFill>
                  </a:tcPr>
                </a:tc>
                <a:tc>
                  <a:txBody>
                    <a:bodyPr/>
                    <a:lstStyle/>
                    <a:p>
                      <a:r>
                        <a:rPr sz="1100" b="0">
                          <a:solidFill>
                            <a:srgbClr val="0F172A"/>
                          </a:solidFill>
                          <a:latin typeface="Arial"/>
                        </a:rPr>
                        <a:t>As in the public program (times also as actual)</a:t>
                      </a:r>
                    </a:p>
                  </a:txBody>
                  <a:tcPr marL="64008" marR="64008" marT="27432" marB="27432" anchor="ctr">
                    <a:solidFill>
                      <a:srgbClr val="FFFFFF"/>
                    </a:solidFill>
                  </a:tcPr>
                </a:tc>
                <a:extLst>
                  <a:ext uri="{0D108BD9-81ED-4DB2-BD59-A6C34878D82A}">
                    <a16:rowId xmlns:a16="http://schemas.microsoft.com/office/drawing/2014/main" val="10002"/>
                  </a:ext>
                </a:extLst>
              </a:tr>
              <a:tr h="548640">
                <a:tc>
                  <a:txBody>
                    <a:bodyPr/>
                    <a:lstStyle/>
                    <a:p>
                      <a:r>
                        <a:rPr sz="1100" b="1">
                          <a:solidFill>
                            <a:srgbClr val="0F172A"/>
                          </a:solidFill>
                          <a:latin typeface="Arial"/>
                        </a:rPr>
                        <a:t>Topics</a:t>
                      </a:r>
                    </a:p>
                  </a:txBody>
                  <a:tcPr marL="64008" marR="64008" marT="27432" marB="27432" anchor="ctr">
                    <a:solidFill>
                      <a:srgbClr val="F8FAFC"/>
                    </a:solidFill>
                  </a:tcPr>
                </a:tc>
                <a:tc>
                  <a:txBody>
                    <a:bodyPr/>
                    <a:lstStyle/>
                    <a:p>
                      <a:r>
                        <a:rPr sz="1100" b="0">
                          <a:solidFill>
                            <a:srgbClr val="0F172A"/>
                          </a:solidFill>
                          <a:latin typeface="Arial"/>
                        </a:rPr>
                        <a:t>8 topics (max 20, min 6 talks)</a:t>
                      </a:r>
                    </a:p>
                  </a:txBody>
                  <a:tcPr marL="64008" marR="64008" marT="27432" marB="27432" anchor="ctr">
                    <a:solidFill>
                      <a:srgbClr val="F8FAFC"/>
                    </a:solidFill>
                  </a:tcPr>
                </a:tc>
                <a:tc>
                  <a:txBody>
                    <a:bodyPr/>
                    <a:lstStyle/>
                    <a:p>
                      <a:r>
                        <a:rPr sz="1100" b="0">
                          <a:solidFill>
                            <a:srgbClr val="0F172A"/>
                          </a:solidFill>
                          <a:latin typeface="Arial"/>
                        </a:rPr>
                        <a:t>Topics taken from session names. No one speaks twice (2 pairs sharing a surname confirmed to be different people)</a:t>
                      </a:r>
                    </a:p>
                  </a:txBody>
                  <a:tcPr marL="64008" marR="64008" marT="27432" marB="27432" anchor="ctr">
                    <a:solidFill>
                      <a:srgbClr val="F8FAFC"/>
                    </a:solidFill>
                  </a:tcPr>
                </a:tc>
                <a:extLst>
                  <a:ext uri="{0D108BD9-81ED-4DB2-BD59-A6C34878D82A}">
                    <a16:rowId xmlns:a16="http://schemas.microsoft.com/office/drawing/2014/main" val="10003"/>
                  </a:ext>
                </a:extLst>
              </a:tr>
              <a:tr h="548640">
                <a:tc>
                  <a:txBody>
                    <a:bodyPr/>
                    <a:lstStyle/>
                    <a:p>
                      <a:r>
                        <a:rPr sz="1100" b="1">
                          <a:solidFill>
                            <a:srgbClr val="0F172A"/>
                          </a:solidFill>
                          <a:latin typeface="Arial"/>
                        </a:rPr>
                        <a:t>Capacity</a:t>
                      </a:r>
                    </a:p>
                  </a:txBody>
                  <a:tcPr marL="64008" marR="64008" marT="27432" marB="27432" anchor="ctr">
                    <a:solidFill>
                      <a:srgbClr val="FFFFFF"/>
                    </a:solidFill>
                  </a:tcPr>
                </a:tc>
                <a:tc>
                  <a:txBody>
                    <a:bodyPr/>
                    <a:lstStyle/>
                    <a:p>
                      <a:r>
                        <a:rPr sz="1100" b="0">
                          <a:solidFill>
                            <a:srgbClr val="0F172A"/>
                          </a:solidFill>
                          <a:latin typeface="Arial"/>
                        </a:rPr>
                        <a:t>Room_A 100, Room_B–D 60 each</a:t>
                      </a:r>
                    </a:p>
                  </a:txBody>
                  <a:tcPr marL="64008" marR="64008" marT="27432" marB="27432" anchor="ctr">
                    <a:solidFill>
                      <a:srgbClr val="FFFFFF"/>
                    </a:solidFill>
                  </a:tcPr>
                </a:tc>
                <a:tc>
                  <a:txBody>
                    <a:bodyPr/>
                    <a:lstStyle/>
                    <a:p>
                      <a:r>
                        <a:rPr sz="1100" b="0">
                          <a:solidFill>
                            <a:srgbClr val="0F172A"/>
                          </a:solidFill>
                          <a:latin typeface="Arial"/>
                        </a:rPr>
                        <a:t>No public capacity data. Room_A always hosts the largest topic and is used for plenary events, so it is assumed to be larger</a:t>
                      </a:r>
                    </a:p>
                  </a:txBody>
                  <a:tcPr marL="64008" marR="64008" marT="27432" marB="27432" anchor="ctr">
                    <a:solidFill>
                      <a:srgbClr val="FFFFFF"/>
                    </a:solidFill>
                  </a:tcPr>
                </a:tc>
                <a:extLst>
                  <a:ext uri="{0D108BD9-81ED-4DB2-BD59-A6C34878D82A}">
                    <a16:rowId xmlns:a16="http://schemas.microsoft.com/office/drawing/2014/main" val="10004"/>
                  </a:ext>
                </a:extLst>
              </a:tr>
              <a:tr h="548640">
                <a:tc>
                  <a:txBody>
                    <a:bodyPr/>
                    <a:lstStyle/>
                    <a:p>
                      <a:r>
                        <a:rPr sz="1100" b="1">
                          <a:solidFill>
                            <a:srgbClr val="0F172A"/>
                          </a:solidFill>
                          <a:latin typeface="Arial"/>
                        </a:rPr>
                        <a:t>Expected attendees</a:t>
                      </a:r>
                    </a:p>
                  </a:txBody>
                  <a:tcPr marL="64008" marR="64008" marT="27432" marB="27432" anchor="ctr">
                    <a:solidFill>
                      <a:srgbClr val="F8FAFC"/>
                    </a:solidFill>
                  </a:tcPr>
                </a:tc>
                <a:tc>
                  <a:txBody>
                    <a:bodyPr/>
                    <a:lstStyle/>
                    <a:p>
                      <a:r>
                        <a:rPr sz="1100" b="0">
                          <a:solidFill>
                            <a:srgbClr val="0F172A"/>
                          </a:solidFill>
                          <a:latin typeface="Arial"/>
                        </a:rPr>
                        <a:t>Proportional to topic size (largest topic, 20 talks = 80 people)</a:t>
                      </a:r>
                    </a:p>
                  </a:txBody>
                  <a:tcPr marL="64008" marR="64008" marT="27432" marB="27432" anchor="ctr">
                    <a:solidFill>
                      <a:srgbClr val="F8FAFC"/>
                    </a:solidFill>
                  </a:tcPr>
                </a:tc>
                <a:tc>
                  <a:txBody>
                    <a:bodyPr/>
                    <a:lstStyle/>
                    <a:p>
                      <a:r>
                        <a:rPr sz="1100" b="0">
                          <a:solidFill>
                            <a:srgbClr val="0F172A"/>
                          </a:solidFill>
                          <a:latin typeface="Arial"/>
                        </a:rPr>
                        <a:t>No audience data. Consequence: the largest topic fits only in Room_A (as in reality)</a:t>
                      </a:r>
                    </a:p>
                  </a:txBody>
                  <a:tcPr marL="64008" marR="64008" marT="27432" marB="27432" anchor="ctr">
                    <a:solidFill>
                      <a:srgbClr val="F8FAFC"/>
                    </a:solidFill>
                  </a:tcPr>
                </a:tc>
                <a:extLst>
                  <a:ext uri="{0D108BD9-81ED-4DB2-BD59-A6C34878D82A}">
                    <a16:rowId xmlns:a16="http://schemas.microsoft.com/office/drawing/2014/main" val="10005"/>
                  </a:ext>
                </a:extLst>
              </a:tr>
              <a:tr h="548640">
                <a:tc>
                  <a:txBody>
                    <a:bodyPr/>
                    <a:lstStyle/>
                    <a:p>
                      <a:r>
                        <a:rPr sz="1100" b="1">
                          <a:solidFill>
                            <a:srgbClr val="0F172A"/>
                          </a:solidFill>
                          <a:latin typeface="Arial"/>
                        </a:rPr>
                        <a:t>Conflicting topic pairs</a:t>
                      </a:r>
                    </a:p>
                  </a:txBody>
                  <a:tcPr marL="64008" marR="64008" marT="27432" marB="27432" anchor="ctr">
                    <a:solidFill>
                      <a:srgbClr val="FFFFFF"/>
                    </a:solidFill>
                  </a:tcPr>
                </a:tc>
                <a:tc>
                  <a:txBody>
                    <a:bodyPr/>
                    <a:lstStyle/>
                    <a:p>
                      <a:r>
                        <a:rPr sz="1100" b="0">
                          <a:solidFill>
                            <a:srgbClr val="0F172A"/>
                          </a:solidFill>
                          <a:latin typeface="Arial"/>
                        </a:rPr>
                        <a:t>9 pairs (Level 1–3)</a:t>
                      </a:r>
                    </a:p>
                  </a:txBody>
                  <a:tcPr marL="64008" marR="64008" marT="27432" marB="27432" anchor="ctr">
                    <a:solidFill>
                      <a:srgbClr val="FFFFFF"/>
                    </a:solidFill>
                  </a:tcPr>
                </a:tc>
                <a:tc>
                  <a:txBody>
                    <a:bodyPr/>
                    <a:lstStyle/>
                    <a:p>
                      <a:r>
                        <a:rPr sz="1100" b="0">
                          <a:solidFill>
                            <a:srgbClr val="0F172A"/>
                          </a:solidFill>
                          <a:latin typeface="Arial"/>
                        </a:rPr>
                        <a:t>Set by topic similarity (e.g., high energy – gravitation/astro 3, quantum – optics 2)</a:t>
                      </a:r>
                    </a:p>
                  </a:txBody>
                  <a:tcPr marL="64008" marR="64008" marT="27432" marB="27432" anchor="ctr">
                    <a:solidFill>
                      <a:srgbClr val="FFFFFF"/>
                    </a:solidFill>
                  </a:tcPr>
                </a:tc>
                <a:extLst>
                  <a:ext uri="{0D108BD9-81ED-4DB2-BD59-A6C34878D82A}">
                    <a16:rowId xmlns:a16="http://schemas.microsoft.com/office/drawing/2014/main" val="10006"/>
                  </a:ext>
                </a:extLst>
              </a:tr>
              <a:tr h="548640">
                <a:tc>
                  <a:txBody>
                    <a:bodyPr/>
                    <a:lstStyle/>
                    <a:p>
                      <a:r>
                        <a:rPr sz="1100" b="1">
                          <a:solidFill>
                            <a:srgbClr val="0F172A"/>
                          </a:solidFill>
                          <a:latin typeface="Arial"/>
                        </a:rPr>
                        <a:t>Blocks / equipment</a:t>
                      </a:r>
                    </a:p>
                  </a:txBody>
                  <a:tcPr marL="64008" marR="64008" marT="27432" marB="27432" anchor="ctr">
                    <a:solidFill>
                      <a:srgbClr val="F8FAFC"/>
                    </a:solidFill>
                  </a:tcPr>
                </a:tc>
                <a:tc>
                  <a:txBody>
                    <a:bodyPr/>
                    <a:lstStyle/>
                    <a:p>
                      <a:r>
                        <a:rPr sz="1100" b="0">
                          <a:solidFill>
                            <a:srgbClr val="0F172A"/>
                          </a:solidFill>
                          <a:latin typeface="Arial"/>
                        </a:rPr>
                        <a:t>Continuity across blocks is not counted. Screens and unavailable slots are not used</a:t>
                      </a:r>
                    </a:p>
                  </a:txBody>
                  <a:tcPr marL="64008" marR="64008" marT="27432" marB="27432" anchor="ctr">
                    <a:solidFill>
                      <a:srgbClr val="F8FAFC"/>
                    </a:solidFill>
                  </a:tcPr>
                </a:tc>
                <a:tc>
                  <a:txBody>
                    <a:bodyPr/>
                    <a:lstStyle/>
                    <a:p>
                      <a:r>
                        <a:rPr sz="1100" b="0">
                          <a:solidFill>
                            <a:srgbClr val="0F172A"/>
                          </a:solidFill>
                          <a:latin typeface="Arial"/>
                        </a:rPr>
                        <a:t>In reality, room topics change between morning and afternoon. All rooms assumed to have screens</a:t>
                      </a:r>
                    </a:p>
                  </a:txBody>
                  <a:tcPr marL="64008" marR="64008" marT="27432" marB="27432" anchor="ctr">
                    <a:solidFill>
                      <a:srgbClr val="F8FAFC"/>
                    </a:solidFill>
                  </a:tcPr>
                </a:tc>
                <a:extLst>
                  <a:ext uri="{0D108BD9-81ED-4DB2-BD59-A6C34878D82A}">
                    <a16:rowId xmlns:a16="http://schemas.microsoft.com/office/drawing/2014/main" val="10007"/>
                  </a:ext>
                </a:extLst>
              </a:tr>
            </a:tbl>
          </a:graphicData>
        </a:graphic>
      </p:graphicFrame>
      <p:sp>
        <p:nvSpPr>
          <p:cNvPr id="6" name="TextBox 5"/>
          <p:cNvSpPr txBox="1"/>
          <p:nvPr/>
        </p:nvSpPr>
        <p:spPr>
          <a:xfrm>
            <a:off x="11164824" y="6492240"/>
            <a:ext cx="457200" cy="219456"/>
          </a:xfrm>
          <a:prstGeom prst="rect">
            <a:avLst/>
          </a:prstGeom>
          <a:noFill/>
          <a:ln/>
        </p:spPr>
        <p:txBody>
          <a:bodyPr wrap="square" lIns="0" tIns="0" rIns="0" bIns="0" rtlCol="0" anchor="ctr"/>
          <a:lstStyle/>
          <a:p>
            <a:pPr marL="0" indent="0" algn="r">
              <a:buNone/>
            </a:pPr>
            <a:fld id="{8B2C3E4A-5D6F-4A1B-9C2D-3E4F5A6B7C8D}" type="slidenum">
              <a:rPr lang="en-US" altLang="ja-JP" sz="1000" dirty="0">
                <a:solidFill>
                  <a:srgbClr val="94A3B8"/>
                </a:solidFill>
                <a:latin typeface="Arial" pitchFamily="34" charset="0"/>
                <a:ea typeface="Arial" pitchFamily="34" charset="-122"/>
                <a:cs typeface="Arial" pitchFamily="34" charset="-120"/>
              </a:rPr>
              <a:t>36</a:t>
            </a:fld>
            <a:endParaRPr lang="en-US" altLang="ja-JP"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5096" cy="237744"/>
          </a:xfrm>
          <a:prstGeom prst="rect">
            <a:avLst/>
          </a:prstGeom>
          <a:noFill/>
        </p:spPr>
        <p:txBody>
          <a:bodyPr wrap="square" lIns="45720" tIns="22860" rIns="45720" bIns="22860">
            <a:spAutoFit/>
          </a:bodyPr>
          <a:lstStyle/>
          <a:p>
            <a:r>
              <a:rPr sz="1200" b="1" i="0">
                <a:solidFill>
                  <a:srgbClr val="0284C7"/>
                </a:solidFill>
                <a:latin typeface="Arial"/>
              </a:rPr>
              <a:t>APPENDIX   A11</a:t>
            </a:r>
          </a:p>
        </p:txBody>
      </p:sp>
      <p:sp>
        <p:nvSpPr>
          <p:cNvPr id="3" name="TextBox 2"/>
          <p:cNvSpPr txBox="1"/>
          <p:nvPr/>
        </p:nvSpPr>
        <p:spPr>
          <a:xfrm>
            <a:off x="566928" y="566928"/>
            <a:ext cx="11055096" cy="566928"/>
          </a:xfrm>
          <a:prstGeom prst="rect">
            <a:avLst/>
          </a:prstGeom>
          <a:noFill/>
        </p:spPr>
        <p:txBody>
          <a:bodyPr wrap="square" lIns="45720" tIns="22860" rIns="45720" bIns="22860">
            <a:spAutoFit/>
          </a:bodyPr>
          <a:lstStyle/>
          <a:p>
            <a:r>
              <a:rPr sz="2600" b="1" i="0">
                <a:solidFill>
                  <a:srgbClr val="0F172A"/>
                </a:solidFill>
                <a:latin typeface="Arial"/>
              </a:rPr>
              <a:t>Test 2: Detailed Results</a:t>
            </a:r>
          </a:p>
        </p:txBody>
      </p:sp>
      <p:sp>
        <p:nvSpPr>
          <p:cNvPr id="4" name="TextBox 3"/>
          <p:cNvSpPr txBox="1"/>
          <p:nvPr/>
        </p:nvSpPr>
        <p:spPr>
          <a:xfrm>
            <a:off x="566928" y="1143000"/>
            <a:ext cx="11055096" cy="246888"/>
          </a:xfrm>
          <a:prstGeom prst="rect">
            <a:avLst/>
          </a:prstGeom>
          <a:noFill/>
        </p:spPr>
        <p:txBody>
          <a:bodyPr wrap="square" lIns="45720" tIns="22860" rIns="45720" bIns="22860">
            <a:spAutoFit/>
          </a:bodyPr>
          <a:lstStyle/>
          <a:p>
            <a:r>
              <a:rPr sz="1100" b="1" i="0">
                <a:solidFill>
                  <a:srgbClr val="64748B"/>
                </a:solidFill>
                <a:latin typeface="Arial"/>
              </a:rPr>
              <a:t>Real program (made by hand)</a:t>
            </a:r>
          </a:p>
        </p:txBody>
      </p:sp>
      <p:pic>
        <p:nvPicPr>
          <p:cNvPr id="5" name="Picture 4" descr="fig_t2_real.png"/>
          <p:cNvPicPr>
            <a:picLocks noChangeAspect="1"/>
          </p:cNvPicPr>
          <p:nvPr/>
        </p:nvPicPr>
        <p:blipFill>
          <a:blip r:embed="rId2"/>
          <a:stretch>
            <a:fillRect/>
          </a:stretch>
        </p:blipFill>
        <p:spPr>
          <a:xfrm>
            <a:off x="566928" y="1371600"/>
            <a:ext cx="11055096" cy="1572768"/>
          </a:xfrm>
          <a:prstGeom prst="rect">
            <a:avLst/>
          </a:prstGeom>
        </p:spPr>
      </p:pic>
      <p:sp>
        <p:nvSpPr>
          <p:cNvPr id="6" name="TextBox 5"/>
          <p:cNvSpPr txBox="1"/>
          <p:nvPr/>
        </p:nvSpPr>
        <p:spPr>
          <a:xfrm>
            <a:off x="566928" y="2944368"/>
            <a:ext cx="11055096" cy="246888"/>
          </a:xfrm>
          <a:prstGeom prst="rect">
            <a:avLst/>
          </a:prstGeom>
          <a:noFill/>
        </p:spPr>
        <p:txBody>
          <a:bodyPr wrap="square" lIns="45720" tIns="22860" rIns="45720" bIns="22860">
            <a:spAutoFit/>
          </a:bodyPr>
          <a:lstStyle/>
          <a:p>
            <a:r>
              <a:rPr sz="1100" b="1" i="0">
                <a:solidFill>
                  <a:srgbClr val="0284C7"/>
                </a:solidFill>
                <a:latin typeface="Arial"/>
              </a:rPr>
              <a:t>This system: equal weights, time limit 90 s</a:t>
            </a:r>
          </a:p>
        </p:txBody>
      </p:sp>
      <p:pic>
        <p:nvPicPr>
          <p:cNvPr id="7" name="Picture 6" descr="fig_t2_ours.png"/>
          <p:cNvPicPr>
            <a:picLocks noChangeAspect="1"/>
          </p:cNvPicPr>
          <p:nvPr/>
        </p:nvPicPr>
        <p:blipFill>
          <a:blip r:embed="rId3"/>
          <a:stretch>
            <a:fillRect/>
          </a:stretch>
        </p:blipFill>
        <p:spPr>
          <a:xfrm>
            <a:off x="566928" y="3172968"/>
            <a:ext cx="11055096" cy="1572768"/>
          </a:xfrm>
          <a:prstGeom prst="rect">
            <a:avLst/>
          </a:prstGeom>
        </p:spPr>
      </p:pic>
      <p:graphicFrame>
        <p:nvGraphicFramePr>
          <p:cNvPr id="8" name="Table 7"/>
          <p:cNvGraphicFramePr>
            <a:graphicFrameLocks noGrp="1"/>
          </p:cNvGraphicFramePr>
          <p:nvPr/>
        </p:nvGraphicFramePr>
        <p:xfrm>
          <a:off x="566928" y="4837176"/>
          <a:ext cx="11055091" cy="1353312"/>
        </p:xfrm>
        <a:graphic>
          <a:graphicData uri="http://schemas.openxmlformats.org/drawingml/2006/table">
            <a:tbl>
              <a:tblPr>
                <a:tableStyleId>{2D5ABB26-0587-4C30-8999-92F81FD0307C}</a:tableStyleId>
              </a:tblPr>
              <a:tblGrid>
                <a:gridCol w="1745541">
                  <a:extLst>
                    <a:ext uri="{9D8B030D-6E8A-4147-A177-3AD203B41FA5}">
                      <a16:colId xmlns:a16="http://schemas.microsoft.com/office/drawing/2014/main" val="20000"/>
                    </a:ext>
                  </a:extLst>
                </a:gridCol>
                <a:gridCol w="1260668">
                  <a:extLst>
                    <a:ext uri="{9D8B030D-6E8A-4147-A177-3AD203B41FA5}">
                      <a16:colId xmlns:a16="http://schemas.microsoft.com/office/drawing/2014/main" val="20001"/>
                    </a:ext>
                  </a:extLst>
                </a:gridCol>
                <a:gridCol w="1066719">
                  <a:extLst>
                    <a:ext uri="{9D8B030D-6E8A-4147-A177-3AD203B41FA5}">
                      <a16:colId xmlns:a16="http://schemas.microsoft.com/office/drawing/2014/main" val="20002"/>
                    </a:ext>
                  </a:extLst>
                </a:gridCol>
                <a:gridCol w="1163694">
                  <a:extLst>
                    <a:ext uri="{9D8B030D-6E8A-4147-A177-3AD203B41FA5}">
                      <a16:colId xmlns:a16="http://schemas.microsoft.com/office/drawing/2014/main" val="20003"/>
                    </a:ext>
                  </a:extLst>
                </a:gridCol>
                <a:gridCol w="1163694">
                  <a:extLst>
                    <a:ext uri="{9D8B030D-6E8A-4147-A177-3AD203B41FA5}">
                      <a16:colId xmlns:a16="http://schemas.microsoft.com/office/drawing/2014/main" val="20004"/>
                    </a:ext>
                  </a:extLst>
                </a:gridCol>
                <a:gridCol w="1357643">
                  <a:extLst>
                    <a:ext uri="{9D8B030D-6E8A-4147-A177-3AD203B41FA5}">
                      <a16:colId xmlns:a16="http://schemas.microsoft.com/office/drawing/2014/main" val="20005"/>
                    </a:ext>
                  </a:extLst>
                </a:gridCol>
                <a:gridCol w="1454617">
                  <a:extLst>
                    <a:ext uri="{9D8B030D-6E8A-4147-A177-3AD203B41FA5}">
                      <a16:colId xmlns:a16="http://schemas.microsoft.com/office/drawing/2014/main" val="20006"/>
                    </a:ext>
                  </a:extLst>
                </a:gridCol>
                <a:gridCol w="1842515">
                  <a:extLst>
                    <a:ext uri="{9D8B030D-6E8A-4147-A177-3AD203B41FA5}">
                      <a16:colId xmlns:a16="http://schemas.microsoft.com/office/drawing/2014/main" val="20007"/>
                    </a:ext>
                  </a:extLst>
                </a:gridCol>
              </a:tblGrid>
              <a:tr h="338328">
                <a:tc>
                  <a:txBody>
                    <a:bodyPr/>
                    <a:lstStyle/>
                    <a:p>
                      <a:endParaRPr/>
                    </a:p>
                  </a:txBody>
                  <a:tcPr marL="64008" marR="64008" marT="27432" marB="27432" anchor="ctr">
                    <a:solidFill>
                      <a:srgbClr val="0F172A"/>
                    </a:solidFill>
                  </a:tcPr>
                </a:tc>
                <a:tc>
                  <a:txBody>
                    <a:bodyPr/>
                    <a:lstStyle/>
                    <a:p>
                      <a:r>
                        <a:rPr sz="1100" b="1">
                          <a:solidFill>
                            <a:srgbClr val="FFFFFF"/>
                          </a:solidFill>
                          <a:latin typeface="Arial"/>
                        </a:rPr>
                        <a:t>A continuity</a:t>
                      </a:r>
                    </a:p>
                  </a:txBody>
                  <a:tcPr marL="64008" marR="64008" marT="27432" marB="27432" anchor="ctr">
                    <a:solidFill>
                      <a:srgbClr val="0F172A"/>
                    </a:solidFill>
                  </a:tcPr>
                </a:tc>
                <a:tc>
                  <a:txBody>
                    <a:bodyPr/>
                    <a:lstStyle/>
                    <a:p>
                      <a:r>
                        <a:rPr sz="1100" b="1">
                          <a:solidFill>
                            <a:srgbClr val="FFFFFF"/>
                          </a:solidFill>
                          <a:latin typeface="Arial"/>
                        </a:rPr>
                        <a:t>B1 pairs</a:t>
                      </a:r>
                    </a:p>
                  </a:txBody>
                  <a:tcPr marL="64008" marR="64008" marT="27432" marB="27432" anchor="ctr">
                    <a:solidFill>
                      <a:srgbClr val="0F172A"/>
                    </a:solidFill>
                  </a:tcPr>
                </a:tc>
                <a:tc>
                  <a:txBody>
                    <a:bodyPr/>
                    <a:lstStyle/>
                    <a:p>
                      <a:r>
                        <a:rPr sz="1100" b="1">
                          <a:solidFill>
                            <a:srgbClr val="FFFFFF"/>
                          </a:solidFill>
                          <a:latin typeface="Arial"/>
                        </a:rPr>
                        <a:t>B penalty</a:t>
                      </a:r>
                    </a:p>
                  </a:txBody>
                  <a:tcPr marL="64008" marR="64008" marT="27432" marB="27432" anchor="ctr">
                    <a:solidFill>
                      <a:srgbClr val="0F172A"/>
                    </a:solidFill>
                  </a:tcPr>
                </a:tc>
                <a:tc>
                  <a:txBody>
                    <a:bodyPr/>
                    <a:lstStyle/>
                    <a:p>
                      <a:r>
                        <a:rPr sz="1100" b="1">
                          <a:solidFill>
                            <a:srgbClr val="FFFFFF"/>
                          </a:solidFill>
                          <a:latin typeface="Arial"/>
                        </a:rPr>
                        <a:t>B2 overlaps</a:t>
                      </a:r>
                    </a:p>
                  </a:txBody>
                  <a:tcPr marL="64008" marR="64008" marT="27432" marB="27432" anchor="ctr">
                    <a:solidFill>
                      <a:srgbClr val="0F172A"/>
                    </a:solidFill>
                  </a:tcPr>
                </a:tc>
                <a:tc>
                  <a:txBody>
                    <a:bodyPr/>
                    <a:lstStyle/>
                    <a:p>
                      <a:r>
                        <a:rPr sz="1100" b="1">
                          <a:solidFill>
                            <a:srgbClr val="FFFFFF"/>
                          </a:solidFill>
                          <a:latin typeface="Arial"/>
                        </a:rPr>
                        <a:t>C empty seats</a:t>
                      </a:r>
                    </a:p>
                  </a:txBody>
                  <a:tcPr marL="64008" marR="64008" marT="27432" marB="27432" anchor="ctr">
                    <a:solidFill>
                      <a:srgbClr val="0F172A"/>
                    </a:solidFill>
                  </a:tcPr>
                </a:tc>
                <a:tc>
                  <a:txBody>
                    <a:bodyPr/>
                    <a:lstStyle/>
                    <a:p>
                      <a:r>
                        <a:rPr sz="1100" b="1">
                          <a:solidFill>
                            <a:srgbClr val="FFFFFF"/>
                          </a:solidFill>
                          <a:latin typeface="Arial"/>
                        </a:rPr>
                        <a:t>Score (1 : 1 : 1)</a:t>
                      </a:r>
                    </a:p>
                  </a:txBody>
                  <a:tcPr marL="64008" marR="64008" marT="27432" marB="27432" anchor="ctr">
                    <a:solidFill>
                      <a:srgbClr val="0F172A"/>
                    </a:solidFill>
                  </a:tcPr>
                </a:tc>
                <a:tc>
                  <a:txBody>
                    <a:bodyPr/>
                    <a:lstStyle/>
                    <a:p>
                      <a:r>
                        <a:rPr sz="1100" b="1">
                          <a:solidFill>
                            <a:srgbClr val="FFFFFF"/>
                          </a:solidFill>
                          <a:latin typeface="Arial"/>
                        </a:rPr>
                        <a:t>Time</a:t>
                      </a:r>
                    </a:p>
                  </a:txBody>
                  <a:tcPr marL="64008" marR="64008" marT="27432" marB="27432" anchor="ctr">
                    <a:solidFill>
                      <a:srgbClr val="0F172A"/>
                    </a:solidFill>
                  </a:tcPr>
                </a:tc>
                <a:extLst>
                  <a:ext uri="{0D108BD9-81ED-4DB2-BD59-A6C34878D82A}">
                    <a16:rowId xmlns:a16="http://schemas.microsoft.com/office/drawing/2014/main" val="10000"/>
                  </a:ext>
                </a:extLst>
              </a:tr>
              <a:tr h="338328">
                <a:tc>
                  <a:txBody>
                    <a:bodyPr/>
                    <a:lstStyle/>
                    <a:p>
                      <a:r>
                        <a:rPr sz="1100" b="1">
                          <a:solidFill>
                            <a:srgbClr val="0F172A"/>
                          </a:solidFill>
                          <a:latin typeface="Arial"/>
                        </a:rPr>
                        <a:t>Real program</a:t>
                      </a:r>
                    </a:p>
                  </a:txBody>
                  <a:tcPr marL="64008" marR="64008" marT="27432" marB="27432" anchor="ctr">
                    <a:solidFill>
                      <a:srgbClr val="F8FAFC"/>
                    </a:solidFill>
                  </a:tcPr>
                </a:tc>
                <a:tc>
                  <a:txBody>
                    <a:bodyPr/>
                    <a:lstStyle/>
                    <a:p>
                      <a:r>
                        <a:rPr sz="1100" b="0">
                          <a:solidFill>
                            <a:srgbClr val="0F172A"/>
                          </a:solidFill>
                          <a:latin typeface="Arial"/>
                        </a:rPr>
                        <a:t>73</a:t>
                      </a:r>
                    </a:p>
                  </a:txBody>
                  <a:tcPr marL="64008" marR="64008" marT="27432" marB="27432" anchor="ctr">
                    <a:solidFill>
                      <a:srgbClr val="F8FAFC"/>
                    </a:solidFill>
                  </a:tcPr>
                </a:tc>
                <a:tc>
                  <a:txBody>
                    <a:bodyPr/>
                    <a:lstStyle/>
                    <a:p>
                      <a:r>
                        <a:rPr sz="1100" b="0">
                          <a:solidFill>
                            <a:srgbClr val="0F172A"/>
                          </a:solidFill>
                          <a:latin typeface="Arial"/>
                        </a:rPr>
                        <a:t>35</a:t>
                      </a:r>
                    </a:p>
                  </a:txBody>
                  <a:tcPr marL="64008" marR="64008" marT="27432" marB="27432" anchor="ctr">
                    <a:solidFill>
                      <a:srgbClr val="F8FAFC"/>
                    </a:solidFill>
                  </a:tcPr>
                </a:tc>
                <a:tc>
                  <a:txBody>
                    <a:bodyPr/>
                    <a:lstStyle/>
                    <a:p>
                      <a:r>
                        <a:rPr sz="1100" b="0">
                          <a:solidFill>
                            <a:srgbClr val="0F172A"/>
                          </a:solidFill>
                          <a:latin typeface="Arial"/>
                        </a:rPr>
                        <a:t>51</a:t>
                      </a:r>
                    </a:p>
                  </a:txBody>
                  <a:tcPr marL="64008" marR="64008" marT="27432" marB="27432" anchor="ctr">
                    <a:solidFill>
                      <a:srgbClr val="F8FAFC"/>
                    </a:solidFill>
                  </a:tcPr>
                </a:tc>
                <a:tc>
                  <a:txBody>
                    <a:bodyPr/>
                    <a:lstStyle/>
                    <a:p>
                      <a:r>
                        <a:rPr sz="1100" b="0">
                          <a:solidFill>
                            <a:srgbClr val="0F172A"/>
                          </a:solidFill>
                          <a:latin typeface="Arial"/>
                        </a:rPr>
                        <a:t>0</a:t>
                      </a:r>
                    </a:p>
                  </a:txBody>
                  <a:tcPr marL="64008" marR="64008" marT="27432" marB="27432" anchor="ctr">
                    <a:solidFill>
                      <a:srgbClr val="F8FAFC"/>
                    </a:solidFill>
                  </a:tcPr>
                </a:tc>
                <a:tc>
                  <a:txBody>
                    <a:bodyPr/>
                    <a:lstStyle/>
                    <a:p>
                      <a:r>
                        <a:rPr sz="1100" b="0">
                          <a:solidFill>
                            <a:srgbClr val="0F172A"/>
                          </a:solidFill>
                          <a:latin typeface="Arial"/>
                        </a:rPr>
                        <a:t>1,640</a:t>
                      </a:r>
                    </a:p>
                  </a:txBody>
                  <a:tcPr marL="64008" marR="64008" marT="27432" marB="27432" anchor="ctr">
                    <a:solidFill>
                      <a:srgbClr val="F8FAFC"/>
                    </a:solidFill>
                  </a:tcPr>
                </a:tc>
                <a:tc>
                  <a:txBody>
                    <a:bodyPr/>
                    <a:lstStyle/>
                    <a:p>
                      <a:r>
                        <a:rPr sz="1100" b="0">
                          <a:solidFill>
                            <a:srgbClr val="0F172A"/>
                          </a:solidFill>
                          <a:latin typeface="Arial"/>
                        </a:rPr>
                        <a:t>22.87</a:t>
                      </a:r>
                    </a:p>
                  </a:txBody>
                  <a:tcPr marL="64008" marR="64008" marT="27432" marB="27432" anchor="ctr">
                    <a:solidFill>
                      <a:srgbClr val="F8FAFC"/>
                    </a:solidFill>
                  </a:tcPr>
                </a:tc>
                <a:tc>
                  <a:txBody>
                    <a:bodyPr/>
                    <a:lstStyle/>
                    <a:p>
                      <a:r>
                        <a:rPr sz="1100" b="0">
                          <a:solidFill>
                            <a:srgbClr val="0F172A"/>
                          </a:solidFill>
                          <a:latin typeface="Arial"/>
                        </a:rPr>
                        <a:t>—</a:t>
                      </a:r>
                    </a:p>
                  </a:txBody>
                  <a:tcPr marL="64008" marR="64008" marT="27432" marB="27432" anchor="ctr">
                    <a:solidFill>
                      <a:srgbClr val="F8FAFC"/>
                    </a:solidFill>
                  </a:tcPr>
                </a:tc>
                <a:extLst>
                  <a:ext uri="{0D108BD9-81ED-4DB2-BD59-A6C34878D82A}">
                    <a16:rowId xmlns:a16="http://schemas.microsoft.com/office/drawing/2014/main" val="10001"/>
                  </a:ext>
                </a:extLst>
              </a:tr>
              <a:tr h="338328">
                <a:tc>
                  <a:txBody>
                    <a:bodyPr/>
                    <a:lstStyle/>
                    <a:p>
                      <a:r>
                        <a:rPr sz="1100" b="1">
                          <a:solidFill>
                            <a:srgbClr val="0F172A"/>
                          </a:solidFill>
                          <a:latin typeface="Arial"/>
                        </a:rPr>
                        <a:t>This system</a:t>
                      </a:r>
                    </a:p>
                  </a:txBody>
                  <a:tcPr marL="64008" marR="64008" marT="27432" marB="27432" anchor="ctr">
                    <a:solidFill>
                      <a:srgbClr val="FFFFFF"/>
                    </a:solidFill>
                  </a:tcPr>
                </a:tc>
                <a:tc>
                  <a:txBody>
                    <a:bodyPr/>
                    <a:lstStyle/>
                    <a:p>
                      <a:r>
                        <a:rPr sz="1100" b="0">
                          <a:solidFill>
                            <a:srgbClr val="0F172A"/>
                          </a:solidFill>
                          <a:latin typeface="Arial"/>
                        </a:rPr>
                        <a:t>72</a:t>
                      </a:r>
                    </a:p>
                  </a:txBody>
                  <a:tcPr marL="64008" marR="64008" marT="27432" marB="27432" anchor="ctr">
                    <a:solidFill>
                      <a:srgbClr val="FFFFFF"/>
                    </a:solidFill>
                  </a:tcPr>
                </a:tc>
                <a:tc>
                  <a:txBody>
                    <a:bodyPr/>
                    <a:lstStyle/>
                    <a:p>
                      <a:r>
                        <a:rPr sz="1100" b="0">
                          <a:solidFill>
                            <a:srgbClr val="0F172A"/>
                          </a:solidFill>
                          <a:latin typeface="Arial"/>
                        </a:rPr>
                        <a:t>25</a:t>
                      </a:r>
                    </a:p>
                  </a:txBody>
                  <a:tcPr marL="64008" marR="64008" marT="27432" marB="27432" anchor="ctr">
                    <a:solidFill>
                      <a:srgbClr val="FFFFFF"/>
                    </a:solidFill>
                  </a:tcPr>
                </a:tc>
                <a:tc>
                  <a:txBody>
                    <a:bodyPr/>
                    <a:lstStyle/>
                    <a:p>
                      <a:r>
                        <a:rPr sz="1100" b="0">
                          <a:solidFill>
                            <a:srgbClr val="0F172A"/>
                          </a:solidFill>
                          <a:latin typeface="Arial"/>
                        </a:rPr>
                        <a:t>39</a:t>
                      </a:r>
                    </a:p>
                  </a:txBody>
                  <a:tcPr marL="64008" marR="64008" marT="27432" marB="27432" anchor="ctr">
                    <a:solidFill>
                      <a:srgbClr val="FFFFFF"/>
                    </a:solidFill>
                  </a:tcPr>
                </a:tc>
                <a:tc>
                  <a:txBody>
                    <a:bodyPr/>
                    <a:lstStyle/>
                    <a:p>
                      <a:r>
                        <a:rPr sz="1100" b="0">
                          <a:solidFill>
                            <a:srgbClr val="0F172A"/>
                          </a:solidFill>
                          <a:latin typeface="Arial"/>
                        </a:rPr>
                        <a:t>0</a:t>
                      </a:r>
                    </a:p>
                  </a:txBody>
                  <a:tcPr marL="64008" marR="64008" marT="27432" marB="27432" anchor="ctr">
                    <a:solidFill>
                      <a:srgbClr val="FFFFFF"/>
                    </a:solidFill>
                  </a:tcPr>
                </a:tc>
                <a:tc>
                  <a:txBody>
                    <a:bodyPr/>
                    <a:lstStyle/>
                    <a:p>
                      <a:r>
                        <a:rPr sz="1100" b="0">
                          <a:solidFill>
                            <a:srgbClr val="0F172A"/>
                          </a:solidFill>
                          <a:latin typeface="Arial"/>
                        </a:rPr>
                        <a:t>1,640</a:t>
                      </a:r>
                    </a:p>
                  </a:txBody>
                  <a:tcPr marL="64008" marR="64008" marT="27432" marB="27432" anchor="ctr">
                    <a:solidFill>
                      <a:srgbClr val="FFFFFF"/>
                    </a:solidFill>
                  </a:tcPr>
                </a:tc>
                <a:tc>
                  <a:txBody>
                    <a:bodyPr/>
                    <a:lstStyle/>
                    <a:p>
                      <a:r>
                        <a:rPr sz="1100" b="0">
                          <a:solidFill>
                            <a:srgbClr val="0F172A"/>
                          </a:solidFill>
                          <a:latin typeface="Arial"/>
                        </a:rPr>
                        <a:t>23.48</a:t>
                      </a:r>
                    </a:p>
                  </a:txBody>
                  <a:tcPr marL="64008" marR="64008" marT="27432" marB="27432" anchor="ctr">
                    <a:solidFill>
                      <a:srgbClr val="FFFFFF"/>
                    </a:solidFill>
                  </a:tcPr>
                </a:tc>
                <a:tc>
                  <a:txBody>
                    <a:bodyPr/>
                    <a:lstStyle/>
                    <a:p>
                      <a:r>
                        <a:rPr sz="1100" b="0">
                          <a:solidFill>
                            <a:srgbClr val="0F172A"/>
                          </a:solidFill>
                          <a:latin typeface="Arial"/>
                        </a:rPr>
                        <a:t>88.8 s (limit 90 s)</a:t>
                      </a:r>
                    </a:p>
                  </a:txBody>
                  <a:tcPr marL="64008" marR="64008" marT="27432" marB="27432" anchor="ctr">
                    <a:solidFill>
                      <a:srgbClr val="FFFFFF"/>
                    </a:solidFill>
                  </a:tcPr>
                </a:tc>
                <a:extLst>
                  <a:ext uri="{0D108BD9-81ED-4DB2-BD59-A6C34878D82A}">
                    <a16:rowId xmlns:a16="http://schemas.microsoft.com/office/drawing/2014/main" val="10002"/>
                  </a:ext>
                </a:extLst>
              </a:tr>
              <a:tr h="338328">
                <a:tc>
                  <a:txBody>
                    <a:bodyPr/>
                    <a:lstStyle/>
                    <a:p>
                      <a:r>
                        <a:rPr sz="1100" b="1">
                          <a:solidFill>
                            <a:srgbClr val="0F172A"/>
                          </a:solidFill>
                          <a:latin typeface="Arial"/>
                        </a:rPr>
                        <a:t>Difference</a:t>
                      </a:r>
                    </a:p>
                  </a:txBody>
                  <a:tcPr marL="64008" marR="64008" marT="27432" marB="27432" anchor="ctr">
                    <a:solidFill>
                      <a:srgbClr val="F8FAFC"/>
                    </a:solidFill>
                  </a:tcPr>
                </a:tc>
                <a:tc>
                  <a:txBody>
                    <a:bodyPr/>
                    <a:lstStyle/>
                    <a:p>
                      <a:r>
                        <a:rPr sz="1100" b="0">
                          <a:solidFill>
                            <a:srgbClr val="0F172A"/>
                          </a:solidFill>
                          <a:latin typeface="Arial"/>
                        </a:rPr>
                        <a:t>−1.4%</a:t>
                      </a:r>
                    </a:p>
                  </a:txBody>
                  <a:tcPr marL="64008" marR="64008" marT="27432" marB="27432" anchor="ctr">
                    <a:solidFill>
                      <a:srgbClr val="F8FAFC"/>
                    </a:solidFill>
                  </a:tcPr>
                </a:tc>
                <a:tc>
                  <a:txBody>
                    <a:bodyPr/>
                    <a:lstStyle/>
                    <a:p>
                      <a:r>
                        <a:rPr sz="1100" b="0">
                          <a:solidFill>
                            <a:srgbClr val="0F172A"/>
                          </a:solidFill>
                          <a:latin typeface="Arial"/>
                        </a:rPr>
                        <a:t>−29%</a:t>
                      </a:r>
                    </a:p>
                  </a:txBody>
                  <a:tcPr marL="64008" marR="64008" marT="27432" marB="27432" anchor="ctr">
                    <a:solidFill>
                      <a:srgbClr val="F8FAFC"/>
                    </a:solidFill>
                  </a:tcPr>
                </a:tc>
                <a:tc>
                  <a:txBody>
                    <a:bodyPr/>
                    <a:lstStyle/>
                    <a:p>
                      <a:r>
                        <a:rPr sz="1100" b="0">
                          <a:solidFill>
                            <a:srgbClr val="0F172A"/>
                          </a:solidFill>
                          <a:latin typeface="Arial"/>
                        </a:rPr>
                        <a:t>−24%</a:t>
                      </a:r>
                    </a:p>
                  </a:txBody>
                  <a:tcPr marL="64008" marR="64008" marT="27432" marB="27432" anchor="ctr">
                    <a:solidFill>
                      <a:srgbClr val="F8FAFC"/>
                    </a:solidFill>
                  </a:tcPr>
                </a:tc>
                <a:tc>
                  <a:txBody>
                    <a:bodyPr/>
                    <a:lstStyle/>
                    <a:p>
                      <a:r>
                        <a:rPr sz="1100" b="0">
                          <a:solidFill>
                            <a:srgbClr val="0F172A"/>
                          </a:solidFill>
                          <a:latin typeface="Arial"/>
                        </a:rPr>
                        <a:t>±0</a:t>
                      </a:r>
                    </a:p>
                  </a:txBody>
                  <a:tcPr marL="64008" marR="64008" marT="27432" marB="27432" anchor="ctr">
                    <a:solidFill>
                      <a:srgbClr val="F8FAFC"/>
                    </a:solidFill>
                  </a:tcPr>
                </a:tc>
                <a:tc>
                  <a:txBody>
                    <a:bodyPr/>
                    <a:lstStyle/>
                    <a:p>
                      <a:r>
                        <a:rPr sz="1100" b="0">
                          <a:solidFill>
                            <a:srgbClr val="0F172A"/>
                          </a:solidFill>
                          <a:latin typeface="Arial"/>
                        </a:rPr>
                        <a:t>±0%</a:t>
                      </a:r>
                    </a:p>
                  </a:txBody>
                  <a:tcPr marL="64008" marR="64008" marT="27432" marB="27432" anchor="ctr">
                    <a:solidFill>
                      <a:srgbClr val="F8FAFC"/>
                    </a:solidFill>
                  </a:tcPr>
                </a:tc>
                <a:tc>
                  <a:txBody>
                    <a:bodyPr/>
                    <a:lstStyle/>
                    <a:p>
                      <a:r>
                        <a:rPr sz="1100" b="0">
                          <a:solidFill>
                            <a:srgbClr val="0F172A"/>
                          </a:solidFill>
                          <a:latin typeface="Arial"/>
                        </a:rPr>
                        <a:t>+0.61</a:t>
                      </a:r>
                    </a:p>
                  </a:txBody>
                  <a:tcPr marL="64008" marR="64008" marT="27432" marB="27432" anchor="ctr">
                    <a:solidFill>
                      <a:srgbClr val="F8FAFC"/>
                    </a:solidFill>
                  </a:tcPr>
                </a:tc>
                <a:tc>
                  <a:txBody>
                    <a:bodyPr/>
                    <a:lstStyle/>
                    <a:p>
                      <a:endParaRPr/>
                    </a:p>
                  </a:txBody>
                  <a:tcPr marL="64008" marR="64008" marT="27432" marB="27432" anchor="ctr">
                    <a:solidFill>
                      <a:srgbClr val="F8FAFC"/>
                    </a:solidFill>
                  </a:tcPr>
                </a:tc>
                <a:extLst>
                  <a:ext uri="{0D108BD9-81ED-4DB2-BD59-A6C34878D82A}">
                    <a16:rowId xmlns:a16="http://schemas.microsoft.com/office/drawing/2014/main" val="10003"/>
                  </a:ext>
                </a:extLst>
              </a:tr>
            </a:tbl>
          </a:graphicData>
        </a:graphic>
      </p:graphicFrame>
      <p:sp>
        <p:nvSpPr>
          <p:cNvPr id="10" name="TextBox 9"/>
          <p:cNvSpPr txBox="1"/>
          <p:nvPr/>
        </p:nvSpPr>
        <p:spPr>
          <a:xfrm>
            <a:off x="11164824" y="6492240"/>
            <a:ext cx="457200" cy="219456"/>
          </a:xfrm>
          <a:prstGeom prst="rect">
            <a:avLst/>
          </a:prstGeom>
          <a:noFill/>
          <a:ln/>
        </p:spPr>
        <p:txBody>
          <a:bodyPr wrap="square" lIns="0" tIns="0" rIns="0" bIns="0" rtlCol="0" anchor="ctr"/>
          <a:lstStyle/>
          <a:p>
            <a:pPr marL="0" indent="0" algn="r">
              <a:buNone/>
            </a:pPr>
            <a:fld id="{8B2C3E4A-5D6F-4A1B-9C2D-3E4F5A6B7C8D}" type="slidenum">
              <a:rPr lang="en-US" altLang="ja-JP" sz="1000" dirty="0">
                <a:solidFill>
                  <a:srgbClr val="94A3B8"/>
                </a:solidFill>
                <a:latin typeface="Arial" pitchFamily="34" charset="0"/>
                <a:ea typeface="Arial" pitchFamily="34" charset="-122"/>
                <a:cs typeface="Arial" pitchFamily="34" charset="-120"/>
              </a:rPr>
              <a:t>37</a:t>
            </a:fld>
            <a:endParaRPr lang="en-US" altLang="ja-JP"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5096" cy="237744"/>
          </a:xfrm>
          <a:prstGeom prst="rect">
            <a:avLst/>
          </a:prstGeom>
          <a:noFill/>
        </p:spPr>
        <p:txBody>
          <a:bodyPr wrap="square" lIns="45720" tIns="22860" rIns="45720" bIns="22860">
            <a:spAutoFit/>
          </a:bodyPr>
          <a:lstStyle/>
          <a:p>
            <a:r>
              <a:rPr sz="1200" b="1" i="0">
                <a:solidFill>
                  <a:srgbClr val="0284C7"/>
                </a:solidFill>
                <a:latin typeface="Arial"/>
              </a:rPr>
              <a:t>APPENDIX   A12</a:t>
            </a:r>
          </a:p>
        </p:txBody>
      </p:sp>
      <p:sp>
        <p:nvSpPr>
          <p:cNvPr id="3" name="TextBox 2"/>
          <p:cNvSpPr txBox="1"/>
          <p:nvPr/>
        </p:nvSpPr>
        <p:spPr>
          <a:xfrm>
            <a:off x="566928" y="566928"/>
            <a:ext cx="11055096" cy="566928"/>
          </a:xfrm>
          <a:prstGeom prst="rect">
            <a:avLst/>
          </a:prstGeom>
          <a:noFill/>
        </p:spPr>
        <p:txBody>
          <a:bodyPr wrap="square" lIns="45720" tIns="22860" rIns="45720" bIns="22860">
            <a:spAutoFit/>
          </a:bodyPr>
          <a:lstStyle/>
          <a:p>
            <a:r>
              <a:rPr sz="2600" b="1" i="0">
                <a:solidFill>
                  <a:srgbClr val="0F172A"/>
                </a:solidFill>
                <a:latin typeface="Arial"/>
              </a:rPr>
              <a:t>PuLP / CBC, and Why HiGHS May Be Faster</a:t>
            </a:r>
          </a:p>
        </p:txBody>
      </p:sp>
      <p:sp>
        <p:nvSpPr>
          <p:cNvPr id="4" name="Rounded Rectangle 3"/>
          <p:cNvSpPr/>
          <p:nvPr/>
        </p:nvSpPr>
        <p:spPr>
          <a:xfrm>
            <a:off x="566928" y="1280160"/>
            <a:ext cx="3563112" cy="146304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04088" y="1325880"/>
            <a:ext cx="3288792" cy="365760"/>
          </a:xfrm>
          <a:prstGeom prst="rect">
            <a:avLst/>
          </a:prstGeom>
          <a:noFill/>
        </p:spPr>
        <p:txBody>
          <a:bodyPr wrap="square" lIns="45720" tIns="22860" rIns="45720" bIns="22860">
            <a:spAutoFit/>
          </a:bodyPr>
          <a:lstStyle/>
          <a:p>
            <a:r>
              <a:rPr sz="1800" b="1" i="0">
                <a:solidFill>
                  <a:srgbClr val="0284C7"/>
                </a:solidFill>
                <a:latin typeface="Arial"/>
              </a:rPr>
              <a:t>PuLP</a:t>
            </a:r>
          </a:p>
        </p:txBody>
      </p:sp>
      <p:sp>
        <p:nvSpPr>
          <p:cNvPr id="6" name="TextBox 5"/>
          <p:cNvSpPr txBox="1"/>
          <p:nvPr/>
        </p:nvSpPr>
        <p:spPr>
          <a:xfrm>
            <a:off x="704088" y="1691640"/>
            <a:ext cx="3288792" cy="1005840"/>
          </a:xfrm>
          <a:prstGeom prst="rect">
            <a:avLst/>
          </a:prstGeom>
          <a:noFill/>
        </p:spPr>
        <p:txBody>
          <a:bodyPr wrap="square" lIns="45720" tIns="22860" rIns="45720" bIns="22860">
            <a:spAutoFit/>
          </a:bodyPr>
          <a:lstStyle/>
          <a:p>
            <a:r>
              <a:rPr sz="1200" b="0" i="0">
                <a:solidFill>
                  <a:srgbClr val="0F172A"/>
                </a:solidFill>
                <a:latin typeface="Arial"/>
              </a:rPr>
              <a:t>Python library.</a:t>
            </a:r>
          </a:p>
          <a:p>
            <a:r>
              <a:rPr sz="1200" b="0" i="0">
                <a:solidFill>
                  <a:srgbClr val="0F172A"/>
                </a:solidFill>
                <a:latin typeface="Arial"/>
              </a:rPr>
              <a:t>We write the variables,</a:t>
            </a:r>
          </a:p>
          <a:p>
            <a:r>
              <a:rPr sz="1200" b="0" i="0">
                <a:solidFill>
                  <a:srgbClr val="0F172A"/>
                </a:solidFill>
                <a:latin typeface="Arial"/>
              </a:rPr>
              <a:t>rules and score here.</a:t>
            </a:r>
          </a:p>
        </p:txBody>
      </p:sp>
      <p:sp>
        <p:nvSpPr>
          <p:cNvPr id="7" name="Rounded Rectangle 6"/>
          <p:cNvSpPr/>
          <p:nvPr/>
        </p:nvSpPr>
        <p:spPr>
          <a:xfrm>
            <a:off x="4312920" y="1280160"/>
            <a:ext cx="3563112" cy="146304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450080" y="1325880"/>
            <a:ext cx="3288792" cy="365760"/>
          </a:xfrm>
          <a:prstGeom prst="rect">
            <a:avLst/>
          </a:prstGeom>
          <a:noFill/>
        </p:spPr>
        <p:txBody>
          <a:bodyPr wrap="square" lIns="45720" tIns="22860" rIns="45720" bIns="22860">
            <a:spAutoFit/>
          </a:bodyPr>
          <a:lstStyle/>
          <a:p>
            <a:r>
              <a:rPr sz="1800" b="1" i="0">
                <a:solidFill>
                  <a:srgbClr val="0284C7"/>
                </a:solidFill>
                <a:latin typeface="Arial"/>
              </a:rPr>
              <a:t>CBC</a:t>
            </a:r>
          </a:p>
        </p:txBody>
      </p:sp>
      <p:sp>
        <p:nvSpPr>
          <p:cNvPr id="9" name="TextBox 8"/>
          <p:cNvSpPr txBox="1"/>
          <p:nvPr/>
        </p:nvSpPr>
        <p:spPr>
          <a:xfrm>
            <a:off x="4450080" y="1691640"/>
            <a:ext cx="3288792" cy="1005840"/>
          </a:xfrm>
          <a:prstGeom prst="rect">
            <a:avLst/>
          </a:prstGeom>
          <a:noFill/>
        </p:spPr>
        <p:txBody>
          <a:bodyPr wrap="square" lIns="45720" tIns="22860" rIns="45720" bIns="22860">
            <a:spAutoFit/>
          </a:bodyPr>
          <a:lstStyle/>
          <a:p>
            <a:r>
              <a:rPr sz="1200" b="0" i="0">
                <a:solidFill>
                  <a:srgbClr val="0F172A"/>
                </a:solidFill>
                <a:latin typeface="Arial"/>
              </a:rPr>
              <a:t>Free solver bundled with PuLP.</a:t>
            </a:r>
          </a:p>
          <a:p>
            <a:r>
              <a:rPr sz="1200" b="0" i="0">
                <a:solidFill>
                  <a:srgbClr val="0F172A"/>
                </a:solidFill>
                <a:latin typeface="Arial"/>
              </a:rPr>
              <a:t>Used in this study.</a:t>
            </a:r>
          </a:p>
          <a:p>
            <a:r>
              <a:rPr sz="1200" b="0" i="0">
                <a:solidFill>
                  <a:srgbClr val="0F172A"/>
                </a:solidFill>
                <a:latin typeface="Arial"/>
              </a:rPr>
              <a:t>No symmetry detection by default.</a:t>
            </a:r>
          </a:p>
        </p:txBody>
      </p:sp>
      <p:sp>
        <p:nvSpPr>
          <p:cNvPr id="10" name="Rounded Rectangle 9"/>
          <p:cNvSpPr/>
          <p:nvPr/>
        </p:nvSpPr>
        <p:spPr>
          <a:xfrm>
            <a:off x="8058912" y="1280160"/>
            <a:ext cx="3563112" cy="1463040"/>
          </a:xfrm>
          <a:prstGeom prst="roundRect">
            <a:avLst>
              <a:gd name="adj" fmla="val 8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96072" y="1325880"/>
            <a:ext cx="3288792" cy="365760"/>
          </a:xfrm>
          <a:prstGeom prst="rect">
            <a:avLst/>
          </a:prstGeom>
          <a:noFill/>
        </p:spPr>
        <p:txBody>
          <a:bodyPr wrap="square" lIns="45720" tIns="22860" rIns="45720" bIns="22860">
            <a:spAutoFit/>
          </a:bodyPr>
          <a:lstStyle/>
          <a:p>
            <a:r>
              <a:rPr sz="1800" b="1" i="0">
                <a:solidFill>
                  <a:srgbClr val="0284C7"/>
                </a:solidFill>
                <a:latin typeface="Arial"/>
              </a:rPr>
              <a:t>HiGHS</a:t>
            </a:r>
          </a:p>
        </p:txBody>
      </p:sp>
      <p:sp>
        <p:nvSpPr>
          <p:cNvPr id="12" name="TextBox 11"/>
          <p:cNvSpPr txBox="1"/>
          <p:nvPr/>
        </p:nvSpPr>
        <p:spPr>
          <a:xfrm>
            <a:off x="8196072" y="1691640"/>
            <a:ext cx="3288792" cy="1005840"/>
          </a:xfrm>
          <a:prstGeom prst="rect">
            <a:avLst/>
          </a:prstGeom>
          <a:noFill/>
        </p:spPr>
        <p:txBody>
          <a:bodyPr wrap="square" lIns="45720" tIns="22860" rIns="45720" bIns="22860">
            <a:spAutoFit/>
          </a:bodyPr>
          <a:lstStyle/>
          <a:p>
            <a:r>
              <a:rPr sz="1200" b="0" i="0">
                <a:solidFill>
                  <a:srgbClr val="0F172A"/>
                </a:solidFill>
                <a:latin typeface="Arial"/>
              </a:rPr>
              <a:t>Newer free solver (MIT).</a:t>
            </a:r>
          </a:p>
          <a:p>
            <a:r>
              <a:rPr sz="1200" b="0" i="0">
                <a:solidFill>
                  <a:srgbClr val="0F172A"/>
                </a:solidFill>
                <a:latin typeface="Arial"/>
              </a:rPr>
              <a:t>Detects symmetry</a:t>
            </a:r>
          </a:p>
          <a:p>
            <a:r>
              <a:rPr sz="1200" b="0" i="0">
                <a:solidFill>
                  <a:srgbClr val="0F172A"/>
                </a:solidFill>
                <a:latin typeface="Arial"/>
              </a:rPr>
              <a:t>(e.g. identical rooms) automatically.</a:t>
            </a:r>
          </a:p>
        </p:txBody>
      </p:sp>
      <p:graphicFrame>
        <p:nvGraphicFramePr>
          <p:cNvPr id="13" name="Table 12"/>
          <p:cNvGraphicFramePr>
            <a:graphicFrameLocks noGrp="1"/>
          </p:cNvGraphicFramePr>
          <p:nvPr/>
        </p:nvGraphicFramePr>
        <p:xfrm>
          <a:off x="566928" y="2926080"/>
          <a:ext cx="11055094" cy="1572768"/>
        </p:xfrm>
        <a:graphic>
          <a:graphicData uri="http://schemas.openxmlformats.org/drawingml/2006/table">
            <a:tbl>
              <a:tblPr>
                <a:tableStyleId>{2D5ABB26-0587-4C30-8999-92F81FD0307C}</a:tableStyleId>
              </a:tblPr>
              <a:tblGrid>
                <a:gridCol w="2512521">
                  <a:extLst>
                    <a:ext uri="{9D8B030D-6E8A-4147-A177-3AD203B41FA5}">
                      <a16:colId xmlns:a16="http://schemas.microsoft.com/office/drawing/2014/main" val="20000"/>
                    </a:ext>
                  </a:extLst>
                </a:gridCol>
                <a:gridCol w="3015026">
                  <a:extLst>
                    <a:ext uri="{9D8B030D-6E8A-4147-A177-3AD203B41FA5}">
                      <a16:colId xmlns:a16="http://schemas.microsoft.com/office/drawing/2014/main" val="20001"/>
                    </a:ext>
                  </a:extLst>
                </a:gridCol>
                <a:gridCol w="3015026">
                  <a:extLst>
                    <a:ext uri="{9D8B030D-6E8A-4147-A177-3AD203B41FA5}">
                      <a16:colId xmlns:a16="http://schemas.microsoft.com/office/drawing/2014/main" val="20002"/>
                    </a:ext>
                  </a:extLst>
                </a:gridCol>
                <a:gridCol w="2512521">
                  <a:extLst>
                    <a:ext uri="{9D8B030D-6E8A-4147-A177-3AD203B41FA5}">
                      <a16:colId xmlns:a16="http://schemas.microsoft.com/office/drawing/2014/main" val="20003"/>
                    </a:ext>
                  </a:extLst>
                </a:gridCol>
              </a:tblGrid>
              <a:tr h="393192">
                <a:tc>
                  <a:txBody>
                    <a:bodyPr/>
                    <a:lstStyle/>
                    <a:p>
                      <a:r>
                        <a:rPr sz="1200" b="1">
                          <a:solidFill>
                            <a:srgbClr val="FFFFFF"/>
                          </a:solidFill>
                          <a:latin typeface="Arial"/>
                        </a:rPr>
                        <a:t>Test 1 weights</a:t>
                      </a:r>
                    </a:p>
                  </a:txBody>
                  <a:tcPr marL="64008" marR="64008" marT="27432" marB="27432" anchor="ctr">
                    <a:solidFill>
                      <a:srgbClr val="0F172A"/>
                    </a:solidFill>
                  </a:tcPr>
                </a:tc>
                <a:tc>
                  <a:txBody>
                    <a:bodyPr/>
                    <a:lstStyle/>
                    <a:p>
                      <a:r>
                        <a:rPr sz="1200" b="1">
                          <a:solidFill>
                            <a:srgbClr val="FFFFFF"/>
                          </a:solidFill>
                          <a:latin typeface="Arial"/>
                        </a:rPr>
                        <a:t>CBC (MacBook Air, s)</a:t>
                      </a:r>
                    </a:p>
                  </a:txBody>
                  <a:tcPr marL="64008" marR="64008" marT="27432" marB="27432" anchor="ctr">
                    <a:solidFill>
                      <a:srgbClr val="0F172A"/>
                    </a:solidFill>
                  </a:tcPr>
                </a:tc>
                <a:tc>
                  <a:txBody>
                    <a:bodyPr/>
                    <a:lstStyle/>
                    <a:p>
                      <a:r>
                        <a:rPr sz="1200" b="1">
                          <a:solidFill>
                            <a:srgbClr val="FFFFFF"/>
                          </a:solidFill>
                          <a:latin typeface="Arial"/>
                        </a:rPr>
                        <a:t>HiGHS (other PC, s)</a:t>
                      </a:r>
                    </a:p>
                  </a:txBody>
                  <a:tcPr marL="64008" marR="64008" marT="27432" marB="27432" anchor="ctr">
                    <a:solidFill>
                      <a:srgbClr val="0F172A"/>
                    </a:solidFill>
                  </a:tcPr>
                </a:tc>
                <a:tc>
                  <a:txBody>
                    <a:bodyPr/>
                    <a:lstStyle/>
                    <a:p>
                      <a:r>
                        <a:rPr sz="1200" b="1">
                          <a:solidFill>
                            <a:srgbClr val="FFFFFF"/>
                          </a:solidFill>
                          <a:latin typeface="Arial"/>
                        </a:rPr>
                        <a:t>Same optimum?</a:t>
                      </a:r>
                    </a:p>
                  </a:txBody>
                  <a:tcPr marL="64008" marR="64008" marT="27432" marB="27432" anchor="ctr">
                    <a:solidFill>
                      <a:srgbClr val="0F172A"/>
                    </a:solidFill>
                  </a:tcPr>
                </a:tc>
                <a:extLst>
                  <a:ext uri="{0D108BD9-81ED-4DB2-BD59-A6C34878D82A}">
                    <a16:rowId xmlns:a16="http://schemas.microsoft.com/office/drawing/2014/main" val="10000"/>
                  </a:ext>
                </a:extLst>
              </a:tr>
              <a:tr h="393192">
                <a:tc>
                  <a:txBody>
                    <a:bodyPr/>
                    <a:lstStyle/>
                    <a:p>
                      <a:r>
                        <a:rPr sz="1200" b="1">
                          <a:solidFill>
                            <a:srgbClr val="0F172A"/>
                          </a:solidFill>
                          <a:latin typeface="Arial"/>
                        </a:rPr>
                        <a:t>(1, 1, 1)</a:t>
                      </a:r>
                    </a:p>
                  </a:txBody>
                  <a:tcPr marL="64008" marR="64008" marT="27432" marB="27432" anchor="ctr">
                    <a:solidFill>
                      <a:srgbClr val="F8FAFC"/>
                    </a:solidFill>
                  </a:tcPr>
                </a:tc>
                <a:tc>
                  <a:txBody>
                    <a:bodyPr/>
                    <a:lstStyle/>
                    <a:p>
                      <a:r>
                        <a:rPr sz="1200" b="0">
                          <a:solidFill>
                            <a:srgbClr val="0F172A"/>
                          </a:solidFill>
                          <a:latin typeface="Arial"/>
                        </a:rPr>
                        <a:t>1,360–1,455</a:t>
                      </a:r>
                    </a:p>
                  </a:txBody>
                  <a:tcPr marL="64008" marR="64008" marT="27432" marB="27432" anchor="ctr">
                    <a:solidFill>
                      <a:srgbClr val="F8FAFC"/>
                    </a:solidFill>
                  </a:tcPr>
                </a:tc>
                <a:tc>
                  <a:txBody>
                    <a:bodyPr/>
                    <a:lstStyle/>
                    <a:p>
                      <a:r>
                        <a:rPr sz="1200" b="0">
                          <a:solidFill>
                            <a:srgbClr val="0F172A"/>
                          </a:solidFill>
                          <a:latin typeface="Arial"/>
                        </a:rPr>
                        <a:t>227</a:t>
                      </a:r>
                    </a:p>
                  </a:txBody>
                  <a:tcPr marL="64008" marR="64008" marT="27432" marB="27432" anchor="ctr">
                    <a:solidFill>
                      <a:srgbClr val="F8FAFC"/>
                    </a:solidFill>
                  </a:tcPr>
                </a:tc>
                <a:tc>
                  <a:txBody>
                    <a:bodyPr/>
                    <a:lstStyle/>
                    <a:p>
                      <a:r>
                        <a:rPr sz="1200" b="0">
                          <a:solidFill>
                            <a:srgbClr val="0F172A"/>
                          </a:solidFill>
                          <a:latin typeface="Arial"/>
                        </a:rPr>
                        <a:t>yes (−3.24)</a:t>
                      </a:r>
                    </a:p>
                  </a:txBody>
                  <a:tcPr marL="64008" marR="64008" marT="27432" marB="27432" anchor="ctr">
                    <a:solidFill>
                      <a:srgbClr val="F8FAFC"/>
                    </a:solidFill>
                  </a:tcPr>
                </a:tc>
                <a:extLst>
                  <a:ext uri="{0D108BD9-81ED-4DB2-BD59-A6C34878D82A}">
                    <a16:rowId xmlns:a16="http://schemas.microsoft.com/office/drawing/2014/main" val="10001"/>
                  </a:ext>
                </a:extLst>
              </a:tr>
              <a:tr h="393192">
                <a:tc>
                  <a:txBody>
                    <a:bodyPr/>
                    <a:lstStyle/>
                    <a:p>
                      <a:r>
                        <a:rPr sz="1200" b="1">
                          <a:solidFill>
                            <a:srgbClr val="0F172A"/>
                          </a:solidFill>
                          <a:latin typeface="Arial"/>
                        </a:rPr>
                        <a:t>(1, 0, 0)</a:t>
                      </a:r>
                    </a:p>
                  </a:txBody>
                  <a:tcPr marL="64008" marR="64008" marT="27432" marB="27432" anchor="ctr">
                    <a:solidFill>
                      <a:srgbClr val="FFFFFF"/>
                    </a:solidFill>
                  </a:tcPr>
                </a:tc>
                <a:tc>
                  <a:txBody>
                    <a:bodyPr/>
                    <a:lstStyle/>
                    <a:p>
                      <a:r>
                        <a:rPr sz="1200" b="0">
                          <a:solidFill>
                            <a:srgbClr val="0F172A"/>
                          </a:solidFill>
                          <a:latin typeface="Arial"/>
                        </a:rPr>
                        <a:t>148–161</a:t>
                      </a:r>
                    </a:p>
                  </a:txBody>
                  <a:tcPr marL="64008" marR="64008" marT="27432" marB="27432" anchor="ctr">
                    <a:solidFill>
                      <a:srgbClr val="FFFFFF"/>
                    </a:solidFill>
                  </a:tcPr>
                </a:tc>
                <a:tc>
                  <a:txBody>
                    <a:bodyPr/>
                    <a:lstStyle/>
                    <a:p>
                      <a:r>
                        <a:rPr sz="1200" b="0">
                          <a:solidFill>
                            <a:srgbClr val="0F172A"/>
                          </a:solidFill>
                          <a:latin typeface="Arial"/>
                        </a:rPr>
                        <a:t>8.5</a:t>
                      </a:r>
                    </a:p>
                  </a:txBody>
                  <a:tcPr marL="64008" marR="64008" marT="27432" marB="27432" anchor="ctr">
                    <a:solidFill>
                      <a:srgbClr val="FFFFFF"/>
                    </a:solidFill>
                  </a:tcPr>
                </a:tc>
                <a:tc>
                  <a:txBody>
                    <a:bodyPr/>
                    <a:lstStyle/>
                    <a:p>
                      <a:r>
                        <a:rPr sz="1200" b="0">
                          <a:solidFill>
                            <a:srgbClr val="0F172A"/>
                          </a:solidFill>
                          <a:latin typeface="Arial"/>
                        </a:rPr>
                        <a:t>yes (69.70)</a:t>
                      </a:r>
                    </a:p>
                  </a:txBody>
                  <a:tcPr marL="64008" marR="64008" marT="27432" marB="27432" anchor="ctr">
                    <a:solidFill>
                      <a:srgbClr val="FFFFFF"/>
                    </a:solidFill>
                  </a:tcPr>
                </a:tc>
                <a:extLst>
                  <a:ext uri="{0D108BD9-81ED-4DB2-BD59-A6C34878D82A}">
                    <a16:rowId xmlns:a16="http://schemas.microsoft.com/office/drawing/2014/main" val="10002"/>
                  </a:ext>
                </a:extLst>
              </a:tr>
              <a:tr h="393192">
                <a:tc>
                  <a:txBody>
                    <a:bodyPr/>
                    <a:lstStyle/>
                    <a:p>
                      <a:r>
                        <a:rPr sz="1200" b="1">
                          <a:solidFill>
                            <a:srgbClr val="0F172A"/>
                          </a:solidFill>
                          <a:latin typeface="Arial"/>
                        </a:rPr>
                        <a:t>(0, 1, 0)</a:t>
                      </a:r>
                    </a:p>
                  </a:txBody>
                  <a:tcPr marL="64008" marR="64008" marT="27432" marB="27432" anchor="ctr">
                    <a:solidFill>
                      <a:srgbClr val="F8FAFC"/>
                    </a:solidFill>
                  </a:tcPr>
                </a:tc>
                <a:tc>
                  <a:txBody>
                    <a:bodyPr/>
                    <a:lstStyle/>
                    <a:p>
                      <a:r>
                        <a:rPr sz="1200" b="0">
                          <a:solidFill>
                            <a:srgbClr val="0F172A"/>
                          </a:solidFill>
                          <a:latin typeface="Arial"/>
                        </a:rPr>
                        <a:t>0.21</a:t>
                      </a:r>
                    </a:p>
                  </a:txBody>
                  <a:tcPr marL="64008" marR="64008" marT="27432" marB="27432" anchor="ctr">
                    <a:solidFill>
                      <a:srgbClr val="F8FAFC"/>
                    </a:solidFill>
                  </a:tcPr>
                </a:tc>
                <a:tc>
                  <a:txBody>
                    <a:bodyPr/>
                    <a:lstStyle/>
                    <a:p>
                      <a:r>
                        <a:rPr sz="1200" b="0">
                          <a:solidFill>
                            <a:srgbClr val="0F172A"/>
                          </a:solidFill>
                          <a:latin typeface="Arial"/>
                        </a:rPr>
                        <a:t>4.2</a:t>
                      </a:r>
                    </a:p>
                  </a:txBody>
                  <a:tcPr marL="64008" marR="64008" marT="27432" marB="27432" anchor="ctr">
                    <a:solidFill>
                      <a:srgbClr val="F8FAFC"/>
                    </a:solidFill>
                  </a:tcPr>
                </a:tc>
                <a:tc>
                  <a:txBody>
                    <a:bodyPr/>
                    <a:lstStyle/>
                    <a:p>
                      <a:r>
                        <a:rPr sz="1200" b="0">
                          <a:solidFill>
                            <a:srgbClr val="0F172A"/>
                          </a:solidFill>
                          <a:latin typeface="Arial"/>
                        </a:rPr>
                        <a:t>yes (−38.13)</a:t>
                      </a:r>
                    </a:p>
                  </a:txBody>
                  <a:tcPr marL="64008" marR="64008" marT="27432" marB="27432" anchor="ctr">
                    <a:solidFill>
                      <a:srgbClr val="F8FAFC"/>
                    </a:solidFill>
                  </a:tcPr>
                </a:tc>
                <a:extLst>
                  <a:ext uri="{0D108BD9-81ED-4DB2-BD59-A6C34878D82A}">
                    <a16:rowId xmlns:a16="http://schemas.microsoft.com/office/drawing/2014/main" val="10003"/>
                  </a:ext>
                </a:extLst>
              </a:tr>
            </a:tbl>
          </a:graphicData>
        </a:graphic>
      </p:graphicFrame>
      <p:sp>
        <p:nvSpPr>
          <p:cNvPr id="14" name="TextBox 13"/>
          <p:cNvSpPr txBox="1"/>
          <p:nvPr/>
        </p:nvSpPr>
        <p:spPr>
          <a:xfrm>
            <a:off x="566928" y="4617720"/>
            <a:ext cx="11055096" cy="914400"/>
          </a:xfrm>
          <a:prstGeom prst="rect">
            <a:avLst/>
          </a:prstGeom>
          <a:noFill/>
        </p:spPr>
        <p:txBody>
          <a:bodyPr wrap="square" lIns="45720" tIns="22860" rIns="45720" bIns="22860">
            <a:spAutoFit/>
          </a:bodyPr>
          <a:lstStyle/>
          <a:p>
            <a:r>
              <a:rPr sz="1200" b="0" i="0">
                <a:solidFill>
                  <a:srgbClr val="0F172A"/>
                </a:solidFill>
                <a:latin typeface="Arial"/>
              </a:rPr>
              <a:t>• Second run of (1, 1, 1) with HiGHS: 254 s with symmetry detection, 832 s without → one reason, not the only one.</a:t>
            </a:r>
          </a:p>
          <a:p>
            <a:r>
              <a:rPr sz="1200" b="0" i="0">
                <a:solidFill>
                  <a:srgbClr val="0F172A"/>
                </a:solidFill>
                <a:latin typeface="Arial"/>
              </a:rPr>
              <a:t>• Public benchmark (Mittelmann, MIPLIB 2017, 240 problems, Oct 2025): HiGHS solved 157, CBC 107.</a:t>
            </a:r>
          </a:p>
          <a:p>
            <a:r>
              <a:rPr sz="1200" b="0" i="0">
                <a:solidFill>
                  <a:srgbClr val="0F172A"/>
                </a:solidFill>
                <a:latin typeface="Arial"/>
              </a:rPr>
              <a:t>• PuLP can call HiGHS (pip install highspy). Not yet built into the app.</a:t>
            </a:r>
          </a:p>
        </p:txBody>
      </p:sp>
      <p:sp>
        <p:nvSpPr>
          <p:cNvPr id="15" name="TextBox 14"/>
          <p:cNvSpPr txBox="1"/>
          <p:nvPr/>
        </p:nvSpPr>
        <p:spPr>
          <a:xfrm>
            <a:off x="566928" y="5852160"/>
            <a:ext cx="11055096" cy="274320"/>
          </a:xfrm>
          <a:prstGeom prst="rect">
            <a:avLst/>
          </a:prstGeom>
          <a:noFill/>
        </p:spPr>
        <p:txBody>
          <a:bodyPr wrap="square" lIns="45720" tIns="22860" rIns="45720" bIns="22860">
            <a:spAutoFit/>
          </a:bodyPr>
          <a:lstStyle/>
          <a:p>
            <a:r>
              <a:rPr sz="1200" b="0" i="0" dirty="0">
                <a:solidFill>
                  <a:srgbClr val="64748B"/>
                </a:solidFill>
                <a:latin typeface="Arial"/>
              </a:rPr>
              <a:t>Different machines: this is not a strict comparison. To be re-measured on the MacBook Air.</a:t>
            </a:r>
          </a:p>
        </p:txBody>
      </p:sp>
      <p:sp>
        <p:nvSpPr>
          <p:cNvPr id="16" name="TextBox 15"/>
          <p:cNvSpPr txBox="1"/>
          <p:nvPr/>
        </p:nvSpPr>
        <p:spPr>
          <a:xfrm>
            <a:off x="11164824" y="6492240"/>
            <a:ext cx="457200" cy="219456"/>
          </a:xfrm>
          <a:prstGeom prst="rect">
            <a:avLst/>
          </a:prstGeom>
          <a:noFill/>
          <a:ln/>
        </p:spPr>
        <p:txBody>
          <a:bodyPr wrap="square" lIns="0" tIns="0" rIns="0" bIns="0" rtlCol="0" anchor="ctr"/>
          <a:lstStyle/>
          <a:p>
            <a:pPr marL="0" indent="0" algn="r">
              <a:buNone/>
            </a:pPr>
            <a:fld id="{8B2C3E4A-5D6F-4A1B-9C2D-3E4F5A6B7C8D}" type="slidenum">
              <a:rPr lang="en-US" altLang="ja-JP" sz="1000" dirty="0">
                <a:solidFill>
                  <a:srgbClr val="94A3B8"/>
                </a:solidFill>
                <a:latin typeface="Arial" pitchFamily="34" charset="0"/>
                <a:ea typeface="Arial" pitchFamily="34" charset="-122"/>
                <a:cs typeface="Arial" pitchFamily="34" charset="-120"/>
              </a:rPr>
              <a:t>38</a:t>
            </a:fld>
            <a:endParaRPr lang="en-US" altLang="ja-JP"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5096" cy="237744"/>
          </a:xfrm>
          <a:prstGeom prst="rect">
            <a:avLst/>
          </a:prstGeom>
          <a:noFill/>
        </p:spPr>
        <p:txBody>
          <a:bodyPr wrap="square" lIns="45720" tIns="22860" rIns="45720" bIns="22860">
            <a:spAutoFit/>
          </a:bodyPr>
          <a:lstStyle/>
          <a:p>
            <a:r>
              <a:rPr sz="1200" b="1" i="0">
                <a:solidFill>
                  <a:srgbClr val="0284C7"/>
                </a:solidFill>
                <a:latin typeface="Arial"/>
              </a:rPr>
              <a:t>APPENDIX   A13</a:t>
            </a:r>
          </a:p>
        </p:txBody>
      </p:sp>
      <p:sp>
        <p:nvSpPr>
          <p:cNvPr id="3" name="TextBox 2"/>
          <p:cNvSpPr txBox="1"/>
          <p:nvPr/>
        </p:nvSpPr>
        <p:spPr>
          <a:xfrm>
            <a:off x="566928" y="566928"/>
            <a:ext cx="11055096" cy="566928"/>
          </a:xfrm>
          <a:prstGeom prst="rect">
            <a:avLst/>
          </a:prstGeom>
          <a:noFill/>
        </p:spPr>
        <p:txBody>
          <a:bodyPr wrap="square" lIns="45720" tIns="22860" rIns="45720" bIns="22860">
            <a:spAutoFit/>
          </a:bodyPr>
          <a:lstStyle/>
          <a:p>
            <a:r>
              <a:rPr sz="2600" b="1" i="0">
                <a:solidFill>
                  <a:srgbClr val="0F172A"/>
                </a:solidFill>
                <a:latin typeface="Arial"/>
              </a:rPr>
              <a:t>Detailed Comparison with Previous Studies</a:t>
            </a:r>
          </a:p>
        </p:txBody>
      </p:sp>
      <p:graphicFrame>
        <p:nvGraphicFramePr>
          <p:cNvPr id="4" name="Table 3"/>
          <p:cNvGraphicFramePr>
            <a:graphicFrameLocks noGrp="1"/>
          </p:cNvGraphicFramePr>
          <p:nvPr/>
        </p:nvGraphicFramePr>
        <p:xfrm>
          <a:off x="566928" y="1188720"/>
          <a:ext cx="11055095" cy="4663440"/>
        </p:xfrm>
        <a:graphic>
          <a:graphicData uri="http://schemas.openxmlformats.org/drawingml/2006/table">
            <a:tbl>
              <a:tblPr>
                <a:tableStyleId>{2D5ABB26-0587-4C30-8999-92F81FD0307C}</a:tableStyleId>
              </a:tblPr>
              <a:tblGrid>
                <a:gridCol w="1488185">
                  <a:extLst>
                    <a:ext uri="{9D8B030D-6E8A-4147-A177-3AD203B41FA5}">
                      <a16:colId xmlns:a16="http://schemas.microsoft.com/office/drawing/2014/main" val="20000"/>
                    </a:ext>
                  </a:extLst>
                </a:gridCol>
                <a:gridCol w="3401568">
                  <a:extLst>
                    <a:ext uri="{9D8B030D-6E8A-4147-A177-3AD203B41FA5}">
                      <a16:colId xmlns:a16="http://schemas.microsoft.com/office/drawing/2014/main" val="20001"/>
                    </a:ext>
                  </a:extLst>
                </a:gridCol>
                <a:gridCol w="3401568">
                  <a:extLst>
                    <a:ext uri="{9D8B030D-6E8A-4147-A177-3AD203B41FA5}">
                      <a16:colId xmlns:a16="http://schemas.microsoft.com/office/drawing/2014/main" val="20002"/>
                    </a:ext>
                  </a:extLst>
                </a:gridCol>
                <a:gridCol w="2763774">
                  <a:extLst>
                    <a:ext uri="{9D8B030D-6E8A-4147-A177-3AD203B41FA5}">
                      <a16:colId xmlns:a16="http://schemas.microsoft.com/office/drawing/2014/main" val="20003"/>
                    </a:ext>
                  </a:extLst>
                </a:gridCol>
              </a:tblGrid>
              <a:tr h="777240">
                <a:tc>
                  <a:txBody>
                    <a:bodyPr/>
                    <a:lstStyle/>
                    <a:p>
                      <a:r>
                        <a:rPr sz="900" b="1">
                          <a:solidFill>
                            <a:srgbClr val="FFFFFF"/>
                          </a:solidFill>
                          <a:latin typeface="Arial"/>
                        </a:rPr>
                        <a:t>Aspect</a:t>
                      </a:r>
                    </a:p>
                  </a:txBody>
                  <a:tcPr marL="64008" marR="64008" marT="27432" marB="27432" anchor="ctr">
                    <a:solidFill>
                      <a:srgbClr val="0F172A"/>
                    </a:solidFill>
                  </a:tcPr>
                </a:tc>
                <a:tc>
                  <a:txBody>
                    <a:bodyPr/>
                    <a:lstStyle/>
                    <a:p>
                      <a:r>
                        <a:rPr sz="900" b="1">
                          <a:solidFill>
                            <a:srgbClr val="FFFFFF"/>
                          </a:solidFill>
                          <a:latin typeface="Arial"/>
                        </a:rPr>
                        <a:t>[1] Vangerven et al. (2018) Omega 81, 38–47</a:t>
                      </a:r>
                    </a:p>
                  </a:txBody>
                  <a:tcPr marL="64008" marR="64008" marT="27432" marB="27432" anchor="ctr">
                    <a:solidFill>
                      <a:srgbClr val="0F172A"/>
                    </a:solidFill>
                  </a:tcPr>
                </a:tc>
                <a:tc>
                  <a:txBody>
                    <a:bodyPr/>
                    <a:lstStyle/>
                    <a:p>
                      <a:r>
                        <a:rPr sz="900" b="1">
                          <a:solidFill>
                            <a:srgbClr val="FFFFFF"/>
                          </a:solidFill>
                          <a:latin typeface="Arial"/>
                        </a:rPr>
                        <a:t>[2] Pylyavskyy et al. (2024) EJOR 317, 487–499</a:t>
                      </a:r>
                    </a:p>
                  </a:txBody>
                  <a:tcPr marL="64008" marR="64008" marT="27432" marB="27432" anchor="ctr">
                    <a:solidFill>
                      <a:srgbClr val="0F172A"/>
                    </a:solidFill>
                  </a:tcPr>
                </a:tc>
                <a:tc>
                  <a:txBody>
                    <a:bodyPr/>
                    <a:lstStyle/>
                    <a:p>
                      <a:r>
                        <a:rPr sz="900" b="1">
                          <a:solidFill>
                            <a:srgbClr val="FFFFFF"/>
                          </a:solidFill>
                          <a:latin typeface="Arial"/>
                        </a:rPr>
                        <a:t>This study</a:t>
                      </a:r>
                    </a:p>
                  </a:txBody>
                  <a:tcPr marL="64008" marR="64008" marT="27432" marB="27432" anchor="ctr">
                    <a:solidFill>
                      <a:srgbClr val="0F172A"/>
                    </a:solidFill>
                  </a:tcPr>
                </a:tc>
                <a:extLst>
                  <a:ext uri="{0D108BD9-81ED-4DB2-BD59-A6C34878D82A}">
                    <a16:rowId xmlns:a16="http://schemas.microsoft.com/office/drawing/2014/main" val="10000"/>
                  </a:ext>
                </a:extLst>
              </a:tr>
              <a:tr h="777240">
                <a:tc>
                  <a:txBody>
                    <a:bodyPr/>
                    <a:lstStyle/>
                    <a:p>
                      <a:r>
                        <a:rPr sz="900" b="1">
                          <a:solidFill>
                            <a:srgbClr val="0F172A"/>
                          </a:solidFill>
                          <a:latin typeface="Arial"/>
                        </a:rPr>
                        <a:t>Aim / strengths</a:t>
                      </a:r>
                    </a:p>
                  </a:txBody>
                  <a:tcPr marL="64008" marR="64008" marT="27432" marB="27432" anchor="ctr">
                    <a:solidFill>
                      <a:srgbClr val="F8FAFC"/>
                    </a:solidFill>
                  </a:tcPr>
                </a:tc>
                <a:tc>
                  <a:txBody>
                    <a:bodyPr/>
                    <a:lstStyle/>
                    <a:p>
                      <a:r>
                        <a:rPr sz="900" b="0">
                          <a:solidFill>
                            <a:srgbClr val="0F172A"/>
                          </a:solidFill>
                          <a:latin typeface="Arial"/>
                        </a:rPr>
                        <a:t>Maximizes attendance from participants’ session preferences, then also considers room hopping and presenter availability step by step (3-phase hierarchical optimization). Used at 4 real conferences</a:t>
                      </a:r>
                    </a:p>
                  </a:txBody>
                  <a:tcPr marL="64008" marR="64008" marT="27432" marB="27432" anchor="ctr">
                    <a:solidFill>
                      <a:srgbClr val="F8FAFC"/>
                    </a:solidFill>
                  </a:tcPr>
                </a:tc>
                <a:tc>
                  <a:txBody>
                    <a:bodyPr/>
                    <a:lstStyle/>
                    <a:p>
                      <a:r>
                        <a:rPr sz="900" b="0">
                          <a:solidFill>
                            <a:srgbClr val="0F172A"/>
                          </a:solidFill>
                          <a:latin typeface="Arial"/>
                        </a:rPr>
                        <a:t>A system of penalties and weights handles in-person, hybrid and online formats, multi-slot presentations, topic–room matching, keeping similar topics apart, etc. in one model</a:t>
                      </a:r>
                    </a:p>
                  </a:txBody>
                  <a:tcPr marL="64008" marR="64008" marT="27432" marB="27432" anchor="ctr">
                    <a:solidFill>
                      <a:srgbClr val="F8FAFC"/>
                    </a:solidFill>
                  </a:tcPr>
                </a:tc>
                <a:tc>
                  <a:txBody>
                    <a:bodyPr/>
                    <a:lstStyle/>
                    <a:p>
                      <a:r>
                        <a:rPr sz="900" b="0">
                          <a:solidFill>
                            <a:srgbClr val="0F172A"/>
                          </a:solidFill>
                          <a:latin typeface="Arial"/>
                        </a:rPr>
                        <a:t>Make a first draft from minimal input, with free software</a:t>
                      </a:r>
                    </a:p>
                  </a:txBody>
                  <a:tcPr marL="64008" marR="64008" marT="27432" marB="27432" anchor="ctr">
                    <a:solidFill>
                      <a:srgbClr val="F8FAFC"/>
                    </a:solidFill>
                  </a:tcPr>
                </a:tc>
                <a:extLst>
                  <a:ext uri="{0D108BD9-81ED-4DB2-BD59-A6C34878D82A}">
                    <a16:rowId xmlns:a16="http://schemas.microsoft.com/office/drawing/2014/main" val="10001"/>
                  </a:ext>
                </a:extLst>
              </a:tr>
              <a:tr h="777240">
                <a:tc>
                  <a:txBody>
                    <a:bodyPr/>
                    <a:lstStyle/>
                    <a:p>
                      <a:r>
                        <a:rPr sz="900" b="1">
                          <a:solidFill>
                            <a:srgbClr val="0F172A"/>
                          </a:solidFill>
                          <a:latin typeface="Arial"/>
                        </a:rPr>
                        <a:t>Input</a:t>
                      </a:r>
                    </a:p>
                  </a:txBody>
                  <a:tcPr marL="64008" marR="64008" marT="27432" marB="27432" anchor="ctr">
                    <a:solidFill>
                      <a:srgbClr val="FFFFFF"/>
                    </a:solidFill>
                  </a:tcPr>
                </a:tc>
                <a:tc>
                  <a:txBody>
                    <a:bodyPr/>
                    <a:lstStyle/>
                    <a:p>
                      <a:r>
                        <a:rPr sz="900" b="0">
                          <a:solidFill>
                            <a:srgbClr val="0F172A"/>
                          </a:solidFill>
                          <a:latin typeface="Arial"/>
                        </a:rPr>
                        <a:t>Session preferences of all participants (e.g., ORBEL 2017: 1,200 in total from 101 of 140 participants) and presenter availability</a:t>
                      </a:r>
                    </a:p>
                  </a:txBody>
                  <a:tcPr marL="64008" marR="64008" marT="27432" marB="27432" anchor="ctr">
                    <a:solidFill>
                      <a:srgbClr val="FFFFFF"/>
                    </a:solidFill>
                  </a:tcPr>
                </a:tc>
                <a:tc>
                  <a:txBody>
                    <a:bodyPr/>
                    <a:lstStyle/>
                    <a:p>
                      <a:r>
                        <a:rPr sz="900" b="0">
                          <a:solidFill>
                            <a:srgbClr val="0F172A"/>
                          </a:solidFill>
                          <a:latin typeface="Arial"/>
                        </a:rPr>
                        <a:t>9 sheets (Submissions, Tracks, Sessions, Rooms, Parameters, penalty tables, Similar Tracks) and 6 weights</a:t>
                      </a:r>
                    </a:p>
                  </a:txBody>
                  <a:tcPr marL="64008" marR="64008" marT="27432" marB="27432" anchor="ctr">
                    <a:solidFill>
                      <a:srgbClr val="FFFFFF"/>
                    </a:solidFill>
                  </a:tcPr>
                </a:tc>
                <a:tc>
                  <a:txBody>
                    <a:bodyPr/>
                    <a:lstStyle/>
                    <a:p>
                      <a:r>
                        <a:rPr sz="900" b="0">
                          <a:solidFill>
                            <a:srgbClr val="0F172A"/>
                          </a:solidFill>
                          <a:latin typeface="Arial"/>
                        </a:rPr>
                        <a:t>3 sheets, 7 required columns + 3 weights</a:t>
                      </a:r>
                    </a:p>
                  </a:txBody>
                  <a:tcPr marL="64008" marR="64008" marT="27432" marB="27432" anchor="ctr">
                    <a:solidFill>
                      <a:srgbClr val="FFFFFF"/>
                    </a:solidFill>
                  </a:tcPr>
                </a:tc>
                <a:extLst>
                  <a:ext uri="{0D108BD9-81ED-4DB2-BD59-A6C34878D82A}">
                    <a16:rowId xmlns:a16="http://schemas.microsoft.com/office/drawing/2014/main" val="10002"/>
                  </a:ext>
                </a:extLst>
              </a:tr>
              <a:tr h="777240">
                <a:tc>
                  <a:txBody>
                    <a:bodyPr/>
                    <a:lstStyle/>
                    <a:p>
                      <a:r>
                        <a:rPr sz="900" b="1">
                          <a:solidFill>
                            <a:srgbClr val="0F172A"/>
                          </a:solidFill>
                          <a:latin typeface="Arial"/>
                        </a:rPr>
                        <a:t>Computation time</a:t>
                      </a:r>
                    </a:p>
                  </a:txBody>
                  <a:tcPr marL="64008" marR="64008" marT="27432" marB="27432" anchor="ctr">
                    <a:solidFill>
                      <a:srgbClr val="F8FAFC"/>
                    </a:solidFill>
                  </a:tcPr>
                </a:tc>
                <a:tc>
                  <a:txBody>
                    <a:bodyPr/>
                    <a:lstStyle/>
                    <a:p>
                      <a:r>
                        <a:rPr sz="900" b="0">
                          <a:solidFill>
                            <a:srgbClr val="0F172A"/>
                          </a:solidFill>
                          <a:latin typeface="Arial"/>
                        </a:rPr>
                        <a:t>0.03–61 s per phase; but the k-block search (arrangements with less room hopping) takes hours</a:t>
                      </a:r>
                    </a:p>
                  </a:txBody>
                  <a:tcPr marL="64008" marR="64008" marT="27432" marB="27432" anchor="ctr">
                    <a:solidFill>
                      <a:srgbClr val="F8FAFC"/>
                    </a:solidFill>
                  </a:tcPr>
                </a:tc>
                <a:tc>
                  <a:txBody>
                    <a:bodyPr/>
                    <a:lstStyle/>
                    <a:p>
                      <a:r>
                        <a:rPr sz="900" b="0">
                          <a:solidFill>
                            <a:srgbClr val="0F172A"/>
                          </a:solidFill>
                          <a:latin typeface="Arial"/>
                        </a:rPr>
                        <a:t>Time limit 1 h. Most runs finish within minutes (exact model: 0.1–137 s except GECCO19), but GECCO19 and 3 cases of the extended model hit the limit. OR60F3 takes 1,072.7 s just to build the model</a:t>
                      </a:r>
                    </a:p>
                  </a:txBody>
                  <a:tcPr marL="64008" marR="64008" marT="27432" marB="27432" anchor="ctr">
                    <a:solidFill>
                      <a:srgbClr val="F8FAFC"/>
                    </a:solidFill>
                  </a:tcPr>
                </a:tc>
                <a:tc>
                  <a:txBody>
                    <a:bodyPr/>
                    <a:lstStyle/>
                    <a:p>
                      <a:r>
                        <a:rPr sz="900" b="0">
                          <a:solidFill>
                            <a:srgbClr val="0F172A"/>
                          </a:solidFill>
                          <a:latin typeface="Arial"/>
                        </a:rPr>
                        <a:t>40 talks: 1,360–1,455 s (exact, equal weights) · 89 talks: 90 s limit</a:t>
                      </a:r>
                    </a:p>
                  </a:txBody>
                  <a:tcPr marL="64008" marR="64008" marT="27432" marB="27432" anchor="ctr">
                    <a:solidFill>
                      <a:srgbClr val="F8FAFC"/>
                    </a:solidFill>
                  </a:tcPr>
                </a:tc>
                <a:extLst>
                  <a:ext uri="{0D108BD9-81ED-4DB2-BD59-A6C34878D82A}">
                    <a16:rowId xmlns:a16="http://schemas.microsoft.com/office/drawing/2014/main" val="10003"/>
                  </a:ext>
                </a:extLst>
              </a:tr>
              <a:tr h="777240">
                <a:tc>
                  <a:txBody>
                    <a:bodyPr/>
                    <a:lstStyle/>
                    <a:p>
                      <a:r>
                        <a:rPr sz="900" b="1">
                          <a:solidFill>
                            <a:srgbClr val="0F172A"/>
                          </a:solidFill>
                          <a:latin typeface="Arial"/>
                        </a:rPr>
                        <a:t>Solver / environment</a:t>
                      </a:r>
                    </a:p>
                  </a:txBody>
                  <a:tcPr marL="64008" marR="64008" marT="27432" marB="27432" anchor="ctr">
                    <a:solidFill>
                      <a:srgbClr val="FFFFFF"/>
                    </a:solidFill>
                  </a:tcPr>
                </a:tc>
                <a:tc>
                  <a:txBody>
                    <a:bodyPr/>
                    <a:lstStyle/>
                    <a:p>
                      <a:r>
                        <a:rPr sz="900" b="0">
                          <a:solidFill>
                            <a:srgbClr val="0F172A"/>
                          </a:solidFill>
                          <a:latin typeface="Arial"/>
                        </a:rPr>
                        <a:t>CPLEX 12.6.3 (commercial), laptop (Core i7, 8 GB)</a:t>
                      </a:r>
                    </a:p>
                  </a:txBody>
                  <a:tcPr marL="64008" marR="64008" marT="27432" marB="27432" anchor="ctr">
                    <a:solidFill>
                      <a:srgbClr val="FFFFFF"/>
                    </a:solidFill>
                  </a:tcPr>
                </a:tc>
                <a:tc>
                  <a:txBody>
                    <a:bodyPr/>
                    <a:lstStyle/>
                    <a:p>
                      <a:r>
                        <a:rPr sz="900" b="0">
                          <a:solidFill>
                            <a:srgbClr val="0F172A"/>
                          </a:solidFill>
                          <a:latin typeface="Arial"/>
                        </a:rPr>
                        <a:t>Gurobi 9.5.0 (commercial) + Python 3.8.3, Core i7, 16 GB</a:t>
                      </a:r>
                    </a:p>
                  </a:txBody>
                  <a:tcPr marL="64008" marR="64008" marT="27432" marB="27432" anchor="ctr">
                    <a:solidFill>
                      <a:srgbClr val="FFFFFF"/>
                    </a:solidFill>
                  </a:tcPr>
                </a:tc>
                <a:tc>
                  <a:txBody>
                    <a:bodyPr/>
                    <a:lstStyle/>
                    <a:p>
                      <a:r>
                        <a:rPr sz="900" b="0">
                          <a:solidFill>
                            <a:srgbClr val="0F172A"/>
                          </a:solidFill>
                          <a:latin typeface="Arial"/>
                        </a:rPr>
                        <a:t>CBC (free) via PuLP, MacBook Air M4 16 GB</a:t>
                      </a:r>
                    </a:p>
                  </a:txBody>
                  <a:tcPr marL="64008" marR="64008" marT="27432" marB="27432" anchor="ctr">
                    <a:solidFill>
                      <a:srgbClr val="FFFFFF"/>
                    </a:solidFill>
                  </a:tcPr>
                </a:tc>
                <a:extLst>
                  <a:ext uri="{0D108BD9-81ED-4DB2-BD59-A6C34878D82A}">
                    <a16:rowId xmlns:a16="http://schemas.microsoft.com/office/drawing/2014/main" val="10004"/>
                  </a:ext>
                </a:extLst>
              </a:tr>
              <a:tr h="777240">
                <a:tc>
                  <a:txBody>
                    <a:bodyPr/>
                    <a:lstStyle/>
                    <a:p>
                      <a:r>
                        <a:rPr sz="900" b="1">
                          <a:solidFill>
                            <a:srgbClr val="0F172A"/>
                          </a:solidFill>
                          <a:latin typeface="Arial"/>
                        </a:rPr>
                        <a:t>Relation to this study</a:t>
                      </a:r>
                    </a:p>
                  </a:txBody>
                  <a:tcPr marL="64008" marR="64008" marT="27432" marB="27432" anchor="ctr">
                    <a:solidFill>
                      <a:srgbClr val="F8FAFC"/>
                    </a:solidFill>
                  </a:tcPr>
                </a:tc>
                <a:tc>
                  <a:txBody>
                    <a:bodyPr/>
                    <a:lstStyle/>
                    <a:p>
                      <a:r>
                        <a:rPr sz="900" b="0">
                          <a:solidFill>
                            <a:srgbClr val="0F172A"/>
                          </a:solidFill>
                          <a:latin typeface="Arial"/>
                        </a:rPr>
                        <a:t>Same assumption as this study: all presentations have the same length</a:t>
                      </a:r>
                    </a:p>
                  </a:txBody>
                  <a:tcPr marL="64008" marR="64008" marT="27432" marB="27432" anchor="ctr">
                    <a:solidFill>
                      <a:srgbClr val="F8FAFC"/>
                    </a:solidFill>
                  </a:tcPr>
                </a:tc>
                <a:tc>
                  <a:txBody>
                    <a:bodyPr/>
                    <a:lstStyle/>
                    <a:p>
                      <a:r>
                        <a:rPr sz="900" b="0">
                          <a:solidFill>
                            <a:srgbClr val="0F172A"/>
                          </a:solidFill>
                          <a:latin typeface="Arial"/>
                        </a:rPr>
                        <a:t>Handles multi-slot presentations, topic–room matching, etc. This study omits these to keep the input minimal</a:t>
                      </a:r>
                    </a:p>
                  </a:txBody>
                  <a:tcPr marL="64008" marR="64008" marT="27432" marB="27432" anchor="ctr">
                    <a:solidFill>
                      <a:srgbClr val="F8FAFC"/>
                    </a:solidFill>
                  </a:tcPr>
                </a:tc>
                <a:tc>
                  <a:txBody>
                    <a:bodyPr/>
                    <a:lstStyle/>
                    <a:p>
                      <a:r>
                        <a:rPr sz="900" b="0">
                          <a:solidFill>
                            <a:srgbClr val="0F172A"/>
                          </a:solidFill>
                          <a:latin typeface="Arial"/>
                        </a:rPr>
                        <a:t>All presentations have the same length (1 slot)</a:t>
                      </a:r>
                    </a:p>
                  </a:txBody>
                  <a:tcPr marL="64008" marR="64008" marT="27432" marB="27432" anchor="ctr">
                    <a:solidFill>
                      <a:srgbClr val="F8FAFC"/>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11164824" y="6492240"/>
            <a:ext cx="457200" cy="219456"/>
          </a:xfrm>
          <a:prstGeom prst="rect">
            <a:avLst/>
          </a:prstGeom>
          <a:noFill/>
          <a:ln/>
        </p:spPr>
        <p:txBody>
          <a:bodyPr wrap="square" lIns="0" tIns="0" rIns="0" bIns="0" rtlCol="0" anchor="ctr"/>
          <a:lstStyle/>
          <a:p>
            <a:pPr marL="0" indent="0" algn="r">
              <a:buNone/>
            </a:pPr>
            <a:fld id="{8B2C3E4A-5D6F-4A1B-9C2D-3E4F5A6B7C8D}" type="slidenum">
              <a:rPr lang="en-US" altLang="ja-JP" sz="1000" dirty="0">
                <a:solidFill>
                  <a:srgbClr val="94A3B8"/>
                </a:solidFill>
                <a:latin typeface="Arial" pitchFamily="34" charset="0"/>
                <a:ea typeface="Arial" pitchFamily="34" charset="-122"/>
                <a:cs typeface="Arial" pitchFamily="34" charset="-120"/>
              </a:rPr>
              <a:t>39</a:t>
            </a:fld>
            <a:endParaRPr lang="en-US" altLang="ja-JP"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251</TotalTime>
  <Words>5783</Words>
  <Application>Microsoft Office PowerPoint</Application>
  <PresentationFormat>ワイド画面</PresentationFormat>
  <Paragraphs>911</Paragraphs>
  <Slides>39</Slides>
  <Notes>26</Notes>
  <HiddenSlides>0</HiddenSlides>
  <MMClips>1</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39</vt:i4>
      </vt:variant>
    </vt:vector>
  </HeadingPairs>
  <TitlesOfParts>
    <vt:vector size="41" baseType="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SPVM2026 Oral Presentation (English) engV3</dc:title>
  <dc:subject>PptxGenJS Presentation</dc:subject>
  <dc:creator>鶴田 昇梧</dc:creator>
  <cp:lastModifiedBy>Tachyon MS</cp:lastModifiedBy>
  <cp:revision>14</cp:revision>
  <dcterms:created xsi:type="dcterms:W3CDTF">2026-09-24T04:57:18Z</dcterms:created>
  <dcterms:modified xsi:type="dcterms:W3CDTF">2026-10-21T14:42:00Z</dcterms:modified>
</cp:coreProperties>
</file>